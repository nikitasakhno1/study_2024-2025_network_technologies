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7" r:id="rId11"/>
    <p:sldId id="268" r:id="rId12"/>
    <p:sldId id="270" r:id="rId13"/>
    <p:sldId id="271" r:id="rId14"/>
    <p:sldId id="272" r:id="rId15"/>
    <p:sldId id="273" r:id="rId16"/>
    <p:sldId id="275" r:id="rId17"/>
    <p:sldId id="276" r:id="rId18"/>
    <p:sldId id="277" r:id="rId19"/>
    <p:sldId id="278" r:id="rId20"/>
    <p:sldId id="279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Светлый стиль 1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BBA55-F83A-41C2-B204-1B75327CE053}" type="datetimeFigureOut">
              <a:rPr lang="ru-RU" smtClean="0"/>
              <a:t>02.02.2026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49189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BBA55-F83A-41C2-B204-1B75327CE053}" type="datetimeFigureOut">
              <a:rPr lang="ru-RU" smtClean="0"/>
              <a:t>02.02.2026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61761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BBA55-F83A-41C2-B204-1B75327CE053}" type="datetimeFigureOut">
              <a:rPr lang="ru-RU" smtClean="0"/>
              <a:t>02.02.2026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62521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BBA55-F83A-41C2-B204-1B75327CE053}" type="datetimeFigureOut">
              <a:rPr lang="ru-RU" smtClean="0"/>
              <a:t>02.02.2026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90861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BBA55-F83A-41C2-B204-1B75327CE053}" type="datetimeFigureOut">
              <a:rPr lang="ru-RU" smtClean="0"/>
              <a:t>02.02.2026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349527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BBA55-F83A-41C2-B204-1B75327CE053}" type="datetimeFigureOut">
              <a:rPr lang="ru-RU" smtClean="0"/>
              <a:t>02.02.2026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808142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BBA55-F83A-41C2-B204-1B75327CE053}" type="datetimeFigureOut">
              <a:rPr lang="ru-RU" smtClean="0"/>
              <a:t>02.02.2026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932820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3FBBBA55-F83A-41C2-B204-1B75327CE053}" type="datetimeFigureOut">
              <a:rPr lang="ru-RU" smtClean="0"/>
              <a:t>02.02.2026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041900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BBA55-F83A-41C2-B204-1B75327CE053}" type="datetimeFigureOut">
              <a:rPr lang="ru-RU" smtClean="0"/>
              <a:t>02.02.2026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76694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BBA55-F83A-41C2-B204-1B75327CE053}" type="datetimeFigureOut">
              <a:rPr lang="ru-RU" smtClean="0"/>
              <a:t>02.02.2026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387173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BBA55-F83A-41C2-B204-1B75327CE053}" type="datetimeFigureOut">
              <a:rPr lang="ru-RU" smtClean="0"/>
              <a:t>02.02.2026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330709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3FBBBA55-F83A-41C2-B204-1B75327CE053}" type="datetimeFigureOut">
              <a:rPr lang="ru-RU" smtClean="0"/>
              <a:t>02.02.2026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224940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D994FB7-0D81-8028-4D4F-26589969672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Лабораторная работа №6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FF30943-BDE7-0773-3069-C6EF15BA5C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73068" y="4653155"/>
            <a:ext cx="6801612" cy="1239894"/>
          </a:xfrm>
        </p:spPr>
        <p:txBody>
          <a:bodyPr/>
          <a:lstStyle/>
          <a:p>
            <a:pPr algn="r"/>
            <a:r>
              <a:rPr lang="ru-RU" dirty="0"/>
              <a:t>Студент: Сахно</a:t>
            </a:r>
          </a:p>
          <a:p>
            <a:pPr algn="r"/>
            <a:r>
              <a:rPr lang="ru-RU" dirty="0"/>
              <a:t>Группа: нфибд-02-23</a:t>
            </a:r>
          </a:p>
        </p:txBody>
      </p:sp>
    </p:spTree>
    <p:extLst>
      <p:ext uri="{BB962C8B-B14F-4D97-AF65-F5344CB8AC3E}">
        <p14:creationId xmlns:p14="http://schemas.microsoft.com/office/powerpoint/2010/main" val="32368078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048D3AD-E653-E8F9-3AF6-3D2273D8FE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Цель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07B806B-E27B-8C11-8391-857A41C6BB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3269640"/>
            <a:ext cx="7729728" cy="3101983"/>
          </a:xfrm>
        </p:spPr>
        <p:txBody>
          <a:bodyPr/>
          <a:lstStyle/>
          <a:p>
            <a:pPr marL="0" indent="0" algn="just">
              <a:buNone/>
            </a:pPr>
            <a:r>
              <a:rPr lang="ru-RU" sz="2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Изучить принципы распределения и настройки адресного пространства на устройствах сети.</a:t>
            </a:r>
          </a:p>
          <a:p>
            <a:pPr algn="just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68061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7015AFF-8544-7267-7FA0-291CE43EEC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0135205-CF8E-3D55-AEA3-19151361FB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ru-RU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Разбиение сети на подсети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ru-RU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Настройка двойного стека адресации IPv4 и IPv6 в локальной сети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ru-RU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Задание для самостоятельного выполнения</a:t>
            </a:r>
          </a:p>
        </p:txBody>
      </p:sp>
    </p:spTree>
    <p:extLst>
      <p:ext uri="{BB962C8B-B14F-4D97-AF65-F5344CB8AC3E}">
        <p14:creationId xmlns:p14="http://schemas.microsoft.com/office/powerpoint/2010/main" val="19285205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137BECA-E840-6617-E8A6-0F258CBDC5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Задание №1</a:t>
            </a:r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73981DB8-7FA9-08EA-7B13-2D11233FA94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54609472"/>
              </p:ext>
            </p:extLst>
          </p:nvPr>
        </p:nvGraphicFramePr>
        <p:xfrm>
          <a:off x="1385044" y="2657880"/>
          <a:ext cx="9421911" cy="363591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894321">
                  <a:extLst>
                    <a:ext uri="{9D8B030D-6E8A-4147-A177-3AD203B41FA5}">
                      <a16:colId xmlns:a16="http://schemas.microsoft.com/office/drawing/2014/main" val="2074911082"/>
                    </a:ext>
                  </a:extLst>
                </a:gridCol>
                <a:gridCol w="5527590">
                  <a:extLst>
                    <a:ext uri="{9D8B030D-6E8A-4147-A177-3AD203B41FA5}">
                      <a16:colId xmlns:a16="http://schemas.microsoft.com/office/drawing/2014/main" val="2958412131"/>
                    </a:ext>
                  </a:extLst>
                </a:gridCol>
              </a:tblGrid>
              <a:tr h="333973"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50000"/>
                        </a:lnSpc>
                      </a:pPr>
                      <a:r>
                        <a:rPr lang="ru-RU" sz="1200" kern="100">
                          <a:effectLst/>
                        </a:rPr>
                        <a:t>Характеристика</a:t>
                      </a:r>
                      <a:endParaRPr lang="ru-RU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641" marR="59641" marT="0" marB="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50000"/>
                        </a:lnSpc>
                      </a:pPr>
                      <a:r>
                        <a:rPr lang="ru-RU" sz="1200" kern="100">
                          <a:effectLst/>
                        </a:rPr>
                        <a:t>Значение</a:t>
                      </a:r>
                      <a:endParaRPr lang="ru-RU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641" marR="59641" marT="0" marB="0"/>
                </a:tc>
                <a:extLst>
                  <a:ext uri="{0D108BD9-81ED-4DB2-BD59-A6C34878D82A}">
                    <a16:rowId xmlns:a16="http://schemas.microsoft.com/office/drawing/2014/main" val="146537336"/>
                  </a:ext>
                </a:extLst>
              </a:tr>
              <a:tr h="3301942"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50000"/>
                        </a:lnSpc>
                      </a:pPr>
                      <a:r>
                        <a:rPr lang="ru-RU" sz="1200" kern="100">
                          <a:effectLst/>
                        </a:rPr>
                        <a:t>Адрес сети</a:t>
                      </a:r>
                    </a:p>
                    <a:p>
                      <a:pPr indent="450215" algn="just">
                        <a:lnSpc>
                          <a:spcPct val="150000"/>
                        </a:lnSpc>
                      </a:pPr>
                      <a:r>
                        <a:rPr lang="ru-RU" sz="1200" kern="100">
                          <a:effectLst/>
                        </a:rPr>
                        <a:t>Префикс маски </a:t>
                      </a:r>
                    </a:p>
                    <a:p>
                      <a:pPr indent="450215" algn="just">
                        <a:lnSpc>
                          <a:spcPct val="150000"/>
                        </a:lnSpc>
                      </a:pPr>
                      <a:r>
                        <a:rPr lang="ru-RU" sz="1200" kern="100">
                          <a:effectLst/>
                        </a:rPr>
                        <a:t>Маска </a:t>
                      </a:r>
                    </a:p>
                    <a:p>
                      <a:pPr indent="450215" algn="just">
                        <a:lnSpc>
                          <a:spcPct val="150000"/>
                        </a:lnSpc>
                      </a:pPr>
                      <a:r>
                        <a:rPr lang="ru-RU" sz="1200" kern="100">
                          <a:effectLst/>
                        </a:rPr>
                        <a:t>Broadcast-адрес </a:t>
                      </a:r>
                    </a:p>
                    <a:p>
                      <a:pPr indent="450215" algn="just">
                        <a:lnSpc>
                          <a:spcPct val="150000"/>
                        </a:lnSpc>
                      </a:pPr>
                      <a:r>
                        <a:rPr lang="ru-RU" sz="1200" kern="100">
                          <a:effectLst/>
                        </a:rPr>
                        <a:t>Адрес сети в двоичной форме </a:t>
                      </a:r>
                    </a:p>
                    <a:p>
                      <a:pPr indent="450215" algn="just">
                        <a:lnSpc>
                          <a:spcPct val="150000"/>
                        </a:lnSpc>
                      </a:pPr>
                      <a:r>
                        <a:rPr lang="ru-RU" sz="1200" kern="100">
                          <a:effectLst/>
                        </a:rPr>
                        <a:t>Маска в двоичной форме</a:t>
                      </a:r>
                    </a:p>
                    <a:p>
                      <a:pPr indent="450215" algn="just">
                        <a:lnSpc>
                          <a:spcPct val="150000"/>
                        </a:lnSpc>
                      </a:pPr>
                      <a:r>
                        <a:rPr lang="ru-RU" sz="1200" kern="100">
                          <a:effectLst/>
                        </a:rPr>
                        <a:t>Число возможных подсетей</a:t>
                      </a:r>
                    </a:p>
                    <a:p>
                      <a:pPr indent="450215" algn="just">
                        <a:lnSpc>
                          <a:spcPct val="150000"/>
                        </a:lnSpc>
                      </a:pPr>
                      <a:r>
                        <a:rPr lang="ru-RU" sz="1200" kern="100">
                          <a:effectLst/>
                        </a:rPr>
                        <a:t>Диапазон адресов узлов</a:t>
                      </a:r>
                      <a:endParaRPr lang="ru-RU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641" marR="59641" marT="0" marB="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50000"/>
                        </a:lnSpc>
                      </a:pPr>
                      <a:r>
                        <a:rPr lang="ru-RU" sz="1200" kern="100" dirty="0">
                          <a:effectLst/>
                        </a:rPr>
                        <a:t>172.16.20.0/24</a:t>
                      </a:r>
                    </a:p>
                    <a:p>
                      <a:pPr indent="450215" algn="just">
                        <a:lnSpc>
                          <a:spcPct val="150000"/>
                        </a:lnSpc>
                      </a:pPr>
                      <a:r>
                        <a:rPr lang="en-US" sz="1200" kern="100" dirty="0">
                          <a:effectLst/>
                        </a:rPr>
                        <a:t>/</a:t>
                      </a:r>
                      <a:r>
                        <a:rPr lang="ru-RU" sz="1200" kern="100" dirty="0">
                          <a:effectLst/>
                        </a:rPr>
                        <a:t>24</a:t>
                      </a:r>
                    </a:p>
                    <a:p>
                      <a:pPr indent="450215" algn="just">
                        <a:lnSpc>
                          <a:spcPct val="150000"/>
                        </a:lnSpc>
                      </a:pPr>
                      <a:r>
                        <a:rPr lang="en-US" sz="1200" kern="100" dirty="0">
                          <a:effectLst/>
                        </a:rPr>
                        <a:t>255.255.255.0</a:t>
                      </a:r>
                      <a:endParaRPr lang="ru-RU" sz="1200" kern="100" dirty="0">
                        <a:effectLst/>
                      </a:endParaRPr>
                    </a:p>
                    <a:p>
                      <a:pPr indent="450215" algn="just">
                        <a:lnSpc>
                          <a:spcPct val="150000"/>
                        </a:lnSpc>
                      </a:pPr>
                      <a:r>
                        <a:rPr lang="ru-RU" sz="1200" kern="100" dirty="0">
                          <a:effectLst/>
                        </a:rPr>
                        <a:t>172.16.20.</a:t>
                      </a:r>
                      <a:r>
                        <a:rPr lang="en-US" sz="1200" kern="100" dirty="0">
                          <a:effectLst/>
                        </a:rPr>
                        <a:t>255</a:t>
                      </a:r>
                      <a:r>
                        <a:rPr lang="ru-RU" sz="1200" kern="100" dirty="0">
                          <a:effectLst/>
                        </a:rPr>
                        <a:t>/24</a:t>
                      </a:r>
                    </a:p>
                    <a:p>
                      <a:pPr indent="450215" algn="just">
                        <a:lnSpc>
                          <a:spcPct val="150000"/>
                        </a:lnSpc>
                      </a:pPr>
                      <a:r>
                        <a:rPr lang="ru-RU" sz="1200" kern="100" dirty="0">
                          <a:effectLst/>
                        </a:rPr>
                        <a:t>10101100.00010000.00010100.00000000</a:t>
                      </a:r>
                    </a:p>
                    <a:p>
                      <a:pPr indent="450215" algn="just">
                        <a:lnSpc>
                          <a:spcPct val="150000"/>
                        </a:lnSpc>
                      </a:pPr>
                      <a:r>
                        <a:rPr lang="ru-RU" sz="1200" kern="100" dirty="0">
                          <a:effectLst/>
                        </a:rPr>
                        <a:t>11111111.11111111.11111111.00000000</a:t>
                      </a:r>
                    </a:p>
                    <a:p>
                      <a:pPr indent="450215" algn="just">
                        <a:lnSpc>
                          <a:spcPct val="150000"/>
                        </a:lnSpc>
                      </a:pPr>
                      <a:r>
                        <a:rPr lang="ru-RU" sz="1200" kern="100" dirty="0">
                          <a:effectLst/>
                        </a:rPr>
                        <a:t>2</a:t>
                      </a:r>
                      <a:r>
                        <a:rPr lang="en-US" sz="1200" kern="100" dirty="0">
                          <a:effectLst/>
                        </a:rPr>
                        <a:t>^</a:t>
                      </a:r>
                      <a:r>
                        <a:rPr lang="ru-RU" sz="1200" kern="100" dirty="0">
                          <a:effectLst/>
                        </a:rPr>
                        <a:t>8</a:t>
                      </a:r>
                      <a:r>
                        <a:rPr lang="en-US" sz="1200" kern="100" dirty="0">
                          <a:effectLst/>
                        </a:rPr>
                        <a:t> = </a:t>
                      </a:r>
                      <a:r>
                        <a:rPr lang="ru-RU" sz="1200" kern="100" dirty="0">
                          <a:effectLst/>
                        </a:rPr>
                        <a:t>256</a:t>
                      </a:r>
                    </a:p>
                    <a:p>
                      <a:pPr indent="450215" algn="just">
                        <a:lnSpc>
                          <a:spcPct val="150000"/>
                        </a:lnSpc>
                      </a:pPr>
                      <a:r>
                        <a:rPr lang="ru-RU" sz="1200" kern="100" dirty="0">
                          <a:effectLst/>
                        </a:rPr>
                        <a:t>172.16.20.1 - 172.16.20.</a:t>
                      </a:r>
                      <a:r>
                        <a:rPr lang="en-US" sz="1200" kern="100" dirty="0">
                          <a:effectLst/>
                        </a:rPr>
                        <a:t>25</a:t>
                      </a:r>
                      <a:r>
                        <a:rPr lang="ru-RU" sz="1200" kern="100" dirty="0">
                          <a:effectLst/>
                        </a:rPr>
                        <a:t>4</a:t>
                      </a:r>
                    </a:p>
                    <a:p>
                      <a:pPr indent="450215" algn="just">
                        <a:lnSpc>
                          <a:spcPct val="150000"/>
                        </a:lnSpc>
                      </a:pPr>
                      <a:r>
                        <a:rPr lang="en-US" sz="1200" kern="100" dirty="0">
                          <a:effectLst/>
                        </a:rPr>
                        <a:t> </a:t>
                      </a:r>
                      <a:endParaRPr lang="ru-RU" sz="1200" kern="100" dirty="0">
                        <a:effectLst/>
                      </a:endParaRPr>
                    </a:p>
                    <a:p>
                      <a:pPr indent="450215" algn="just">
                        <a:lnSpc>
                          <a:spcPct val="150000"/>
                        </a:lnSpc>
                      </a:pPr>
                      <a:r>
                        <a:rPr lang="en-US" sz="1200" kern="100" dirty="0">
                          <a:effectLst/>
                        </a:rPr>
                        <a:t> </a:t>
                      </a:r>
                      <a:endParaRPr lang="ru-RU" sz="12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641" marR="59641" marT="0" marB="0"/>
                </a:tc>
                <a:extLst>
                  <a:ext uri="{0D108BD9-81ED-4DB2-BD59-A6C34878D82A}">
                    <a16:rowId xmlns:a16="http://schemas.microsoft.com/office/drawing/2014/main" val="31640087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517233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88AF86C-F680-9FF1-098E-834E54A0FC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467418"/>
            <a:ext cx="7729728" cy="1188720"/>
          </a:xfrm>
          <a:solidFill>
            <a:srgbClr val="FFFFFF"/>
          </a:solidFill>
        </p:spPr>
        <p:txBody>
          <a:bodyPr>
            <a:normAutofit/>
          </a:bodyPr>
          <a:lstStyle/>
          <a:p>
            <a:r>
              <a:rPr lang="ru-RU" dirty="0"/>
              <a:t>Задание №1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A4CB707-33C7-C06A-CCC6-320FEB22BA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06062" y="2291262"/>
            <a:ext cx="8779512" cy="2879256"/>
          </a:xfrm>
        </p:spPr>
        <p:txBody>
          <a:bodyPr>
            <a:normAutofit lnSpcReduction="10000"/>
          </a:bodyPr>
          <a:lstStyle/>
          <a:p>
            <a:pPr marL="678815" indent="635">
              <a:lnSpc>
                <a:spcPct val="90000"/>
              </a:lnSpc>
            </a:pPr>
            <a:r>
              <a:rPr lang="ru-RU" sz="1700" kern="100"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Для первой подсети требуется 126 + 2 = 128 адресов (1 для адреса сети и 1 для широковещательного адреса). Для такого количества адресов маска подсети будет: 255.255.255.128 (префикс маски /25). Диапазон адресов будет: 172.16.20.1–172.16.20.126. Широковещательный адрес: 172.16.20.127.</a:t>
            </a:r>
          </a:p>
          <a:p>
            <a:pPr marL="678815" indent="635">
              <a:lnSpc>
                <a:spcPct val="90000"/>
              </a:lnSpc>
            </a:pPr>
            <a:r>
              <a:rPr lang="ru-RU" sz="1700" kern="100"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Для следующих двух подсетей нам нужно 62 + 2 = 64 адресов. Для такого количества адресов маска подсети будет: 255.255.255.192 (префикс маски /26). </a:t>
            </a:r>
          </a:p>
          <a:p>
            <a:pPr marL="678815" indent="635">
              <a:lnSpc>
                <a:spcPct val="90000"/>
              </a:lnSpc>
            </a:pPr>
            <a:r>
              <a:rPr lang="ru-RU" sz="1700" kern="100"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Для первой из этих подсетей диапазон адресов будет: 172.16.20.129–172.16.20.190. Широковещательный адрес: 172.16.20.191. </a:t>
            </a:r>
          </a:p>
          <a:p>
            <a:pPr marL="678815" indent="635">
              <a:lnSpc>
                <a:spcPct val="90000"/>
              </a:lnSpc>
            </a:pPr>
            <a:r>
              <a:rPr lang="ru-RU" sz="1700" kern="100"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Для второй подсети диапазон будет: 172.16.20.193–172.16.20.254. Широковещательный адрес будет: 172.16.20.255.</a:t>
            </a:r>
          </a:p>
        </p:txBody>
      </p:sp>
    </p:spTree>
    <p:extLst>
      <p:ext uri="{BB962C8B-B14F-4D97-AF65-F5344CB8AC3E}">
        <p14:creationId xmlns:p14="http://schemas.microsoft.com/office/powerpoint/2010/main" val="11117442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A88535E-2431-BF85-E4A6-C59C43DFCC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Задание №1</a:t>
            </a:r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4EA97B66-1B67-9165-3784-12728FF4ABD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86150953"/>
              </p:ext>
            </p:extLst>
          </p:nvPr>
        </p:nvGraphicFramePr>
        <p:xfrm>
          <a:off x="965201" y="2703633"/>
          <a:ext cx="10261600" cy="297155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160466">
                  <a:extLst>
                    <a:ext uri="{9D8B030D-6E8A-4147-A177-3AD203B41FA5}">
                      <a16:colId xmlns:a16="http://schemas.microsoft.com/office/drawing/2014/main" val="2722702210"/>
                    </a:ext>
                  </a:extLst>
                </a:gridCol>
                <a:gridCol w="6101134">
                  <a:extLst>
                    <a:ext uri="{9D8B030D-6E8A-4147-A177-3AD203B41FA5}">
                      <a16:colId xmlns:a16="http://schemas.microsoft.com/office/drawing/2014/main" val="3466575343"/>
                    </a:ext>
                  </a:extLst>
                </a:gridCol>
              </a:tblGrid>
              <a:tr h="372159"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50000"/>
                        </a:lnSpc>
                      </a:pPr>
                      <a:r>
                        <a:rPr lang="ru-RU" sz="1600" kern="100">
                          <a:effectLst/>
                        </a:rPr>
                        <a:t>Характеристика</a:t>
                      </a:r>
                      <a:endParaRPr lang="ru-RU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7159" marR="77159" marT="0" marB="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50000"/>
                        </a:lnSpc>
                      </a:pPr>
                      <a:r>
                        <a:rPr lang="ru-RU" sz="1600" kern="100">
                          <a:effectLst/>
                        </a:rPr>
                        <a:t>Значение</a:t>
                      </a:r>
                      <a:endParaRPr lang="ru-RU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7159" marR="77159" marT="0" marB="0"/>
                </a:tc>
                <a:extLst>
                  <a:ext uri="{0D108BD9-81ED-4DB2-BD59-A6C34878D82A}">
                    <a16:rowId xmlns:a16="http://schemas.microsoft.com/office/drawing/2014/main" val="1888567997"/>
                  </a:ext>
                </a:extLst>
              </a:tr>
              <a:tr h="2599400"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50000"/>
                        </a:lnSpc>
                      </a:pPr>
                      <a:r>
                        <a:rPr lang="ru-RU" sz="1600" kern="100">
                          <a:effectLst/>
                        </a:rPr>
                        <a:t>Адрес сети</a:t>
                      </a:r>
                    </a:p>
                    <a:p>
                      <a:pPr indent="450215" algn="just">
                        <a:lnSpc>
                          <a:spcPct val="150000"/>
                        </a:lnSpc>
                      </a:pPr>
                      <a:r>
                        <a:rPr lang="ru-RU" sz="1600" kern="100">
                          <a:effectLst/>
                        </a:rPr>
                        <a:t>Длина префикса</a:t>
                      </a:r>
                    </a:p>
                    <a:p>
                      <a:pPr indent="450215" algn="just">
                        <a:lnSpc>
                          <a:spcPct val="150000"/>
                        </a:lnSpc>
                      </a:pPr>
                      <a:r>
                        <a:rPr lang="ru-RU" sz="1600" kern="100">
                          <a:effectLst/>
                        </a:rPr>
                        <a:t>Префикс</a:t>
                      </a:r>
                    </a:p>
                    <a:p>
                      <a:pPr indent="450215" algn="just">
                        <a:lnSpc>
                          <a:spcPct val="150000"/>
                        </a:lnSpc>
                      </a:pPr>
                      <a:r>
                        <a:rPr lang="ru-RU" sz="1600" kern="100">
                          <a:effectLst/>
                        </a:rPr>
                        <a:t>Маска </a:t>
                      </a:r>
                    </a:p>
                    <a:p>
                      <a:pPr indent="450215" algn="just">
                        <a:lnSpc>
                          <a:spcPct val="150000"/>
                        </a:lnSpc>
                      </a:pPr>
                      <a:r>
                        <a:rPr lang="ru-RU" sz="1600" kern="100">
                          <a:effectLst/>
                        </a:rPr>
                        <a:t>Диапазон адресов узлов</a:t>
                      </a:r>
                      <a:endParaRPr lang="ru-RU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7159" marR="77159" marT="0" marB="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50000"/>
                        </a:lnSpc>
                      </a:pPr>
                      <a:r>
                        <a:rPr lang="en-US" sz="1600" kern="100" dirty="0">
                          <a:effectLst/>
                        </a:rPr>
                        <a:t>2001:db8:c0de::/48</a:t>
                      </a:r>
                      <a:endParaRPr lang="ru-RU" sz="1600" kern="100" dirty="0">
                        <a:effectLst/>
                      </a:endParaRPr>
                    </a:p>
                    <a:p>
                      <a:pPr indent="450215" algn="just">
                        <a:lnSpc>
                          <a:spcPct val="150000"/>
                        </a:lnSpc>
                      </a:pPr>
                      <a:r>
                        <a:rPr lang="en-US" sz="1600" kern="100" dirty="0">
                          <a:effectLst/>
                        </a:rPr>
                        <a:t>48</a:t>
                      </a:r>
                      <a:endParaRPr lang="ru-RU" sz="1600" kern="100" dirty="0">
                        <a:effectLst/>
                      </a:endParaRPr>
                    </a:p>
                    <a:p>
                      <a:pPr indent="450215" algn="just">
                        <a:lnSpc>
                          <a:spcPct val="150000"/>
                        </a:lnSpc>
                      </a:pPr>
                      <a:r>
                        <a:rPr lang="en-US" sz="1600" kern="100" dirty="0">
                          <a:effectLst/>
                        </a:rPr>
                        <a:t>2001:db8:c0de</a:t>
                      </a:r>
                      <a:endParaRPr lang="ru-RU" sz="1600" kern="100" dirty="0">
                        <a:effectLst/>
                      </a:endParaRPr>
                    </a:p>
                    <a:p>
                      <a:pPr indent="450215" algn="just">
                        <a:lnSpc>
                          <a:spcPct val="150000"/>
                        </a:lnSpc>
                      </a:pPr>
                      <a:r>
                        <a:rPr lang="en-US" sz="1600" kern="100" dirty="0">
                          <a:effectLst/>
                        </a:rPr>
                        <a:t>ffff:ffff:ffff:0000:0000:0000:0000:0000</a:t>
                      </a:r>
                      <a:endParaRPr lang="ru-RU" sz="1600" kern="100" dirty="0">
                        <a:effectLst/>
                      </a:endParaRPr>
                    </a:p>
                    <a:p>
                      <a:pPr indent="450215" algn="just">
                        <a:lnSpc>
                          <a:spcPct val="150000"/>
                        </a:lnSpc>
                      </a:pPr>
                      <a:r>
                        <a:rPr lang="en-US" sz="1600" kern="100" dirty="0">
                          <a:effectLst/>
                        </a:rPr>
                        <a:t>0021:0db8:0cde:0000:0000:0000:0000:0000-</a:t>
                      </a:r>
                      <a:endParaRPr lang="ru-RU" sz="1600" kern="100" dirty="0">
                        <a:effectLst/>
                      </a:endParaRPr>
                    </a:p>
                    <a:p>
                      <a:pPr indent="450215" algn="just">
                        <a:lnSpc>
                          <a:spcPct val="150000"/>
                        </a:lnSpc>
                      </a:pPr>
                      <a:r>
                        <a:rPr lang="en-US" sz="1600" kern="100" dirty="0">
                          <a:effectLst/>
                        </a:rPr>
                        <a:t>0021:0db8:0cde:ffff:ffff:ffff:ffff:ffff</a:t>
                      </a:r>
                      <a:endParaRPr lang="ru-RU" sz="1600" kern="100" dirty="0">
                        <a:effectLst/>
                      </a:endParaRPr>
                    </a:p>
                    <a:p>
                      <a:pPr indent="450215" algn="just">
                        <a:lnSpc>
                          <a:spcPct val="150000"/>
                        </a:lnSpc>
                      </a:pPr>
                      <a:r>
                        <a:rPr lang="en-US" sz="1600" kern="100" dirty="0">
                          <a:effectLst/>
                        </a:rPr>
                        <a:t> </a:t>
                      </a:r>
                      <a:endParaRPr lang="ru-RU" sz="16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7159" marR="77159" marT="0" marB="0"/>
                </a:tc>
                <a:extLst>
                  <a:ext uri="{0D108BD9-81ED-4DB2-BD59-A6C34878D82A}">
                    <a16:rowId xmlns:a16="http://schemas.microsoft.com/office/drawing/2014/main" val="23685170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871195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8FEF604-B7AC-3050-7B7D-98387F2661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467418"/>
            <a:ext cx="7729728" cy="1188720"/>
          </a:xfrm>
          <a:solidFill>
            <a:srgbClr val="FFFFFF"/>
          </a:solidFill>
        </p:spPr>
        <p:txBody>
          <a:bodyPr>
            <a:normAutofit/>
          </a:bodyPr>
          <a:lstStyle/>
          <a:p>
            <a:r>
              <a:rPr lang="ru-RU" dirty="0"/>
              <a:t>Задание №1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E92B549-3BDC-74DA-A051-58DF982AC7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06062" y="2291262"/>
            <a:ext cx="8779512" cy="2879256"/>
          </a:xfrm>
        </p:spPr>
        <p:txBody>
          <a:bodyPr>
            <a:normAutofit/>
          </a:bodyPr>
          <a:lstStyle/>
          <a:p>
            <a:pPr marL="678815" indent="450215"/>
            <a:r>
              <a:rPr lang="ru-RU" kern="100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 использованием идентификатора подсети:</a:t>
            </a:r>
          </a:p>
          <a:p>
            <a:pPr marL="678815" indent="450215"/>
            <a:r>
              <a:rPr lang="ru-RU" kern="100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Идентификатора подсети – это то, что следует за префиксом глобальной маршрутизации (48 бит). Рассчитаем его и получим, что для сети 2001:db8:c0de::/48 можно выделить следующие подсети:</a:t>
            </a:r>
          </a:p>
          <a:p>
            <a:pPr marL="678815" indent="450215"/>
            <a:r>
              <a:rPr lang="ru-RU" kern="100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2001:</a:t>
            </a:r>
            <a:r>
              <a:rPr lang="en-US" kern="100" dirty="0" err="1"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db</a:t>
            </a:r>
            <a:r>
              <a:rPr lang="ru-RU" kern="100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8:</a:t>
            </a:r>
            <a:r>
              <a:rPr lang="en-US" kern="100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</a:t>
            </a:r>
            <a:r>
              <a:rPr lang="ru-RU" kern="100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0</a:t>
            </a:r>
            <a:r>
              <a:rPr lang="en-US" kern="100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</a:t>
            </a:r>
            <a:r>
              <a:rPr lang="ru-RU" kern="100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:0002::/64</a:t>
            </a:r>
          </a:p>
          <a:p>
            <a:pPr marL="678815" indent="450215"/>
            <a:r>
              <a:rPr lang="ru-RU" kern="100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2001:</a:t>
            </a:r>
            <a:r>
              <a:rPr lang="en-US" kern="100" dirty="0" err="1"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db</a:t>
            </a:r>
            <a:r>
              <a:rPr lang="ru-RU" kern="100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8:</a:t>
            </a:r>
            <a:r>
              <a:rPr lang="en-US" kern="100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</a:t>
            </a:r>
            <a:r>
              <a:rPr lang="ru-RU" kern="100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0</a:t>
            </a:r>
            <a:r>
              <a:rPr lang="en-US" kern="100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</a:t>
            </a:r>
            <a:r>
              <a:rPr lang="ru-RU" kern="100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:0003::/64</a:t>
            </a:r>
          </a:p>
          <a:p>
            <a:endParaRPr lang="ru-RU" dirty="0">
              <a:solidFill>
                <a:srgbClr val="40404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02783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4A8C970-07E5-5256-49FB-35E0130400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467418"/>
            <a:ext cx="7729728" cy="1188720"/>
          </a:xfrm>
          <a:solidFill>
            <a:srgbClr val="FFFFFF"/>
          </a:solidFill>
        </p:spPr>
        <p:txBody>
          <a:bodyPr>
            <a:normAutofit/>
          </a:bodyPr>
          <a:lstStyle/>
          <a:p>
            <a:r>
              <a:rPr lang="ru-RU" dirty="0"/>
              <a:t>Задание №1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F766B02-225E-618F-5E80-0E31CE7E6F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06062" y="2291262"/>
            <a:ext cx="8779512" cy="2879256"/>
          </a:xfrm>
        </p:spPr>
        <p:txBody>
          <a:bodyPr>
            <a:normAutofit/>
          </a:bodyPr>
          <a:lstStyle/>
          <a:p>
            <a:pPr marL="678815" indent="450215"/>
            <a:r>
              <a:rPr lang="ru-RU" kern="100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 использованием идентификатора интерфейса можно выделить, например, такие подсети:</a:t>
            </a:r>
          </a:p>
          <a:p>
            <a:pPr marL="678815" indent="450215"/>
            <a:r>
              <a:rPr lang="ru-RU" kern="100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2001: 0db8: c0de:0000:1000/68</a:t>
            </a:r>
          </a:p>
          <a:p>
            <a:pPr marL="678815" indent="450215"/>
            <a:r>
              <a:rPr lang="ru-RU" kern="100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2001: 0db8: c0de:0000:2000/68</a:t>
            </a:r>
          </a:p>
          <a:p>
            <a:endParaRPr lang="ru-RU" dirty="0">
              <a:solidFill>
                <a:srgbClr val="40404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24763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4867AB1-596F-AA84-8682-3CCD627811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2404872"/>
            <a:ext cx="3044950" cy="1627792"/>
          </a:xfrm>
        </p:spPr>
        <p:txBody>
          <a:bodyPr vert="horz" lIns="274320" tIns="182880" rIns="274320" bIns="182880" rtlCol="0" anchor="ctr" anchorCtr="1">
            <a:normAutofit/>
          </a:bodyPr>
          <a:lstStyle/>
          <a:p>
            <a:r>
              <a:rPr lang="en-US"/>
              <a:t>Задание №2</a:t>
            </a:r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6C18B9E9-902D-95B0-7C52-76D4287A56B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851682" y="640080"/>
            <a:ext cx="5142931" cy="5263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26452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4867AB1-596F-AA84-8682-3CCD627811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2404872"/>
            <a:ext cx="3044950" cy="1627792"/>
          </a:xfrm>
        </p:spPr>
        <p:txBody>
          <a:bodyPr vert="horz" lIns="274320" tIns="182880" rIns="274320" bIns="182880" rtlCol="0" anchor="ctr" anchorCtr="1">
            <a:normAutofit/>
          </a:bodyPr>
          <a:lstStyle/>
          <a:p>
            <a:r>
              <a:rPr lang="en-US"/>
              <a:t>Задание №2</a:t>
            </a:r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23A8B149-D7C4-D219-1BDC-46B824C0C39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294376" y="1331808"/>
            <a:ext cx="6257544" cy="3879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03581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4867AB1-596F-AA84-8682-3CCD627811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2404872"/>
            <a:ext cx="3044950" cy="1627792"/>
          </a:xfrm>
        </p:spPr>
        <p:txBody>
          <a:bodyPr vert="horz" lIns="274320" tIns="182880" rIns="274320" bIns="182880" rtlCol="0" anchor="ctr" anchorCtr="1">
            <a:normAutofit/>
          </a:bodyPr>
          <a:lstStyle/>
          <a:p>
            <a:r>
              <a:rPr lang="en-US"/>
              <a:t>Задание №2</a:t>
            </a:r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02344093-0262-8518-6F9E-77B111016D1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294376" y="940405"/>
            <a:ext cx="6257544" cy="4662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03480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4867AB1-596F-AA84-8682-3CCD627811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2404872"/>
            <a:ext cx="3044950" cy="1627792"/>
          </a:xfrm>
        </p:spPr>
        <p:txBody>
          <a:bodyPr vert="horz" lIns="274320" tIns="182880" rIns="274320" bIns="182880" rtlCol="0" anchor="ctr" anchorCtr="1">
            <a:normAutofit/>
          </a:bodyPr>
          <a:lstStyle/>
          <a:p>
            <a:r>
              <a:rPr lang="en-US"/>
              <a:t>Задание №2</a:t>
            </a:r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445FBC27-97A6-E58E-EF39-A56D8A868B6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655788" y="640080"/>
            <a:ext cx="5534719" cy="5263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59694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4867AB1-596F-AA84-8682-3CCD627811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2386744"/>
            <a:ext cx="5925310" cy="1645920"/>
          </a:xfrm>
        </p:spPr>
        <p:txBody>
          <a:bodyPr vert="horz" lIns="274320" tIns="182880" rIns="274320" bIns="182880" rtlCol="0" anchor="ctr" anchorCtr="1">
            <a:normAutofit/>
          </a:bodyPr>
          <a:lstStyle/>
          <a:p>
            <a:r>
              <a:rPr lang="en-US" sz="3800"/>
              <a:t>Задание №2</a:t>
            </a:r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57FE2FA2-73F9-A31A-57F9-0D9903C237B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482871" y="3495625"/>
            <a:ext cx="3286584" cy="724001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B81F3A0-17B7-FC0E-7627-A39680DD8F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9104" y="1820006"/>
            <a:ext cx="3368363" cy="742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8273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4867AB1-596F-AA84-8682-3CCD627811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2404872"/>
            <a:ext cx="3044950" cy="1627792"/>
          </a:xfrm>
        </p:spPr>
        <p:txBody>
          <a:bodyPr vert="horz" lIns="274320" tIns="182880" rIns="274320" bIns="182880" rtlCol="0" anchor="ctr" anchorCtr="1">
            <a:normAutofit/>
          </a:bodyPr>
          <a:lstStyle/>
          <a:p>
            <a:r>
              <a:rPr lang="en-US"/>
              <a:t>Задание №2</a:t>
            </a:r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CCA74997-1264-BE66-5D3A-239E4AE988D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041457" y="935989"/>
            <a:ext cx="6698114" cy="4521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76263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9DA75DA-4F11-1ECB-17CA-BBDA93C200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/>
              <a:t>Задание №3</a:t>
            </a:r>
            <a:endParaRPr lang="ru-RU" dirty="0"/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0ECB113E-E05E-B3CD-4816-18C834F3154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57225916"/>
              </p:ext>
            </p:extLst>
          </p:nvPr>
        </p:nvGraphicFramePr>
        <p:xfrm>
          <a:off x="965200" y="3348576"/>
          <a:ext cx="10261603" cy="168744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879924">
                  <a:extLst>
                    <a:ext uri="{9D8B030D-6E8A-4147-A177-3AD203B41FA5}">
                      <a16:colId xmlns:a16="http://schemas.microsoft.com/office/drawing/2014/main" val="384371863"/>
                    </a:ext>
                  </a:extLst>
                </a:gridCol>
                <a:gridCol w="1866277">
                  <a:extLst>
                    <a:ext uri="{9D8B030D-6E8A-4147-A177-3AD203B41FA5}">
                      <a16:colId xmlns:a16="http://schemas.microsoft.com/office/drawing/2014/main" val="2636869789"/>
                    </a:ext>
                  </a:extLst>
                </a:gridCol>
                <a:gridCol w="1949266">
                  <a:extLst>
                    <a:ext uri="{9D8B030D-6E8A-4147-A177-3AD203B41FA5}">
                      <a16:colId xmlns:a16="http://schemas.microsoft.com/office/drawing/2014/main" val="3758075893"/>
                    </a:ext>
                  </a:extLst>
                </a:gridCol>
                <a:gridCol w="2329173">
                  <a:extLst>
                    <a:ext uri="{9D8B030D-6E8A-4147-A177-3AD203B41FA5}">
                      <a16:colId xmlns:a16="http://schemas.microsoft.com/office/drawing/2014/main" val="1543505715"/>
                    </a:ext>
                  </a:extLst>
                </a:gridCol>
                <a:gridCol w="2236963">
                  <a:extLst>
                    <a:ext uri="{9D8B030D-6E8A-4147-A177-3AD203B41FA5}">
                      <a16:colId xmlns:a16="http://schemas.microsoft.com/office/drawing/2014/main" val="3723029228"/>
                    </a:ext>
                  </a:extLst>
                </a:gridCol>
              </a:tblGrid>
              <a:tr h="281722"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50000"/>
                        </a:lnSpc>
                      </a:pPr>
                      <a:r>
                        <a:rPr lang="ru-RU" sz="1200" kern="100">
                          <a:effectLst/>
                        </a:rPr>
                        <a:t>Устройство</a:t>
                      </a:r>
                      <a:endParaRPr lang="ru-RU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409" marR="58409" marT="0" marB="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50000"/>
                        </a:lnSpc>
                      </a:pPr>
                      <a:r>
                        <a:rPr lang="ru-RU" sz="1200" kern="100">
                          <a:effectLst/>
                        </a:rPr>
                        <a:t>Интерфейс</a:t>
                      </a:r>
                      <a:endParaRPr lang="ru-RU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409" marR="58409" marT="0" marB="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50000"/>
                        </a:lnSpc>
                      </a:pPr>
                      <a:r>
                        <a:rPr lang="en-US" sz="1200" kern="100">
                          <a:effectLst/>
                        </a:rPr>
                        <a:t>IPv4-</a:t>
                      </a:r>
                      <a:r>
                        <a:rPr lang="ru-RU" sz="1200" kern="100">
                          <a:effectLst/>
                        </a:rPr>
                        <a:t>адрес</a:t>
                      </a:r>
                      <a:endParaRPr lang="ru-RU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409" marR="58409" marT="0" marB="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50000"/>
                        </a:lnSpc>
                      </a:pPr>
                      <a:r>
                        <a:rPr lang="en-US" sz="1200" kern="100">
                          <a:effectLst/>
                        </a:rPr>
                        <a:t>IPv6-</a:t>
                      </a:r>
                      <a:r>
                        <a:rPr lang="ru-RU" sz="1200" kern="100">
                          <a:effectLst/>
                        </a:rPr>
                        <a:t>адрес</a:t>
                      </a:r>
                      <a:endParaRPr lang="ru-RU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409" marR="58409" marT="0" marB="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50000"/>
                        </a:lnSpc>
                      </a:pPr>
                      <a:r>
                        <a:rPr lang="ru-RU" sz="1200" kern="100">
                          <a:effectLst/>
                        </a:rPr>
                        <a:t>Шлюз по умолчанию</a:t>
                      </a:r>
                      <a:endParaRPr lang="ru-RU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409" marR="58409" marT="0" marB="0"/>
                </a:tc>
                <a:extLst>
                  <a:ext uri="{0D108BD9-81ED-4DB2-BD59-A6C34878D82A}">
                    <a16:rowId xmlns:a16="http://schemas.microsoft.com/office/drawing/2014/main" val="3809689087"/>
                  </a:ext>
                </a:extLst>
              </a:tr>
              <a:tr h="1405725"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50000"/>
                        </a:lnSpc>
                      </a:pPr>
                      <a:r>
                        <a:rPr lang="en-US" sz="1200" kern="100">
                          <a:effectLst/>
                        </a:rPr>
                        <a:t>PC1</a:t>
                      </a:r>
                      <a:endParaRPr lang="ru-RU" sz="1200" kern="100">
                        <a:effectLst/>
                      </a:endParaRPr>
                    </a:p>
                    <a:p>
                      <a:pPr indent="450215" algn="just">
                        <a:lnSpc>
                          <a:spcPct val="150000"/>
                        </a:lnSpc>
                      </a:pPr>
                      <a:r>
                        <a:rPr lang="en-US" sz="1200" kern="100">
                          <a:effectLst/>
                        </a:rPr>
                        <a:t>PC2</a:t>
                      </a:r>
                      <a:endParaRPr lang="ru-RU" sz="1200" kern="100">
                        <a:effectLst/>
                      </a:endParaRPr>
                    </a:p>
                    <a:p>
                      <a:pPr indent="450215" algn="just">
                        <a:lnSpc>
                          <a:spcPct val="150000"/>
                        </a:lnSpc>
                      </a:pPr>
                      <a:r>
                        <a:rPr lang="en-US" sz="1200" kern="100">
                          <a:effectLst/>
                        </a:rPr>
                        <a:t>gw-01</a:t>
                      </a:r>
                      <a:endParaRPr lang="ru-RU" sz="1200" kern="100">
                        <a:effectLst/>
                      </a:endParaRPr>
                    </a:p>
                    <a:p>
                      <a:pPr indent="450215" algn="just">
                        <a:lnSpc>
                          <a:spcPct val="150000"/>
                        </a:lnSpc>
                      </a:pPr>
                      <a:r>
                        <a:rPr lang="en-US" sz="1200" kern="100">
                          <a:effectLst/>
                        </a:rPr>
                        <a:t>gw-01</a:t>
                      </a:r>
                      <a:endParaRPr lang="ru-RU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409" marR="58409" marT="0" marB="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50000"/>
                        </a:lnSpc>
                      </a:pPr>
                      <a:r>
                        <a:rPr lang="en-US" sz="1200" kern="100">
                          <a:effectLst/>
                        </a:rPr>
                        <a:t>NIC</a:t>
                      </a:r>
                      <a:endParaRPr lang="ru-RU" sz="1200" kern="100">
                        <a:effectLst/>
                      </a:endParaRPr>
                    </a:p>
                    <a:p>
                      <a:pPr indent="450215" algn="just">
                        <a:lnSpc>
                          <a:spcPct val="150000"/>
                        </a:lnSpc>
                      </a:pPr>
                      <a:r>
                        <a:rPr lang="en-US" sz="1200" kern="100">
                          <a:effectLst/>
                        </a:rPr>
                        <a:t>NIC</a:t>
                      </a:r>
                      <a:endParaRPr lang="ru-RU" sz="1200" kern="100">
                        <a:effectLst/>
                      </a:endParaRPr>
                    </a:p>
                    <a:p>
                      <a:pPr indent="450215" algn="just">
                        <a:lnSpc>
                          <a:spcPct val="150000"/>
                        </a:lnSpc>
                      </a:pPr>
                      <a:r>
                        <a:rPr lang="en-US" sz="1200" kern="100">
                          <a:effectLst/>
                        </a:rPr>
                        <a:t>eth 0</a:t>
                      </a:r>
                      <a:endParaRPr lang="ru-RU" sz="1200" kern="100">
                        <a:effectLst/>
                      </a:endParaRPr>
                    </a:p>
                    <a:p>
                      <a:pPr indent="450215" algn="just">
                        <a:lnSpc>
                          <a:spcPct val="150000"/>
                        </a:lnSpc>
                      </a:pPr>
                      <a:r>
                        <a:rPr lang="en-US" sz="1200" kern="100">
                          <a:effectLst/>
                        </a:rPr>
                        <a:t>eth 1</a:t>
                      </a:r>
                      <a:endParaRPr lang="ru-RU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409" marR="58409" marT="0" marB="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50000"/>
                        </a:lnSpc>
                      </a:pPr>
                      <a:r>
                        <a:rPr lang="ru-RU" sz="1200" kern="100">
                          <a:effectLst/>
                        </a:rPr>
                        <a:t>10.10.1.</a:t>
                      </a:r>
                      <a:r>
                        <a:rPr lang="en-US" sz="1200" kern="100">
                          <a:effectLst/>
                        </a:rPr>
                        <a:t>99</a:t>
                      </a:r>
                      <a:r>
                        <a:rPr lang="ru-RU" sz="1200" kern="100">
                          <a:effectLst/>
                        </a:rPr>
                        <a:t>/27</a:t>
                      </a:r>
                    </a:p>
                    <a:p>
                      <a:pPr indent="450215" algn="just">
                        <a:lnSpc>
                          <a:spcPct val="150000"/>
                        </a:lnSpc>
                      </a:pPr>
                      <a:r>
                        <a:rPr lang="ru-RU" sz="1200" kern="100">
                          <a:effectLst/>
                        </a:rPr>
                        <a:t>10.10.1.</a:t>
                      </a:r>
                      <a:r>
                        <a:rPr lang="en-US" sz="1200" kern="100">
                          <a:effectLst/>
                        </a:rPr>
                        <a:t>18</a:t>
                      </a:r>
                      <a:r>
                        <a:rPr lang="ru-RU" sz="1200" kern="100">
                          <a:effectLst/>
                        </a:rPr>
                        <a:t>/28</a:t>
                      </a:r>
                    </a:p>
                    <a:p>
                      <a:pPr indent="450215" algn="just">
                        <a:lnSpc>
                          <a:spcPct val="150000"/>
                        </a:lnSpc>
                      </a:pPr>
                      <a:r>
                        <a:rPr lang="en-US" sz="1200" kern="100">
                          <a:effectLst/>
                        </a:rPr>
                        <a:t>10.10.1.97/27</a:t>
                      </a:r>
                      <a:endParaRPr lang="ru-RU" sz="1200" kern="100">
                        <a:effectLst/>
                      </a:endParaRPr>
                    </a:p>
                    <a:p>
                      <a:pPr indent="450215" algn="just">
                        <a:lnSpc>
                          <a:spcPct val="150000"/>
                        </a:lnSpc>
                      </a:pPr>
                      <a:r>
                        <a:rPr lang="en-US" sz="1200" kern="100">
                          <a:effectLst/>
                        </a:rPr>
                        <a:t>10.10.1.17/28	</a:t>
                      </a:r>
                      <a:endParaRPr lang="ru-RU" sz="1200" kern="100">
                        <a:effectLst/>
                      </a:endParaRPr>
                    </a:p>
                    <a:p>
                      <a:pPr indent="450215" algn="just">
                        <a:lnSpc>
                          <a:spcPct val="150000"/>
                        </a:lnSpc>
                      </a:pPr>
                      <a:r>
                        <a:rPr lang="en-US" sz="1200" kern="100">
                          <a:effectLst/>
                        </a:rPr>
                        <a:t> </a:t>
                      </a:r>
                      <a:endParaRPr lang="ru-RU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409" marR="58409" marT="0" marB="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50000"/>
                        </a:lnSpc>
                      </a:pPr>
                      <a:r>
                        <a:rPr lang="en-US" sz="1200" kern="100">
                          <a:effectLst/>
                        </a:rPr>
                        <a:t>2001:db8:1:1::a/64</a:t>
                      </a:r>
                      <a:endParaRPr lang="ru-RU" sz="1200" kern="100">
                        <a:effectLst/>
                      </a:endParaRPr>
                    </a:p>
                    <a:p>
                      <a:pPr indent="450215" algn="just">
                        <a:lnSpc>
                          <a:spcPct val="150000"/>
                        </a:lnSpc>
                      </a:pPr>
                      <a:r>
                        <a:rPr lang="en-US" sz="1200" kern="100">
                          <a:effectLst/>
                        </a:rPr>
                        <a:t>2001:db8:1:4::a/64</a:t>
                      </a:r>
                      <a:endParaRPr lang="ru-RU" sz="1200" kern="100">
                        <a:effectLst/>
                      </a:endParaRPr>
                    </a:p>
                    <a:p>
                      <a:pPr indent="450215" algn="just">
                        <a:lnSpc>
                          <a:spcPct val="150000"/>
                        </a:lnSpc>
                      </a:pPr>
                      <a:r>
                        <a:rPr lang="en-US" sz="1200" kern="100">
                          <a:effectLst/>
                        </a:rPr>
                        <a:t>2001:db8:1:1::1/64</a:t>
                      </a:r>
                      <a:endParaRPr lang="ru-RU" sz="1200" kern="100">
                        <a:effectLst/>
                      </a:endParaRPr>
                    </a:p>
                    <a:p>
                      <a:pPr indent="450215" algn="just">
                        <a:lnSpc>
                          <a:spcPct val="150000"/>
                        </a:lnSpc>
                      </a:pPr>
                      <a:r>
                        <a:rPr lang="en-US" sz="1200" kern="100">
                          <a:effectLst/>
                        </a:rPr>
                        <a:t>2001:db8:1:4::1/64</a:t>
                      </a:r>
                      <a:endParaRPr lang="ru-RU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409" marR="58409" marT="0" marB="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50000"/>
                        </a:lnSpc>
                      </a:pPr>
                      <a:r>
                        <a:rPr lang="en-US" sz="1200" kern="100" dirty="0">
                          <a:effectLst/>
                        </a:rPr>
                        <a:t>10.10.1.97/gw-01	</a:t>
                      </a:r>
                      <a:endParaRPr lang="ru-RU" sz="1200" kern="100" dirty="0">
                        <a:effectLst/>
                      </a:endParaRPr>
                    </a:p>
                    <a:p>
                      <a:pPr indent="450215" algn="just">
                        <a:lnSpc>
                          <a:spcPct val="150000"/>
                        </a:lnSpc>
                      </a:pPr>
                      <a:r>
                        <a:rPr lang="en-US" sz="1200" kern="100" dirty="0">
                          <a:effectLst/>
                        </a:rPr>
                        <a:t>10.10.1.17/gw-01</a:t>
                      </a:r>
                      <a:endParaRPr lang="ru-RU" sz="12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409" marR="58409" marT="0" marB="0"/>
                </a:tc>
                <a:extLst>
                  <a:ext uri="{0D108BD9-81ED-4DB2-BD59-A6C34878D82A}">
                    <a16:rowId xmlns:a16="http://schemas.microsoft.com/office/drawing/2014/main" val="14871858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567657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EB14D21-EF6A-60F3-52CA-58F13D5854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2404872"/>
            <a:ext cx="3044950" cy="1627792"/>
          </a:xfrm>
        </p:spPr>
        <p:txBody>
          <a:bodyPr vert="horz" lIns="274320" tIns="182880" rIns="274320" bIns="182880" rtlCol="0" anchor="ctr" anchorCtr="1">
            <a:normAutofit/>
          </a:bodyPr>
          <a:lstStyle/>
          <a:p>
            <a:r>
              <a:rPr lang="en-US"/>
              <a:t>Задание №3</a:t>
            </a:r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B65DAB31-ACAE-415F-49E1-FC027745098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294376" y="1259523"/>
            <a:ext cx="6257544" cy="4024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9167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EB14D21-EF6A-60F3-52CA-58F13D5854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2404872"/>
            <a:ext cx="3044950" cy="1627792"/>
          </a:xfrm>
        </p:spPr>
        <p:txBody>
          <a:bodyPr vert="horz" lIns="274320" tIns="182880" rIns="274320" bIns="182880" rtlCol="0" anchor="ctr" anchorCtr="1">
            <a:normAutofit/>
          </a:bodyPr>
          <a:lstStyle/>
          <a:p>
            <a:r>
              <a:rPr lang="en-US" dirty="0" err="1"/>
              <a:t>Задание</a:t>
            </a:r>
            <a:r>
              <a:rPr lang="en-US" dirty="0"/>
              <a:t> №3</a:t>
            </a:r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940E3626-3C99-04B9-897A-87B644EDE48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294376" y="1017002"/>
            <a:ext cx="6257544" cy="4509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24640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81A6D1-F59F-365B-6E07-ACEB76383D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2386744"/>
            <a:ext cx="4486656" cy="1645920"/>
          </a:xfrm>
        </p:spPr>
        <p:txBody>
          <a:bodyPr vert="horz" lIns="274320" tIns="182880" rIns="274320" bIns="182880" rtlCol="0" anchor="ctr" anchorCtr="1">
            <a:normAutofit/>
          </a:bodyPr>
          <a:lstStyle/>
          <a:p>
            <a:r>
              <a:rPr lang="en-US" sz="3200" dirty="0" err="1"/>
              <a:t>Задание</a:t>
            </a:r>
            <a:r>
              <a:rPr lang="en-US" sz="3200" dirty="0"/>
              <a:t> №3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8693DDC-705B-930E-2322-DE287EF21C3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2" b="8811"/>
          <a:stretch/>
        </p:blipFill>
        <p:spPr>
          <a:xfrm>
            <a:off x="6361548" y="428206"/>
            <a:ext cx="5561854" cy="2814905"/>
          </a:xfrm>
          <a:prstGeom prst="rect">
            <a:avLst/>
          </a:prstGeom>
        </p:spPr>
      </p:pic>
      <p:pic>
        <p:nvPicPr>
          <p:cNvPr id="4" name="Объект 3">
            <a:extLst>
              <a:ext uri="{FF2B5EF4-FFF2-40B4-BE49-F238E27FC236}">
                <a16:creationId xmlns:a16="http://schemas.microsoft.com/office/drawing/2014/main" id="{D6328FD8-E207-2521-02D3-18F964A9EF9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400" r="11113" b="-4"/>
          <a:stretch/>
        </p:blipFill>
        <p:spPr>
          <a:xfrm>
            <a:off x="6361549" y="3573945"/>
            <a:ext cx="5561816" cy="2814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05607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F5B0BC0-757A-45C1-0A91-BB1FE42577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2404872"/>
            <a:ext cx="3044950" cy="1627792"/>
          </a:xfrm>
        </p:spPr>
        <p:txBody>
          <a:bodyPr vert="horz" lIns="274320" tIns="182880" rIns="274320" bIns="182880" rtlCol="0" anchor="ctr" anchorCtr="1">
            <a:normAutofit/>
          </a:bodyPr>
          <a:lstStyle/>
          <a:p>
            <a:r>
              <a:rPr lang="en-US" sz="2800" dirty="0" err="1"/>
              <a:t>Задание</a:t>
            </a:r>
            <a:r>
              <a:rPr lang="en-US" sz="2800" dirty="0"/>
              <a:t> №3</a:t>
            </a:r>
            <a:endParaRPr lang="en-US" dirty="0"/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0583506F-F76B-69A9-B8AC-B054DFE6318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294376" y="1300521"/>
            <a:ext cx="6257544" cy="3942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834270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1C9A36F2-1435-7EFC-349C-9E1915A60B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91695" y="1402080"/>
            <a:ext cx="5320696" cy="4053840"/>
          </a:xfrm>
        </p:spPr>
        <p:txBody>
          <a:bodyPr anchor="ctr">
            <a:normAutofit/>
          </a:bodyPr>
          <a:lstStyle/>
          <a:p>
            <a:pPr marL="0" indent="0" algn="just">
              <a:buNone/>
            </a:pPr>
            <a:r>
              <a:rPr lang="ru-RU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 процессе выполнения данной лабораторной работы я изучил принципы распределения и настройки адресного пространства на устройствах сети.</a:t>
            </a:r>
          </a:p>
          <a:p>
            <a:endParaRPr lang="ru-RU" dirty="0"/>
          </a:p>
        </p:txBody>
      </p:sp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0D4212F4-69F6-014D-A751-0F17D0048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Вывод</a:t>
            </a:r>
          </a:p>
        </p:txBody>
      </p:sp>
    </p:spTree>
    <p:extLst>
      <p:ext uri="{BB962C8B-B14F-4D97-AF65-F5344CB8AC3E}">
        <p14:creationId xmlns:p14="http://schemas.microsoft.com/office/powerpoint/2010/main" val="928339934"/>
      </p:ext>
    </p:extLst>
  </p:cSld>
  <p:clrMapOvr>
    <a:masterClrMapping/>
  </p:clrMapOvr>
</p:sld>
</file>

<file path=ppt/theme/theme1.xml><?xml version="1.0" encoding="utf-8"?>
<a:theme xmlns:a="http://schemas.openxmlformats.org/drawingml/2006/main" name="Ретро">
  <a:themeElements>
    <a:clrScheme name="Ретро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Ретро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Ретро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21</TotalTime>
  <Words>454</Words>
  <Application>Microsoft Office PowerPoint</Application>
  <PresentationFormat>Широкоэкранный</PresentationFormat>
  <Paragraphs>96</Paragraphs>
  <Slides>20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20</vt:i4>
      </vt:variant>
    </vt:vector>
  </HeadingPairs>
  <TitlesOfParts>
    <vt:vector size="24" baseType="lpstr">
      <vt:lpstr>Calibri</vt:lpstr>
      <vt:lpstr>Calibri Light</vt:lpstr>
      <vt:lpstr>Times New Roman</vt:lpstr>
      <vt:lpstr>Ретро</vt:lpstr>
      <vt:lpstr>Лабораторная работа №6</vt:lpstr>
      <vt:lpstr>Цель</vt:lpstr>
      <vt:lpstr>Задания</vt:lpstr>
      <vt:lpstr>Задание №1</vt:lpstr>
      <vt:lpstr>Задание №1</vt:lpstr>
      <vt:lpstr>Задание №1</vt:lpstr>
      <vt:lpstr>Задание №1</vt:lpstr>
      <vt:lpstr>Задание №1</vt:lpstr>
      <vt:lpstr>Задание №2</vt:lpstr>
      <vt:lpstr>Задание №2</vt:lpstr>
      <vt:lpstr>Задание №2</vt:lpstr>
      <vt:lpstr>Задание №2</vt:lpstr>
      <vt:lpstr>Задание №2</vt:lpstr>
      <vt:lpstr>Задание №2</vt:lpstr>
      <vt:lpstr>Задание №3</vt:lpstr>
      <vt:lpstr>Задание №3</vt:lpstr>
      <vt:lpstr>Задание №3</vt:lpstr>
      <vt:lpstr>Задание №3</vt:lpstr>
      <vt:lpstr>Задание №3</vt:lpstr>
      <vt:lpstr>Вывод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Лабораторная работа №6</dc:title>
  <dc:creator>Беличева Дарья Михайловна</dc:creator>
  <cp:lastModifiedBy>Никита Сахно</cp:lastModifiedBy>
  <cp:revision>18</cp:revision>
  <dcterms:created xsi:type="dcterms:W3CDTF">2023-10-14T19:58:32Z</dcterms:created>
  <dcterms:modified xsi:type="dcterms:W3CDTF">2026-02-02T08:00:29Z</dcterms:modified>
</cp:coreProperties>
</file>