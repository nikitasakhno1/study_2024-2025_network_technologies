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91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617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252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86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4952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814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282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4190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69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71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3070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FBBBA55-F83A-41C2-B204-1B75327CE053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C2D0AB4-5882-438D-9AC6-FCB2B1AF6F0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4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994FB7-0D81-8028-4D4F-265899696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Лабораторная работа №6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F30943-BDE7-0773-3069-C6EF15BA5C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73068" y="4653155"/>
            <a:ext cx="6801612" cy="1239894"/>
          </a:xfrm>
        </p:spPr>
        <p:txBody>
          <a:bodyPr/>
          <a:lstStyle/>
          <a:p>
            <a:pPr algn="r"/>
            <a:r>
              <a:rPr lang="ru-RU" dirty="0"/>
              <a:t>Студент: Сахно</a:t>
            </a:r>
          </a:p>
          <a:p>
            <a:pPr algn="r"/>
            <a:r>
              <a:rPr lang="ru-RU" dirty="0"/>
              <a:t>Группа: нфибд-02-23</a:t>
            </a:r>
          </a:p>
        </p:txBody>
      </p:sp>
    </p:spTree>
    <p:extLst>
      <p:ext uri="{BB962C8B-B14F-4D97-AF65-F5344CB8AC3E}">
        <p14:creationId xmlns:p14="http://schemas.microsoft.com/office/powerpoint/2010/main" val="3236807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48D3AD-E653-E8F9-3AF6-3D2273D8F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7B806B-E27B-8C11-8391-857A41C6B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3269640"/>
            <a:ext cx="7729728" cy="3101983"/>
          </a:xfrm>
        </p:spPr>
        <p:txBody>
          <a:bodyPr/>
          <a:lstStyle/>
          <a:p>
            <a:pPr marL="0" indent="0" algn="just">
              <a:buNone/>
            </a:pPr>
            <a:r>
              <a:rPr lang="ru-RU" sz="2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Изучить принципы распределения и настройки адресного пространства на устройствах сети.</a:t>
            </a:r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806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015AFF-8544-7267-7FA0-291CE43E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135205-CF8E-3D55-AEA3-19151361F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Разбиение сети на подсети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Настройка двойного стека адресации IPv4 и IPv6 в локальной сети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Задание для самостоятельного выполнения</a:t>
            </a:r>
          </a:p>
        </p:txBody>
      </p:sp>
    </p:spTree>
    <p:extLst>
      <p:ext uri="{BB962C8B-B14F-4D97-AF65-F5344CB8AC3E}">
        <p14:creationId xmlns:p14="http://schemas.microsoft.com/office/powerpoint/2010/main" val="1928520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37BECA-E840-6617-E8A6-0F258CBDC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Задание №1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73981DB8-7FA9-08EA-7B13-2D11233FA9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4609472"/>
              </p:ext>
            </p:extLst>
          </p:nvPr>
        </p:nvGraphicFramePr>
        <p:xfrm>
          <a:off x="1385044" y="2657880"/>
          <a:ext cx="9421911" cy="363591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94321">
                  <a:extLst>
                    <a:ext uri="{9D8B030D-6E8A-4147-A177-3AD203B41FA5}">
                      <a16:colId xmlns:a16="http://schemas.microsoft.com/office/drawing/2014/main" val="2074911082"/>
                    </a:ext>
                  </a:extLst>
                </a:gridCol>
                <a:gridCol w="5527590">
                  <a:extLst>
                    <a:ext uri="{9D8B030D-6E8A-4147-A177-3AD203B41FA5}">
                      <a16:colId xmlns:a16="http://schemas.microsoft.com/office/drawing/2014/main" val="2958412131"/>
                    </a:ext>
                  </a:extLst>
                </a:gridCol>
              </a:tblGrid>
              <a:tr h="333973"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Характеристика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641" marR="59641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Значение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641" marR="59641" marT="0" marB="0"/>
                </a:tc>
                <a:extLst>
                  <a:ext uri="{0D108BD9-81ED-4DB2-BD59-A6C34878D82A}">
                    <a16:rowId xmlns:a16="http://schemas.microsoft.com/office/drawing/2014/main" val="146537336"/>
                  </a:ext>
                </a:extLst>
              </a:tr>
              <a:tr h="3301942"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Адрес сети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Префикс маски 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Маска 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Broadcast-адрес 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Адрес сети в двоичной форме 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Маска в двоичной форме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Число возможных подсетей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Диапазон адресов узлов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641" marR="59641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 dirty="0">
                          <a:effectLst/>
                        </a:rPr>
                        <a:t>172.16.20.0/24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 dirty="0">
                          <a:effectLst/>
                        </a:rPr>
                        <a:t>/</a:t>
                      </a:r>
                      <a:r>
                        <a:rPr lang="ru-RU" sz="1200" kern="100" dirty="0">
                          <a:effectLst/>
                        </a:rPr>
                        <a:t>24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 dirty="0">
                          <a:effectLst/>
                        </a:rPr>
                        <a:t>255.255.255.0</a:t>
                      </a:r>
                      <a:endParaRPr lang="ru-RU" sz="12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 dirty="0">
                          <a:effectLst/>
                        </a:rPr>
                        <a:t>172.16.20.</a:t>
                      </a:r>
                      <a:r>
                        <a:rPr lang="en-US" sz="1200" kern="100" dirty="0">
                          <a:effectLst/>
                        </a:rPr>
                        <a:t>255</a:t>
                      </a:r>
                      <a:r>
                        <a:rPr lang="ru-RU" sz="1200" kern="100" dirty="0">
                          <a:effectLst/>
                        </a:rPr>
                        <a:t>/24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 dirty="0">
                          <a:effectLst/>
                        </a:rPr>
                        <a:t>10101100.00010000.00010100.00000000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 dirty="0">
                          <a:effectLst/>
                        </a:rPr>
                        <a:t>11111111.11111111.11111111.00000000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 dirty="0">
                          <a:effectLst/>
                        </a:rPr>
                        <a:t>2</a:t>
                      </a:r>
                      <a:r>
                        <a:rPr lang="en-US" sz="1200" kern="100" dirty="0">
                          <a:effectLst/>
                        </a:rPr>
                        <a:t>^</a:t>
                      </a:r>
                      <a:r>
                        <a:rPr lang="ru-RU" sz="1200" kern="100" dirty="0">
                          <a:effectLst/>
                        </a:rPr>
                        <a:t>8</a:t>
                      </a:r>
                      <a:r>
                        <a:rPr lang="en-US" sz="1200" kern="100" dirty="0">
                          <a:effectLst/>
                        </a:rPr>
                        <a:t> = </a:t>
                      </a:r>
                      <a:r>
                        <a:rPr lang="ru-RU" sz="1200" kern="100" dirty="0">
                          <a:effectLst/>
                        </a:rPr>
                        <a:t>256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 dirty="0">
                          <a:effectLst/>
                        </a:rPr>
                        <a:t>172.16.20.1 - 172.16.20.</a:t>
                      </a:r>
                      <a:r>
                        <a:rPr lang="en-US" sz="1200" kern="100" dirty="0">
                          <a:effectLst/>
                        </a:rPr>
                        <a:t>25</a:t>
                      </a:r>
                      <a:r>
                        <a:rPr lang="ru-RU" sz="1200" kern="100" dirty="0">
                          <a:effectLst/>
                        </a:rPr>
                        <a:t>4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 dirty="0">
                          <a:effectLst/>
                        </a:rPr>
                        <a:t> </a:t>
                      </a:r>
                      <a:endParaRPr lang="ru-RU" sz="12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 dirty="0">
                          <a:effectLst/>
                        </a:rPr>
                        <a:t> 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641" marR="59641" marT="0" marB="0"/>
                </a:tc>
                <a:extLst>
                  <a:ext uri="{0D108BD9-81ED-4DB2-BD59-A6C34878D82A}">
                    <a16:rowId xmlns:a16="http://schemas.microsoft.com/office/drawing/2014/main" val="3164008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723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8AF86C-F680-9FF1-098E-834E54A0F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67418"/>
            <a:ext cx="7729728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dirty="0"/>
              <a:t>Задание №1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4CB707-33C7-C06A-CCC6-320FEB22B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6062" y="2291262"/>
            <a:ext cx="8779512" cy="2879256"/>
          </a:xfrm>
        </p:spPr>
        <p:txBody>
          <a:bodyPr>
            <a:normAutofit lnSpcReduction="10000"/>
          </a:bodyPr>
          <a:lstStyle/>
          <a:p>
            <a:pPr marL="678815" indent="635">
              <a:lnSpc>
                <a:spcPct val="90000"/>
              </a:lnSpc>
            </a:pPr>
            <a:r>
              <a:rPr lang="ru-RU" sz="1700" kern="10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первой подсети требуется 126 + 2 = 128 адресов (1 для адреса сети и 1 для широковещательного адреса). Для такого количества адресов маска подсети будет: 255.255.255.128 (префикс маски /25). Диапазон адресов будет: 172.16.20.1–172.16.20.126. Широковещательный адрес: 172.16.20.127.</a:t>
            </a:r>
          </a:p>
          <a:p>
            <a:pPr marL="678815" indent="635">
              <a:lnSpc>
                <a:spcPct val="90000"/>
              </a:lnSpc>
            </a:pPr>
            <a:r>
              <a:rPr lang="ru-RU" sz="1700" kern="10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следующих двух подсетей нам нужно 62 + 2 = 64 адресов. Для такого количества адресов маска подсети будет: 255.255.255.192 (префикс маски /26). </a:t>
            </a:r>
          </a:p>
          <a:p>
            <a:pPr marL="678815" indent="635">
              <a:lnSpc>
                <a:spcPct val="90000"/>
              </a:lnSpc>
            </a:pPr>
            <a:r>
              <a:rPr lang="ru-RU" sz="1700" kern="10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первой из этих подсетей диапазон адресов будет: 172.16.20.129–172.16.20.190. Широковещательный адрес: 172.16.20.191. </a:t>
            </a:r>
          </a:p>
          <a:p>
            <a:pPr marL="678815" indent="635">
              <a:lnSpc>
                <a:spcPct val="90000"/>
              </a:lnSpc>
            </a:pPr>
            <a:r>
              <a:rPr lang="ru-RU" sz="1700" kern="10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второй подсети диапазон будет: 172.16.20.193–172.16.20.254. Широковещательный адрес будет: 172.16.20.255.</a:t>
            </a:r>
          </a:p>
        </p:txBody>
      </p:sp>
    </p:spTree>
    <p:extLst>
      <p:ext uri="{BB962C8B-B14F-4D97-AF65-F5344CB8AC3E}">
        <p14:creationId xmlns:p14="http://schemas.microsoft.com/office/powerpoint/2010/main" val="1111744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8535E-2431-BF85-E4A6-C59C43DF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Задание №1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4EA97B66-1B67-9165-3784-12728FF4AB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6150953"/>
              </p:ext>
            </p:extLst>
          </p:nvPr>
        </p:nvGraphicFramePr>
        <p:xfrm>
          <a:off x="965201" y="2703633"/>
          <a:ext cx="10261600" cy="29715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160466">
                  <a:extLst>
                    <a:ext uri="{9D8B030D-6E8A-4147-A177-3AD203B41FA5}">
                      <a16:colId xmlns:a16="http://schemas.microsoft.com/office/drawing/2014/main" val="2722702210"/>
                    </a:ext>
                  </a:extLst>
                </a:gridCol>
                <a:gridCol w="6101134">
                  <a:extLst>
                    <a:ext uri="{9D8B030D-6E8A-4147-A177-3AD203B41FA5}">
                      <a16:colId xmlns:a16="http://schemas.microsoft.com/office/drawing/2014/main" val="3466575343"/>
                    </a:ext>
                  </a:extLst>
                </a:gridCol>
              </a:tblGrid>
              <a:tr h="372159"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Характеристика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9" marR="7715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Значение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9" marR="77159" marT="0" marB="0"/>
                </a:tc>
                <a:extLst>
                  <a:ext uri="{0D108BD9-81ED-4DB2-BD59-A6C34878D82A}">
                    <a16:rowId xmlns:a16="http://schemas.microsoft.com/office/drawing/2014/main" val="1888567997"/>
                  </a:ext>
                </a:extLst>
              </a:tr>
              <a:tr h="2599400"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Адрес сети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Длина префикса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Префикс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Маска 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600" kern="100">
                          <a:effectLst/>
                        </a:rPr>
                        <a:t>Диапазон адресов узлов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9" marR="7715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2001:db8:c0de::/48</a:t>
                      </a:r>
                      <a:endParaRPr lang="ru-RU" sz="16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48</a:t>
                      </a:r>
                      <a:endParaRPr lang="ru-RU" sz="16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2001:db8:c0de</a:t>
                      </a:r>
                      <a:endParaRPr lang="ru-RU" sz="16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ffff:ffff:ffff:0000:0000:0000:0000:0000</a:t>
                      </a:r>
                      <a:endParaRPr lang="ru-RU" sz="16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0021:0db8:0cde:0000:0000:0000:0000:0000-</a:t>
                      </a:r>
                      <a:endParaRPr lang="ru-RU" sz="16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0021:0db8:0cde:ffff:ffff:ffff:ffff:ffff</a:t>
                      </a:r>
                      <a:endParaRPr lang="ru-RU" sz="16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9" marR="77159" marT="0" marB="0"/>
                </a:tc>
                <a:extLst>
                  <a:ext uri="{0D108BD9-81ED-4DB2-BD59-A6C34878D82A}">
                    <a16:rowId xmlns:a16="http://schemas.microsoft.com/office/drawing/2014/main" val="23685170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7119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FEF604-B7AC-3050-7B7D-98387F2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67418"/>
            <a:ext cx="7729728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dirty="0"/>
              <a:t>Задание №1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92B549-3BDC-74DA-A051-58DF982AC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6062" y="2291262"/>
            <a:ext cx="8779512" cy="2879256"/>
          </a:xfrm>
        </p:spPr>
        <p:txBody>
          <a:bodyPr>
            <a:normAutofit/>
          </a:bodyPr>
          <a:lstStyle/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 использованием идентификатора подсети:</a:t>
            </a:r>
          </a:p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Идентификатора подсети – это то, что следует за префиксом глобальной маршрутизации (48 бит). Рассчитаем его и получим, что для сети 2001:db8:c0de::/48 можно выделить следующие подсети:</a:t>
            </a:r>
          </a:p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2001:</a:t>
            </a:r>
            <a:r>
              <a:rPr lang="en-US" kern="100" dirty="0" err="1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db</a:t>
            </a:r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8:</a:t>
            </a:r>
            <a:r>
              <a:rPr lang="en-US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0</a:t>
            </a:r>
            <a:r>
              <a:rPr lang="en-US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:0002::/64</a:t>
            </a:r>
          </a:p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2001:</a:t>
            </a:r>
            <a:r>
              <a:rPr lang="en-US" kern="100" dirty="0" err="1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db</a:t>
            </a:r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8:</a:t>
            </a:r>
            <a:r>
              <a:rPr lang="en-US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0</a:t>
            </a:r>
            <a:r>
              <a:rPr lang="en-US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:0003::/64</a:t>
            </a:r>
          </a:p>
          <a:p>
            <a:endParaRPr lang="ru-RU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278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A8C970-07E5-5256-49FB-35E013040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67418"/>
            <a:ext cx="7729728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dirty="0"/>
              <a:t>Задание №1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766B02-225E-618F-5E80-0E31CE7E6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6062" y="2291262"/>
            <a:ext cx="8779512" cy="2879256"/>
          </a:xfrm>
        </p:spPr>
        <p:txBody>
          <a:bodyPr>
            <a:normAutofit/>
          </a:bodyPr>
          <a:lstStyle/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 использованием идентификатора интерфейса можно выделить, например, такие подсети:</a:t>
            </a:r>
          </a:p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2001: 0db8: c0de:0000:1000/68</a:t>
            </a:r>
          </a:p>
          <a:p>
            <a:pPr marL="678815" indent="450215"/>
            <a:r>
              <a:rPr lang="ru-RU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2001: 0db8: c0de:0000:2000/68</a:t>
            </a:r>
          </a:p>
          <a:p>
            <a:endParaRPr lang="ru-RU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2476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9F4F7080-84FC-BC98-B726-8BA53A7835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666944"/>
            <a:ext cx="6257544" cy="5209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60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6C18B9E9-902D-95B0-7C52-76D4287A56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51682" y="640080"/>
            <a:ext cx="5142931" cy="526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645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E1C2A104-6E36-E989-7F17-155F856DD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1738548"/>
            <a:ext cx="6257544" cy="306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23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3A8B149-D7C4-D219-1BDC-46B824C0C3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1331808"/>
            <a:ext cx="6257544" cy="3879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358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2344093-0262-8518-6F9E-77B111016D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940405"/>
            <a:ext cx="6257544" cy="466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480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rgbClr val="404040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 descr="Изображение выглядит как текст, снимок экрана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25731068-8DD6-055C-60B8-2EA9213521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0128" y="2482596"/>
            <a:ext cx="8683417" cy="2930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7338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445FBC27-97A6-E58E-EF39-A56D8A868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55788" y="640080"/>
            <a:ext cx="5534719" cy="526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969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386744"/>
            <a:ext cx="5925310" cy="1645920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800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57FE2FA2-73F9-A31A-57F9-0D9903C237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82871" y="3495625"/>
            <a:ext cx="3286584" cy="72400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81F3A0-17B7-FC0E-7627-A39680DD8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104" y="1820006"/>
            <a:ext cx="3368363" cy="742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27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867AB1-596F-AA84-8682-3CCD62781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№2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CCA74997-1264-BE66-5D3A-239E4AE988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41457" y="935989"/>
            <a:ext cx="6698114" cy="45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26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DA75DA-4F11-1ECB-17CA-BBDA93C20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Задание №3</a:t>
            </a: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0ECB113E-E05E-B3CD-4816-18C834F315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7225916"/>
              </p:ext>
            </p:extLst>
          </p:nvPr>
        </p:nvGraphicFramePr>
        <p:xfrm>
          <a:off x="965200" y="3348576"/>
          <a:ext cx="10261603" cy="16874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79924">
                  <a:extLst>
                    <a:ext uri="{9D8B030D-6E8A-4147-A177-3AD203B41FA5}">
                      <a16:colId xmlns:a16="http://schemas.microsoft.com/office/drawing/2014/main" val="384371863"/>
                    </a:ext>
                  </a:extLst>
                </a:gridCol>
                <a:gridCol w="1866277">
                  <a:extLst>
                    <a:ext uri="{9D8B030D-6E8A-4147-A177-3AD203B41FA5}">
                      <a16:colId xmlns:a16="http://schemas.microsoft.com/office/drawing/2014/main" val="2636869789"/>
                    </a:ext>
                  </a:extLst>
                </a:gridCol>
                <a:gridCol w="1949266">
                  <a:extLst>
                    <a:ext uri="{9D8B030D-6E8A-4147-A177-3AD203B41FA5}">
                      <a16:colId xmlns:a16="http://schemas.microsoft.com/office/drawing/2014/main" val="3758075893"/>
                    </a:ext>
                  </a:extLst>
                </a:gridCol>
                <a:gridCol w="2329173">
                  <a:extLst>
                    <a:ext uri="{9D8B030D-6E8A-4147-A177-3AD203B41FA5}">
                      <a16:colId xmlns:a16="http://schemas.microsoft.com/office/drawing/2014/main" val="1543505715"/>
                    </a:ext>
                  </a:extLst>
                </a:gridCol>
                <a:gridCol w="2236963">
                  <a:extLst>
                    <a:ext uri="{9D8B030D-6E8A-4147-A177-3AD203B41FA5}">
                      <a16:colId xmlns:a16="http://schemas.microsoft.com/office/drawing/2014/main" val="3723029228"/>
                    </a:ext>
                  </a:extLst>
                </a:gridCol>
              </a:tblGrid>
              <a:tr h="281722"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Устройство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Интерфейс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IPv4-</a:t>
                      </a:r>
                      <a:r>
                        <a:rPr lang="ru-RU" sz="1200" kern="100">
                          <a:effectLst/>
                        </a:rPr>
                        <a:t>адрес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IPv6-</a:t>
                      </a:r>
                      <a:r>
                        <a:rPr lang="ru-RU" sz="1200" kern="100">
                          <a:effectLst/>
                        </a:rPr>
                        <a:t>адрес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Шлюз по умолчанию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extLst>
                  <a:ext uri="{0D108BD9-81ED-4DB2-BD59-A6C34878D82A}">
                    <a16:rowId xmlns:a16="http://schemas.microsoft.com/office/drawing/2014/main" val="3809689087"/>
                  </a:ext>
                </a:extLst>
              </a:tr>
              <a:tr h="1405725"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PC1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PC2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gw-01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gw-01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NIC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NIC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eth 0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eth 1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10.10.1.</a:t>
                      </a:r>
                      <a:r>
                        <a:rPr lang="en-US" sz="1200" kern="100">
                          <a:effectLst/>
                        </a:rPr>
                        <a:t>99</a:t>
                      </a:r>
                      <a:r>
                        <a:rPr lang="ru-RU" sz="1200" kern="100">
                          <a:effectLst/>
                        </a:rPr>
                        <a:t>/27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ru-RU" sz="1200" kern="100">
                          <a:effectLst/>
                        </a:rPr>
                        <a:t>10.10.1.</a:t>
                      </a:r>
                      <a:r>
                        <a:rPr lang="en-US" sz="1200" kern="100">
                          <a:effectLst/>
                        </a:rPr>
                        <a:t>18</a:t>
                      </a:r>
                      <a:r>
                        <a:rPr lang="ru-RU" sz="1200" kern="100">
                          <a:effectLst/>
                        </a:rPr>
                        <a:t>/28</a:t>
                      </a: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10.10.1.97/27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10.10.1.17/28	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2001:db8:1:1::a/64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2001:db8:1:4::a/64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2001:db8:1:1::1/64</a:t>
                      </a:r>
                      <a:endParaRPr lang="ru-RU" sz="1200" kern="10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>
                          <a:effectLst/>
                        </a:rPr>
                        <a:t>2001:db8:1:4::1/64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tc>
                  <a:txBody>
                    <a:bodyPr/>
                    <a:lstStyle/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 dirty="0">
                          <a:effectLst/>
                        </a:rPr>
                        <a:t>10.10.1.97/gw-01	</a:t>
                      </a:r>
                      <a:endParaRPr lang="ru-RU" sz="1200" kern="100" dirty="0">
                        <a:effectLst/>
                      </a:endParaRPr>
                    </a:p>
                    <a:p>
                      <a:pPr indent="450215" algn="just">
                        <a:lnSpc>
                          <a:spcPct val="150000"/>
                        </a:lnSpc>
                      </a:pPr>
                      <a:r>
                        <a:rPr lang="en-US" sz="1200" kern="100" dirty="0">
                          <a:effectLst/>
                        </a:rPr>
                        <a:t>10.10.1.17/gw-01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409" marR="58409" marT="0" marB="0"/>
                </a:tc>
                <a:extLst>
                  <a:ext uri="{0D108BD9-81ED-4DB2-BD59-A6C34878D82A}">
                    <a16:rowId xmlns:a16="http://schemas.microsoft.com/office/drawing/2014/main" val="1487185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6765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B14D21-EF6A-60F3-52CA-58F13D58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Задание №3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A983755A-C9DE-CFB9-077C-26472AB53D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5267" y="1362408"/>
            <a:ext cx="10921466" cy="185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833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B14D21-EF6A-60F3-52CA-58F13D58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/>
              <a:t>Задание №3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B65DAB31-ACAE-415F-49E1-FC02774509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1259523"/>
            <a:ext cx="6257544" cy="4024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167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B14D21-EF6A-60F3-52CA-58F13D58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dirty="0" err="1"/>
              <a:t>Задание</a:t>
            </a:r>
            <a:r>
              <a:rPr lang="en-US" dirty="0"/>
              <a:t> №3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940E3626-3C99-04B9-897A-87B644EDE4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1017002"/>
            <a:ext cx="6257544" cy="450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464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81A6D1-F59F-365B-6E07-ACEB7638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386744"/>
            <a:ext cx="4486656" cy="1645920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 dirty="0" err="1"/>
              <a:t>Задание</a:t>
            </a:r>
            <a:r>
              <a:rPr lang="en-US" sz="3200" dirty="0"/>
              <a:t> №3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8693DDC-705B-930E-2322-DE287EF21C3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" b="8811"/>
          <a:stretch/>
        </p:blipFill>
        <p:spPr>
          <a:xfrm>
            <a:off x="6361548" y="428206"/>
            <a:ext cx="5561854" cy="2814905"/>
          </a:xfrm>
          <a:prstGeom prst="rect">
            <a:avLst/>
          </a:prstGeom>
        </p:spPr>
      </p:pic>
      <p:pic>
        <p:nvPicPr>
          <p:cNvPr id="4" name="Объект 3">
            <a:extLst>
              <a:ext uri="{FF2B5EF4-FFF2-40B4-BE49-F238E27FC236}">
                <a16:creationId xmlns:a16="http://schemas.microsoft.com/office/drawing/2014/main" id="{D6328FD8-E207-2521-02D3-18F964A9EF9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0" r="11113" b="-4"/>
          <a:stretch/>
        </p:blipFill>
        <p:spPr>
          <a:xfrm>
            <a:off x="6361549" y="3573945"/>
            <a:ext cx="5561816" cy="2814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60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5B0BC0-757A-45C1-0A91-BB1FE4257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800" dirty="0" err="1"/>
              <a:t>Задание</a:t>
            </a:r>
            <a:r>
              <a:rPr lang="en-US" sz="2800" dirty="0"/>
              <a:t> №3</a:t>
            </a:r>
            <a:endParaRPr lang="en-US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583506F-F76B-69A9-B8AC-B054DFE631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94376" y="1300521"/>
            <a:ext cx="6257544" cy="394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3427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C9A36F2-1435-7EFC-349C-9E1915A60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1695" y="1402080"/>
            <a:ext cx="5320696" cy="4053840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ru-RU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процессе выполнения данной лабораторной работы я изучил принципы распределения и настройки адресного пространства на устройствах сети.</a:t>
            </a:r>
          </a:p>
          <a:p>
            <a:endParaRPr lang="ru-RU" dirty="0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D4212F4-69F6-014D-A751-0F17D004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</a:t>
            </a:r>
          </a:p>
        </p:txBody>
      </p:sp>
    </p:spTree>
    <p:extLst>
      <p:ext uri="{BB962C8B-B14F-4D97-AF65-F5344CB8AC3E}">
        <p14:creationId xmlns:p14="http://schemas.microsoft.com/office/powerpoint/2010/main" val="928339934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</TotalTime>
  <Words>466</Words>
  <Application>Microsoft Office PowerPoint</Application>
  <PresentationFormat>Широкоэкранный</PresentationFormat>
  <Paragraphs>100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8" baseType="lpstr">
      <vt:lpstr>Calibri</vt:lpstr>
      <vt:lpstr>Calibri Light</vt:lpstr>
      <vt:lpstr>Times New Roman</vt:lpstr>
      <vt:lpstr>Ретро</vt:lpstr>
      <vt:lpstr>Лабораторная работа №6</vt:lpstr>
      <vt:lpstr>Цель</vt:lpstr>
      <vt:lpstr>Задания</vt:lpstr>
      <vt:lpstr>Задание №1</vt:lpstr>
      <vt:lpstr>Задание №1</vt:lpstr>
      <vt:lpstr>Задание №1</vt:lpstr>
      <vt:lpstr>Задание №1</vt:lpstr>
      <vt:lpstr>Задание №1</vt:lpstr>
      <vt:lpstr>Задание №2</vt:lpstr>
      <vt:lpstr>Задание №2</vt:lpstr>
      <vt:lpstr>Задание №2</vt:lpstr>
      <vt:lpstr>Задание №2</vt:lpstr>
      <vt:lpstr>Задание №2</vt:lpstr>
      <vt:lpstr>Задание №2</vt:lpstr>
      <vt:lpstr>Задание №2</vt:lpstr>
      <vt:lpstr>Задание №2</vt:lpstr>
      <vt:lpstr>Задание №2</vt:lpstr>
      <vt:lpstr>Задание №3</vt:lpstr>
      <vt:lpstr>Задание №3</vt:lpstr>
      <vt:lpstr>Задание №3</vt:lpstr>
      <vt:lpstr>Задание №3</vt:lpstr>
      <vt:lpstr>Задание №3</vt:lpstr>
      <vt:lpstr>Задание №3</vt:lpstr>
      <vt:lpstr>Вывод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№6</dc:title>
  <dc:creator>Беличева Дарья Михайловна</dc:creator>
  <cp:lastModifiedBy>Никита Сахно</cp:lastModifiedBy>
  <cp:revision>17</cp:revision>
  <dcterms:created xsi:type="dcterms:W3CDTF">2023-10-14T19:58:32Z</dcterms:created>
  <dcterms:modified xsi:type="dcterms:W3CDTF">2025-12-15T10:14:28Z</dcterms:modified>
</cp:coreProperties>
</file>