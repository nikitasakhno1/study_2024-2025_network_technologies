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CB5A-F3C8-409B-8FC8-864D9B6BD7D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C29E-55F9-4AAE-A562-30C74B5F85A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331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CB5A-F3C8-409B-8FC8-864D9B6BD7D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C29E-55F9-4AAE-A562-30C74B5F85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007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CB5A-F3C8-409B-8FC8-864D9B6BD7D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C29E-55F9-4AAE-A562-30C74B5F85A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692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CB5A-F3C8-409B-8FC8-864D9B6BD7D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C29E-55F9-4AAE-A562-30C74B5F85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48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CB5A-F3C8-409B-8FC8-864D9B6BD7D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C29E-55F9-4AAE-A562-30C74B5F85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70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CB5A-F3C8-409B-8FC8-864D9B6BD7D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C29E-55F9-4AAE-A562-30C74B5F85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964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CB5A-F3C8-409B-8FC8-864D9B6BD7D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C29E-55F9-4AAE-A562-30C74B5F85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886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B06CB5A-F3C8-409B-8FC8-864D9B6BD7D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BCC29E-55F9-4AAE-A562-30C74B5F85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66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CB5A-F3C8-409B-8FC8-864D9B6BD7D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C29E-55F9-4AAE-A562-30C74B5F85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199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CB5A-F3C8-409B-8FC8-864D9B6BD7D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C29E-55F9-4AAE-A562-30C74B5F85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90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6CB5A-F3C8-409B-8FC8-864D9B6BD7D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C29E-55F9-4AAE-A562-30C74B5F85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557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B06CB5A-F3C8-409B-8FC8-864D9B6BD7D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DBCC29E-55F9-4AAE-A562-30C74B5F85A4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044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D21B8A-D45C-841C-166B-317BCBC48F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№3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FD7B1E-75B3-7070-2221-5D7E742FC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0188" y="4295983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Никита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2419444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1BCDAD-1336-0AA8-E6C9-868ACA03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EB349C-4AF6-04BA-26FA-19CA37F60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033969"/>
            <a:ext cx="7729728" cy="310198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kern="100" dirty="0">
                <a:effectLst/>
                <a:latin typeface="Liberation Serif"/>
                <a:ea typeface="Droid Sans Fallback"/>
                <a:cs typeface="FreeSans"/>
              </a:rPr>
              <a:t>Изучить посредством </a:t>
            </a:r>
            <a:r>
              <a:rPr lang="ru-RU" sz="2800" kern="100" dirty="0" err="1">
                <a:effectLst/>
                <a:latin typeface="Liberation Serif"/>
                <a:ea typeface="Droid Sans Fallback"/>
                <a:cs typeface="FreeSans"/>
              </a:rPr>
              <a:t>Wireshark</a:t>
            </a:r>
            <a:r>
              <a:rPr lang="ru-RU" sz="2800" kern="100" dirty="0">
                <a:effectLst/>
                <a:latin typeface="Liberation Serif"/>
                <a:ea typeface="Droid Sans Fallback"/>
                <a:cs typeface="FreeSans"/>
              </a:rPr>
              <a:t> кадры Ethernet, проанализировать PDU протоколы транспортного и прикладного уровней стека TCP/IP.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8764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EE9C5-6871-C1E9-0EE2-92BEB46CE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A4A1D-0F37-8E43-3A09-BD04E4371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Изучение возможностей команды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ipconfig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 для ОС типа Windows.</a:t>
            </a:r>
            <a:endParaRPr lang="ru-RU" sz="1800" kern="100" dirty="0">
              <a:effectLst/>
              <a:latin typeface="Liberation Serif"/>
              <a:ea typeface="Droid Sans Fallback"/>
              <a:cs typeface="FreeSans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Определение MAC-адреса устройства и его типа.</a:t>
            </a:r>
            <a:endParaRPr lang="ru-RU" sz="1800" kern="100" dirty="0">
              <a:effectLst/>
              <a:latin typeface="Liberation Serif"/>
              <a:ea typeface="Droid Sans Fallback"/>
              <a:cs typeface="FreeSans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С помощью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Wireshark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 захватить и проанализировать пакеты ARP и ICMP в части кадров канального уровня.</a:t>
            </a:r>
            <a:endParaRPr lang="ru-RU" sz="1800" kern="100" dirty="0">
              <a:effectLst/>
              <a:latin typeface="Liberation Serif"/>
              <a:ea typeface="Droid Sans Fallback"/>
              <a:cs typeface="FreeSans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С помощью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Wireshark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 захватить и проанализировать пакеты HTTP, DNS в части заголовков и информации протоколов TCP, UDP, QUIC.</a:t>
            </a:r>
            <a:endParaRPr lang="ru-RU" sz="1800" kern="100" dirty="0">
              <a:effectLst/>
              <a:latin typeface="Liberation Serif"/>
              <a:ea typeface="Droid Sans Fallback"/>
              <a:cs typeface="FreeSans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5896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6A4E1-A38D-C5EC-3F89-896A66600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1A20941-F6BA-7A9F-9761-FA854FA13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452" y="1306980"/>
            <a:ext cx="5925312" cy="392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9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6A4E1-A38D-C5EC-3F89-896A66600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 dirty="0" err="1"/>
              <a:t>Выполнение</a:t>
            </a:r>
            <a:r>
              <a:rPr lang="en-US" sz="2400" dirty="0"/>
              <a:t> </a:t>
            </a:r>
            <a:r>
              <a:rPr lang="en-US" sz="2400" dirty="0" err="1"/>
              <a:t>лабораторной</a:t>
            </a:r>
            <a:r>
              <a:rPr lang="en-US" sz="2400" dirty="0"/>
              <a:t> </a:t>
            </a:r>
            <a:r>
              <a:rPr lang="en-US" sz="2400" dirty="0" err="1"/>
              <a:t>работы</a:t>
            </a:r>
            <a:endParaRPr lang="en-US" sz="24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8386C49-2FCF-DB3A-4FF9-2B9C81AEBF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9" r="-1" b="-1"/>
          <a:stretch/>
        </p:blipFill>
        <p:spPr>
          <a:xfrm>
            <a:off x="4654296" y="10"/>
            <a:ext cx="753770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44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245A2-AD68-482E-1896-1805AD53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640079"/>
            <a:ext cx="3402531" cy="5272242"/>
          </a:xfrm>
        </p:spPr>
        <p:txBody>
          <a:bodyPr>
            <a:normAutofit/>
          </a:bodyPr>
          <a:lstStyle/>
          <a:p>
            <a:r>
              <a:rPr lang="en-US" err="1"/>
              <a:t>Выполнение</a:t>
            </a:r>
            <a:r>
              <a:rPr lang="en-US"/>
              <a:t> </a:t>
            </a:r>
            <a:r>
              <a:rPr lang="en-US" err="1"/>
              <a:t>лабораторной</a:t>
            </a:r>
            <a:r>
              <a:rPr lang="en-US"/>
              <a:t> </a:t>
            </a:r>
            <a:r>
              <a:rPr lang="en-US" err="1"/>
              <a:t>работы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95D838-61D3-E5BD-DCC3-2D8CD317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8849" y="2050589"/>
            <a:ext cx="6883072" cy="2959155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  <a:latin typeface="Times New Roman" panose="02020603050405020304" pitchFamily="18" charset="0"/>
                <a:ea typeface="Droid Sans Fallback"/>
              </a:rPr>
              <a:t>Переводим первый байт в двоичный код 58 = 01011000. Этот адрес является индивидуальным и глобально администрируемым</a:t>
            </a:r>
            <a:r>
              <a:rPr lang="en-US" dirty="0">
                <a:latin typeface="Times New Roman" panose="02020603050405020304" pitchFamily="18" charset="0"/>
                <a:ea typeface="Droid Sans Fallback"/>
              </a:rPr>
              <a:t>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51DEC8-F478-67B2-74B0-36AF994EF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290" y="4383323"/>
            <a:ext cx="6528816" cy="94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30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245A2-AD68-482E-1896-1805AD53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640079"/>
            <a:ext cx="3402531" cy="5272242"/>
          </a:xfrm>
        </p:spPr>
        <p:txBody>
          <a:bodyPr vert="horz" lIns="182880" tIns="182880" rIns="182880" bIns="182880" rtlCol="0" anchor="ctr" anchorCtr="1">
            <a:normAutofit/>
          </a:bodyPr>
          <a:lstStyle/>
          <a:p>
            <a:r>
              <a:rPr lang="en-US"/>
              <a:t>Выполнение лабораторной работы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13B10-D94B-D874-EFBA-62571FD59A20}"/>
              </a:ext>
            </a:extLst>
          </p:cNvPr>
          <p:cNvSpPr txBox="1"/>
          <p:nvPr/>
        </p:nvSpPr>
        <p:spPr>
          <a:xfrm>
            <a:off x="4668849" y="1233467"/>
            <a:ext cx="6883072" cy="1624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Берем адрес основного шлюза и пингуем его (предварительно включив захват трафика в Wireshark)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9F83CF9-7CF4-EE48-96F6-40C49A3BE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103" y="2644447"/>
            <a:ext cx="6883071" cy="3190694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632700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245A2-AD68-482E-1896-1805AD53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42FF366-5A49-3084-5C07-79C23E8C8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67" y="870941"/>
            <a:ext cx="10921466" cy="283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43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245A2-AD68-482E-1896-1805AD53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00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A928EDC-D052-3BE7-1C75-0B4D0F9500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918" y="418289"/>
            <a:ext cx="5769242" cy="325884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2619A4-0074-03E3-34B8-F3BB497556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4" r="6821"/>
          <a:stretch/>
        </p:blipFill>
        <p:spPr>
          <a:xfrm>
            <a:off x="6178918" y="4449224"/>
            <a:ext cx="5959813" cy="1784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7BA5CE-D3D8-1D27-D3AE-8970A655BECA}"/>
              </a:ext>
            </a:extLst>
          </p:cNvPr>
          <p:cNvSpPr txBox="1"/>
          <p:nvPr/>
        </p:nvSpPr>
        <p:spPr>
          <a:xfrm>
            <a:off x="6178918" y="62756"/>
            <a:ext cx="319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Кадр физического уровня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65F16D-E2D5-A9C2-81A8-2EB651C8CBE9}"/>
              </a:ext>
            </a:extLst>
          </p:cNvPr>
          <p:cNvSpPr txBox="1"/>
          <p:nvPr/>
        </p:nvSpPr>
        <p:spPr>
          <a:xfrm>
            <a:off x="6178918" y="4032664"/>
            <a:ext cx="336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Кадр канального уровня</a:t>
            </a:r>
          </a:p>
        </p:txBody>
      </p:sp>
    </p:spTree>
    <p:extLst>
      <p:ext uri="{BB962C8B-B14F-4D97-AF65-F5344CB8AC3E}">
        <p14:creationId xmlns:p14="http://schemas.microsoft.com/office/powerpoint/2010/main" val="1169490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245A2-AD68-482E-1896-1805AD53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 dirty="0" err="1"/>
              <a:t>Выполнение</a:t>
            </a:r>
            <a:r>
              <a:rPr lang="en-US" sz="2400" dirty="0"/>
              <a:t> </a:t>
            </a:r>
            <a:r>
              <a:rPr lang="en-US" sz="2400" dirty="0" err="1"/>
              <a:t>лабораторной</a:t>
            </a:r>
            <a:r>
              <a:rPr lang="en-US" sz="2400" dirty="0"/>
              <a:t> </a:t>
            </a:r>
            <a:r>
              <a:rPr lang="en-US" sz="2400" dirty="0" err="1"/>
              <a:t>работы</a:t>
            </a:r>
            <a:endParaRPr lang="en-US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95D838-61D3-E5BD-DCC3-2D8CD317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088" y="4352543"/>
            <a:ext cx="2668122" cy="138798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Протокол ARP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9A21DE-BF8B-D43A-D99A-D69DA4C1B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495" y="954786"/>
            <a:ext cx="6104090" cy="446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87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A5DFA-E957-993B-34BE-90FAA9A79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dirty="0" err="1"/>
              <a:t>Выполнение</a:t>
            </a:r>
            <a:r>
              <a:rPr lang="en-US" sz="3200" dirty="0"/>
              <a:t> </a:t>
            </a:r>
            <a:r>
              <a:rPr lang="en-US" sz="3200" dirty="0" err="1"/>
              <a:t>лабораторной</a:t>
            </a:r>
            <a:r>
              <a:rPr lang="en-US" sz="3200" dirty="0"/>
              <a:t> </a:t>
            </a:r>
            <a:r>
              <a:rPr lang="en-US" sz="3200" dirty="0" err="1"/>
              <a:t>работы</a:t>
            </a:r>
            <a:endParaRPr lang="en-US" sz="32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B117C72-4672-D6DF-C703-8D719BF06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982" y="640078"/>
            <a:ext cx="6876036" cy="3301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56AC8B-7555-EC6E-C237-3C3846243B47}"/>
              </a:ext>
            </a:extLst>
          </p:cNvPr>
          <p:cNvSpPr txBox="1"/>
          <p:nvPr/>
        </p:nvSpPr>
        <p:spPr>
          <a:xfrm>
            <a:off x="4790194" y="270746"/>
            <a:ext cx="2611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Пропингуем</a:t>
            </a:r>
            <a:r>
              <a:rPr lang="ru-RU" dirty="0"/>
              <a:t> сайт </a:t>
            </a:r>
            <a:r>
              <a:rPr lang="en-US" dirty="0" err="1"/>
              <a:t>yandex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7962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C7CA6-8DCB-B95D-AEF5-62E7D5315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46A2D32-EE47-0A8E-E6AF-0B38912B98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128" y="640078"/>
            <a:ext cx="7813743" cy="33013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C891AC-C8E5-7B61-10AB-C106D7A1BB2E}"/>
              </a:ext>
            </a:extLst>
          </p:cNvPr>
          <p:cNvSpPr txBox="1"/>
          <p:nvPr/>
        </p:nvSpPr>
        <p:spPr>
          <a:xfrm>
            <a:off x="5237398" y="270746"/>
            <a:ext cx="1717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Протокол </a:t>
            </a:r>
            <a:r>
              <a:rPr lang="en-US" dirty="0"/>
              <a:t>ICMP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4333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C7CA6-8DCB-B95D-AEF5-62E7D5315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B5AEEAFA-985B-12C6-3B5F-64D0C06E82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9096" y="577927"/>
            <a:ext cx="6838122" cy="54875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C873BB-D1DE-D4DE-DDE2-5FC3792392C2}"/>
              </a:ext>
            </a:extLst>
          </p:cNvPr>
          <p:cNvSpPr txBox="1"/>
          <p:nvPr/>
        </p:nvSpPr>
        <p:spPr>
          <a:xfrm>
            <a:off x="6522720" y="1042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Протокол </a:t>
            </a:r>
            <a:r>
              <a:rPr lang="en-US" dirty="0"/>
              <a:t>TCP (</a:t>
            </a:r>
            <a:r>
              <a:rPr lang="ru-RU" dirty="0"/>
              <a:t>случай запроса)</a:t>
            </a:r>
          </a:p>
        </p:txBody>
      </p:sp>
    </p:spTree>
    <p:extLst>
      <p:ext uri="{BB962C8B-B14F-4D97-AF65-F5344CB8AC3E}">
        <p14:creationId xmlns:p14="http://schemas.microsoft.com/office/powerpoint/2010/main" val="395701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C7CA6-8DCB-B95D-AEF5-62E7D5315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651A9B8-5288-0971-E103-4B4BE9896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4459" y="1443559"/>
            <a:ext cx="7122661" cy="39708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C42452-32D7-6010-05FF-37E6D4053F14}"/>
              </a:ext>
            </a:extLst>
          </p:cNvPr>
          <p:cNvSpPr txBox="1"/>
          <p:nvPr/>
        </p:nvSpPr>
        <p:spPr>
          <a:xfrm>
            <a:off x="6675120" y="866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Протокол </a:t>
            </a:r>
            <a:r>
              <a:rPr lang="en-US" dirty="0"/>
              <a:t>UDP (</a:t>
            </a:r>
            <a:r>
              <a:rPr lang="ru-RU" dirty="0"/>
              <a:t>случай запроса)</a:t>
            </a:r>
          </a:p>
        </p:txBody>
      </p:sp>
    </p:spTree>
    <p:extLst>
      <p:ext uri="{BB962C8B-B14F-4D97-AF65-F5344CB8AC3E}">
        <p14:creationId xmlns:p14="http://schemas.microsoft.com/office/powerpoint/2010/main" val="4078329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C7CA6-8DCB-B95D-AEF5-62E7D5315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2AD13B0-C965-A1B0-3004-E67E82861B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8968" y="477520"/>
            <a:ext cx="6009766" cy="6085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5BAFDF-6705-DD56-50F5-5ADA3344E817}"/>
              </a:ext>
            </a:extLst>
          </p:cNvPr>
          <p:cNvSpPr txBox="1"/>
          <p:nvPr/>
        </p:nvSpPr>
        <p:spPr>
          <a:xfrm>
            <a:off x="7894320" y="1081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Liberation Serif"/>
                <a:ea typeface="Droid Sans Fallback"/>
                <a:cs typeface="FreeSans"/>
              </a:rPr>
              <a:t>Запрос </a:t>
            </a:r>
            <a:r>
              <a:rPr lang="en-US" sz="1800" dirty="0" err="1">
                <a:effectLst/>
                <a:latin typeface="Liberation Serif"/>
                <a:ea typeface="Droid Sans Fallback"/>
                <a:cs typeface="FreeSans"/>
              </a:rPr>
              <a:t>quic</a:t>
            </a:r>
            <a:r>
              <a:rPr lang="en-US" sz="1800" dirty="0">
                <a:effectLst/>
                <a:latin typeface="Liberation Serif"/>
                <a:ea typeface="Droid Sans Fallback"/>
                <a:cs typeface="FreeSans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1285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C7CA6-8DCB-B95D-AEF5-62E7D5315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2BE7D04-EDEC-4788-FC12-4ADA34235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67" y="1594488"/>
            <a:ext cx="10921466" cy="13924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105C77-BBFB-9CDF-D77C-7B3438262164}"/>
              </a:ext>
            </a:extLst>
          </p:cNvPr>
          <p:cNvSpPr txBox="1"/>
          <p:nvPr/>
        </p:nvSpPr>
        <p:spPr>
          <a:xfrm>
            <a:off x="5059680" y="11392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Liberation Serif"/>
                <a:ea typeface="Droid Sans Fallback"/>
                <a:cs typeface="FreeSans"/>
              </a:rPr>
              <a:t>Handshake TCP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0786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C7CA6-8DCB-B95D-AEF5-62E7D5315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941" y="1797440"/>
            <a:ext cx="5952765" cy="3263119"/>
          </a:xfrm>
          <a:noFill/>
          <a:ln>
            <a:solidFill>
              <a:schemeClr val="bg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4000" dirty="0" err="1">
                <a:solidFill>
                  <a:schemeClr val="bg1"/>
                </a:solidFill>
              </a:rPr>
              <a:t>Выполнение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лабораторной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работы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7933F53-36F9-8A0B-C01F-6F5541FBE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783" y="820946"/>
            <a:ext cx="4383083" cy="126013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4643180-7DED-5BAA-9235-9B932DD4A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809" y="4776918"/>
            <a:ext cx="4541031" cy="12601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B761B8-86C2-6086-94A4-B28305B00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783" y="2777015"/>
            <a:ext cx="4383083" cy="13039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F0134B-E8FF-4EAB-BA06-F20D33E3D3A5}"/>
              </a:ext>
            </a:extLst>
          </p:cNvPr>
          <p:cNvSpPr txBox="1"/>
          <p:nvPr/>
        </p:nvSpPr>
        <p:spPr>
          <a:xfrm>
            <a:off x="7592809" y="23144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Liberation Serif"/>
                <a:ea typeface="Droid Sans Fallback"/>
                <a:cs typeface="FreeSans"/>
              </a:rPr>
              <a:t>Протокол </a:t>
            </a:r>
            <a:r>
              <a:rPr lang="en-US" sz="1800" dirty="0">
                <a:effectLst/>
                <a:latin typeface="Liberation Serif"/>
                <a:ea typeface="Droid Sans Fallback"/>
                <a:cs typeface="FreeSans"/>
              </a:rPr>
              <a:t>TCP </a:t>
            </a:r>
            <a:r>
              <a:rPr lang="ru-RU" sz="1800" dirty="0">
                <a:effectLst/>
                <a:latin typeface="Liberation Serif"/>
                <a:ea typeface="Droid Sans Fallback"/>
                <a:cs typeface="FreeSans"/>
              </a:rPr>
              <a:t>для второй ступени </a:t>
            </a:r>
            <a:r>
              <a:rPr lang="en-US" sz="1800" dirty="0">
                <a:effectLst/>
                <a:latin typeface="Liberation Serif"/>
                <a:ea typeface="Droid Sans Fallback"/>
                <a:cs typeface="FreeSans"/>
              </a:rPr>
              <a:t>handshake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2180B3-9279-44C2-52F5-2F884CF5DB45}"/>
              </a:ext>
            </a:extLst>
          </p:cNvPr>
          <p:cNvSpPr txBox="1"/>
          <p:nvPr/>
        </p:nvSpPr>
        <p:spPr>
          <a:xfrm>
            <a:off x="7534646" y="4306789"/>
            <a:ext cx="6842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Liberation Serif"/>
                <a:ea typeface="Droid Sans Fallback"/>
                <a:cs typeface="FreeSans"/>
              </a:rPr>
              <a:t>Протокол </a:t>
            </a:r>
            <a:r>
              <a:rPr lang="en-US" sz="1800" dirty="0">
                <a:effectLst/>
                <a:latin typeface="Liberation Serif"/>
                <a:ea typeface="Droid Sans Fallback"/>
                <a:cs typeface="FreeSans"/>
              </a:rPr>
              <a:t>TCP </a:t>
            </a:r>
            <a:r>
              <a:rPr lang="ru-RU" sz="1800" dirty="0">
                <a:effectLst/>
                <a:latin typeface="Liberation Serif"/>
                <a:ea typeface="Droid Sans Fallback"/>
                <a:cs typeface="FreeSans"/>
              </a:rPr>
              <a:t>для третьей ступени </a:t>
            </a:r>
            <a:r>
              <a:rPr lang="en-US" sz="1800" dirty="0">
                <a:effectLst/>
                <a:latin typeface="Liberation Serif"/>
                <a:ea typeface="Droid Sans Fallback"/>
                <a:cs typeface="FreeSans"/>
              </a:rPr>
              <a:t>handshake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7B638F-4606-E31F-DA6B-8EF66649EB53}"/>
              </a:ext>
            </a:extLst>
          </p:cNvPr>
          <p:cNvSpPr txBox="1"/>
          <p:nvPr/>
        </p:nvSpPr>
        <p:spPr>
          <a:xfrm>
            <a:off x="7534646" y="254289"/>
            <a:ext cx="718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>
                <a:effectLst/>
                <a:latin typeface="Liberation Serif"/>
                <a:ea typeface="Droid Sans Fallback"/>
                <a:cs typeface="FreeSans"/>
              </a:rPr>
              <a:t>Протокол </a:t>
            </a:r>
            <a:r>
              <a:rPr lang="en-US" sz="1800">
                <a:effectLst/>
                <a:latin typeface="Liberation Serif"/>
                <a:ea typeface="Droid Sans Fallback"/>
                <a:cs typeface="FreeSans"/>
              </a:rPr>
              <a:t>TCP </a:t>
            </a:r>
            <a:r>
              <a:rPr lang="ru-RU" sz="1800">
                <a:effectLst/>
                <a:latin typeface="Liberation Serif"/>
                <a:ea typeface="Droid Sans Fallback"/>
                <a:cs typeface="FreeSans"/>
              </a:rPr>
              <a:t>для первой ступени </a:t>
            </a:r>
            <a:r>
              <a:rPr lang="en-US" sz="1800">
                <a:effectLst/>
                <a:latin typeface="Liberation Serif"/>
                <a:ea typeface="Droid Sans Fallback"/>
                <a:cs typeface="FreeSans"/>
              </a:rPr>
              <a:t>handshake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3991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C7CA6-8DCB-B95D-AEF5-62E7D5315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9941015-36FB-E8E1-29CB-FA05B9B20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20" t="-4" r="3319" b="4"/>
          <a:stretch/>
        </p:blipFill>
        <p:spPr bwMode="auto">
          <a:xfrm>
            <a:off x="612273" y="1271570"/>
            <a:ext cx="10967453" cy="2007168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7F42B5-1655-4217-D0D8-C49A4A358FAA}"/>
              </a:ext>
            </a:extLst>
          </p:cNvPr>
          <p:cNvSpPr txBox="1"/>
          <p:nvPr/>
        </p:nvSpPr>
        <p:spPr>
          <a:xfrm>
            <a:off x="4988560" y="6598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Liberation Serif"/>
                <a:ea typeface="Droid Sans Fallback"/>
                <a:cs typeface="FreeSans"/>
              </a:rPr>
              <a:t>График потока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9462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C7CA6-8DCB-B95D-AEF5-62E7D5315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A399A9-B236-4DAB-4E8E-99C759B3F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153597"/>
            <a:ext cx="7729728" cy="310198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kern="100" dirty="0">
                <a:effectLst/>
                <a:latin typeface="Liberation Serif"/>
                <a:ea typeface="Droid Sans Fallback"/>
                <a:cs typeface="FreeSans"/>
              </a:rPr>
              <a:t>В процессе выполнения данной лабораторной работы я изучил посредством </a:t>
            </a:r>
            <a:r>
              <a:rPr lang="ru-RU" sz="2400" kern="100" dirty="0" err="1">
                <a:effectLst/>
                <a:latin typeface="Liberation Serif"/>
                <a:ea typeface="Droid Sans Fallback"/>
                <a:cs typeface="FreeSans"/>
              </a:rPr>
              <a:t>Wireshark</a:t>
            </a:r>
            <a:r>
              <a:rPr lang="ru-RU" sz="2400" kern="100" dirty="0">
                <a:effectLst/>
                <a:latin typeface="Liberation Serif"/>
                <a:ea typeface="Droid Sans Fallback"/>
                <a:cs typeface="FreeSans"/>
              </a:rPr>
              <a:t> кадры Ethernet</a:t>
            </a:r>
            <a:r>
              <a:rPr lang="ru-RU" sz="2400" kern="100">
                <a:effectLst/>
                <a:latin typeface="Liberation Serif"/>
                <a:ea typeface="Droid Sans Fallback"/>
                <a:cs typeface="FreeSans"/>
              </a:rPr>
              <a:t>, проанализировал </a:t>
            </a:r>
            <a:r>
              <a:rPr lang="ru-RU" sz="2400" kern="100" dirty="0">
                <a:effectLst/>
                <a:latin typeface="Liberation Serif"/>
                <a:ea typeface="Droid Sans Fallback"/>
                <a:cs typeface="FreeSans"/>
              </a:rPr>
              <a:t>PDU протоколы транспортного и прикладного уровней стека TCP/IP.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3698997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</TotalTime>
  <Words>239</Words>
  <Application>Microsoft Office PowerPoint</Application>
  <PresentationFormat>Широкоэкранный</PresentationFormat>
  <Paragraphs>42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Liberation Serif</vt:lpstr>
      <vt:lpstr>Times New Roman</vt:lpstr>
      <vt:lpstr>Ретро</vt:lpstr>
      <vt:lpstr>Лабораторная работа №3</vt:lpstr>
      <vt:lpstr>Цель работы</vt:lpstr>
      <vt:lpstr>Задание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№3</dc:title>
  <dc:creator>Беличева Дарья Михайловна</dc:creator>
  <cp:lastModifiedBy>Никита Сахно</cp:lastModifiedBy>
  <cp:revision>6</cp:revision>
  <dcterms:created xsi:type="dcterms:W3CDTF">2023-09-23T19:36:15Z</dcterms:created>
  <dcterms:modified xsi:type="dcterms:W3CDTF">2025-12-15T09:50:16Z</dcterms:modified>
</cp:coreProperties>
</file>