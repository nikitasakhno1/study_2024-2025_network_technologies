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3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28FB6-83B1-452C-83AC-CB18A6F0807B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FE0C3-4DB4-4C35-A3C7-DE12056AE52B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5954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28FB6-83B1-452C-83AC-CB18A6F0807B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FE0C3-4DB4-4C35-A3C7-DE12056AE5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3115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28FB6-83B1-452C-83AC-CB18A6F0807B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FE0C3-4DB4-4C35-A3C7-DE12056AE52B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3376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28FB6-83B1-452C-83AC-CB18A6F0807B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FE0C3-4DB4-4C35-A3C7-DE12056AE5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426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28FB6-83B1-452C-83AC-CB18A6F0807B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FE0C3-4DB4-4C35-A3C7-DE12056AE5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2802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28FB6-83B1-452C-83AC-CB18A6F0807B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FE0C3-4DB4-4C35-A3C7-DE12056AE5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0793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28FB6-83B1-452C-83AC-CB18A6F0807B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FE0C3-4DB4-4C35-A3C7-DE12056AE5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605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C228FB6-83B1-452C-83AC-CB18A6F0807B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2FE0C3-4DB4-4C35-A3C7-DE12056AE5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260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28FB6-83B1-452C-83AC-CB18A6F0807B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FE0C3-4DB4-4C35-A3C7-DE12056AE5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9064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28FB6-83B1-452C-83AC-CB18A6F0807B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FE0C3-4DB4-4C35-A3C7-DE12056AE5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177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28FB6-83B1-452C-83AC-CB18A6F0807B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FE0C3-4DB4-4C35-A3C7-DE12056AE5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60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C228FB6-83B1-452C-83AC-CB18A6F0807B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C2FE0C3-4DB4-4C35-A3C7-DE12056AE52B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616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8DF411-780B-C113-7A8B-4CC90E003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525272"/>
            <a:ext cx="10058400" cy="3566160"/>
          </a:xfrm>
        </p:spPr>
        <p:txBody>
          <a:bodyPr/>
          <a:lstStyle/>
          <a:p>
            <a:r>
              <a:rPr lang="ru-RU" dirty="0"/>
              <a:t>Лабораторная работа №2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4923AB-D015-4520-3888-DA2AA9C5A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3588" y="4739462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 Никита нфибд-02-23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739558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08E36-820E-1D24-FE38-44558734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DF906C-4C31-DA11-F244-A2B17B63A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791325"/>
            <a:ext cx="7729728" cy="310198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Изучить принципы технологий Ethernet и Fast Ethernet и практически освоить методики оценки работоспособности сети, построенной на базе технологии Fast Ethernet.</a:t>
            </a:r>
            <a:endParaRPr lang="ru-RU" sz="2800" kern="100" dirty="0"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2503008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2052F1-AC7A-1D96-56F9-5F8F7155A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44" y="466852"/>
            <a:ext cx="3066937" cy="1188720"/>
          </a:xfrm>
        </p:spPr>
        <p:txBody>
          <a:bodyPr>
            <a:normAutofit/>
          </a:bodyPr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383EBF-AE1C-54DC-632E-3F8B8539D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4" y="2638044"/>
            <a:ext cx="3063765" cy="32632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kern="10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Оценить работоспособность 100-мегабитной сети Fast Ethernet в соответствии с первой и второй моделями.</a:t>
            </a:r>
            <a:endParaRPr lang="ru-RU" kern="100">
              <a:effectLst/>
              <a:latin typeface="Liberation Serif"/>
              <a:ea typeface="Droid Sans Fallback"/>
              <a:cs typeface="FreeSans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 descr="Изображение выглядит как диаграмма, текст, зарисовка, План&#10;&#10;Автоматически созданное описание">
            <a:extLst>
              <a:ext uri="{FF2B5EF4-FFF2-40B4-BE49-F238E27FC236}">
                <a16:creationId xmlns:a16="http://schemas.microsoft.com/office/drawing/2014/main" id="{98867451-3AA7-66AD-3091-08C8B4300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366" y="1954043"/>
            <a:ext cx="6227064" cy="295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919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10D5F1-93DA-1DD5-393A-FC6E4BB3B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6691" y="27153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ru-RU" sz="3200" dirty="0"/>
              <a:t>З</a:t>
            </a:r>
            <a:r>
              <a:rPr lang="en-US" sz="3200" dirty="0" err="1"/>
              <a:t>адание</a:t>
            </a:r>
            <a:endParaRPr lang="en-US" sz="3200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3FA4AC31-E75D-BE28-3ECF-C1D6A41382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3357834"/>
              </p:ext>
            </p:extLst>
          </p:nvPr>
        </p:nvGraphicFramePr>
        <p:xfrm>
          <a:off x="1600199" y="2366414"/>
          <a:ext cx="8784583" cy="3241256"/>
        </p:xfrm>
        <a:graphic>
          <a:graphicData uri="http://schemas.openxmlformats.org/drawingml/2006/table">
            <a:tbl>
              <a:tblPr/>
              <a:tblGrid>
                <a:gridCol w="365333">
                  <a:extLst>
                    <a:ext uri="{9D8B030D-6E8A-4147-A177-3AD203B41FA5}">
                      <a16:colId xmlns:a16="http://schemas.microsoft.com/office/drawing/2014/main" val="4078089579"/>
                    </a:ext>
                  </a:extLst>
                </a:gridCol>
                <a:gridCol w="1386378">
                  <a:extLst>
                    <a:ext uri="{9D8B030D-6E8A-4147-A177-3AD203B41FA5}">
                      <a16:colId xmlns:a16="http://schemas.microsoft.com/office/drawing/2014/main" val="3534175570"/>
                    </a:ext>
                  </a:extLst>
                </a:gridCol>
                <a:gridCol w="1386378">
                  <a:extLst>
                    <a:ext uri="{9D8B030D-6E8A-4147-A177-3AD203B41FA5}">
                      <a16:colId xmlns:a16="http://schemas.microsoft.com/office/drawing/2014/main" val="1162706748"/>
                    </a:ext>
                  </a:extLst>
                </a:gridCol>
                <a:gridCol w="1386378">
                  <a:extLst>
                    <a:ext uri="{9D8B030D-6E8A-4147-A177-3AD203B41FA5}">
                      <a16:colId xmlns:a16="http://schemas.microsoft.com/office/drawing/2014/main" val="531285210"/>
                    </a:ext>
                  </a:extLst>
                </a:gridCol>
                <a:gridCol w="1386378">
                  <a:extLst>
                    <a:ext uri="{9D8B030D-6E8A-4147-A177-3AD203B41FA5}">
                      <a16:colId xmlns:a16="http://schemas.microsoft.com/office/drawing/2014/main" val="2592210046"/>
                    </a:ext>
                  </a:extLst>
                </a:gridCol>
                <a:gridCol w="1386378">
                  <a:extLst>
                    <a:ext uri="{9D8B030D-6E8A-4147-A177-3AD203B41FA5}">
                      <a16:colId xmlns:a16="http://schemas.microsoft.com/office/drawing/2014/main" val="782773318"/>
                    </a:ext>
                  </a:extLst>
                </a:gridCol>
                <a:gridCol w="1487360">
                  <a:extLst>
                    <a:ext uri="{9D8B030D-6E8A-4147-A177-3AD203B41FA5}">
                      <a16:colId xmlns:a16="http://schemas.microsoft.com/office/drawing/2014/main" val="855131847"/>
                    </a:ext>
                  </a:extLst>
                </a:gridCol>
              </a:tblGrid>
              <a:tr h="275894"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№</a:t>
                      </a:r>
                    </a:p>
                  </a:txBody>
                  <a:tcPr marL="10108" marR="10108" marT="101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1</a:t>
                      </a:r>
                    </a:p>
                  </a:txBody>
                  <a:tcPr marL="10108" marR="10108" marT="101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2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3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4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5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6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543391"/>
                  </a:ext>
                </a:extLst>
              </a:tr>
              <a:tr h="494227"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</a:t>
                      </a:r>
                    </a:p>
                  </a:txBody>
                  <a:tcPr marL="10108" marR="10108" marT="101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100BASE-TX,96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100BASE-TX,92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100BASE-TX,80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100BASE-TX,5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100BASE-TX,97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100BASE-TX,97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133216"/>
                  </a:ext>
                </a:extLst>
              </a:tr>
              <a:tr h="494227"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</a:t>
                      </a:r>
                    </a:p>
                  </a:txBody>
                  <a:tcPr marL="10108" marR="10108" marT="101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100BASE-TX,95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100BASE-TX,85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100BASE-TX,85 </a:t>
                      </a:r>
                      <a:r>
                        <a:rPr lang="ru-RU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100BASE-TX,90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100BASE-TX,90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100BASE-TX,98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4694371"/>
                  </a:ext>
                </a:extLst>
              </a:tr>
              <a:tr h="494227"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</a:t>
                      </a:r>
                    </a:p>
                  </a:txBody>
                  <a:tcPr marL="10108" marR="10108" marT="101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100BASE-TX,60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100BASE-TX,95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100BASE-TX,10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100BASE-TX,5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100BASE-TX,90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100BASE-TX,100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1514299"/>
                  </a:ext>
                </a:extLst>
              </a:tr>
              <a:tr h="494227"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</a:t>
                      </a:r>
                    </a:p>
                  </a:txBody>
                  <a:tcPr marL="10108" marR="10108" marT="101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100BASE-TX,70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100BASE-TX,65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100BASE-TX,10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100BASE-TX,4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100BASE-TX,90 </a:t>
                      </a:r>
                      <a:r>
                        <a:rPr lang="ru-RU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100BASE-TX,80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262522"/>
                  </a:ext>
                </a:extLst>
              </a:tr>
              <a:tr h="494227"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</a:t>
                      </a:r>
                    </a:p>
                  </a:txBody>
                  <a:tcPr marL="10108" marR="10108" marT="101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100BASE-TX,60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100BASE-TX,95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100BASE-TX,10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100BASE-TX,15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100BASE-TX,90 </a:t>
                      </a:r>
                      <a:r>
                        <a:rPr lang="ru-RU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100BASE-TX,100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088658"/>
                  </a:ext>
                </a:extLst>
              </a:tr>
              <a:tr h="494227"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</a:t>
                      </a:r>
                    </a:p>
                  </a:txBody>
                  <a:tcPr marL="10108" marR="10108" marT="101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100BASE-TX,70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100BASE-TX,98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100BASE-TX,10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100BASE-TX,9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100BASE-TX,70 </a:t>
                      </a:r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100BASE-TX,100 </a:t>
                      </a:r>
                      <a:r>
                        <a:rPr lang="ru-RU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</a:t>
                      </a:r>
                    </a:p>
                  </a:txBody>
                  <a:tcPr marL="10108" marR="10108" marT="1010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2330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0790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500081-67CE-DE04-63F6-64A5273C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44" y="609092"/>
            <a:ext cx="3066937" cy="1188720"/>
          </a:xfrm>
        </p:spPr>
        <p:txBody>
          <a:bodyPr>
            <a:normAutofit/>
          </a:bodyPr>
          <a:lstStyle/>
          <a:p>
            <a:r>
              <a:rPr lang="ru-RU" sz="2000" dirty="0"/>
              <a:t>Выполнение лабораторной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3DE813-6D6C-5B2A-6393-9C4742D81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4" y="2638044"/>
            <a:ext cx="3063765" cy="3263206"/>
          </a:xfrm>
        </p:spPr>
        <p:txBody>
          <a:bodyPr>
            <a:normAutofit/>
          </a:bodyPr>
          <a:lstStyle/>
          <a:p>
            <a:r>
              <a:rPr lang="ru-RU" kern="100" dirty="0">
                <a:effectLst/>
                <a:latin typeface="Times New Roman" panose="02020603050405020304" pitchFamily="18" charset="0"/>
                <a:ea typeface="Droid Sans Fallback"/>
                <a:cs typeface="Mangal" panose="02040503050203030202" pitchFamily="18" charset="0"/>
              </a:rPr>
              <a:t>Оценим работоспособность сети в соответствии с первой моделью.</a:t>
            </a:r>
            <a:endParaRPr lang="ru-RU" kern="100" dirty="0">
              <a:effectLst/>
              <a:latin typeface="Liberation Serif"/>
              <a:ea typeface="Droid Sans Fallback"/>
              <a:cs typeface="Mangal" panose="02040503050203030202" pitchFamily="18" charset="0"/>
            </a:endParaRPr>
          </a:p>
          <a:p>
            <a:r>
              <a:rPr lang="ru-RU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Для этого нам необходимо посчитать диаметр домена коллизий и сравнить его с предельно допустимым значением для нашей конфигурации сети</a:t>
            </a:r>
            <a:r>
              <a:rPr lang="en-US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 (205</a:t>
            </a:r>
            <a:r>
              <a:rPr lang="ru-RU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м).</a:t>
            </a:r>
            <a:endParaRPr lang="ru-RU" kern="100" dirty="0">
              <a:effectLst/>
              <a:latin typeface="Liberation Serif"/>
              <a:ea typeface="Droid Sans Fallback"/>
              <a:cs typeface="FreeSans"/>
            </a:endParaRPr>
          </a:p>
          <a:p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F8341B02-E5FC-B1DE-AEB8-528178472D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696504"/>
              </p:ext>
            </p:extLst>
          </p:nvPr>
        </p:nvGraphicFramePr>
        <p:xfrm>
          <a:off x="4823366" y="2187377"/>
          <a:ext cx="6227069" cy="2491194"/>
        </p:xfrm>
        <a:graphic>
          <a:graphicData uri="http://schemas.openxmlformats.org/drawingml/2006/table">
            <a:tbl>
              <a:tblPr firstRow="1" bandRow="1"/>
              <a:tblGrid>
                <a:gridCol w="358845">
                  <a:extLst>
                    <a:ext uri="{9D8B030D-6E8A-4147-A177-3AD203B41FA5}">
                      <a16:colId xmlns:a16="http://schemas.microsoft.com/office/drawing/2014/main" val="2907609411"/>
                    </a:ext>
                  </a:extLst>
                </a:gridCol>
                <a:gridCol w="823166">
                  <a:extLst>
                    <a:ext uri="{9D8B030D-6E8A-4147-A177-3AD203B41FA5}">
                      <a16:colId xmlns:a16="http://schemas.microsoft.com/office/drawing/2014/main" val="2607002967"/>
                    </a:ext>
                  </a:extLst>
                </a:gridCol>
                <a:gridCol w="823166">
                  <a:extLst>
                    <a:ext uri="{9D8B030D-6E8A-4147-A177-3AD203B41FA5}">
                      <a16:colId xmlns:a16="http://schemas.microsoft.com/office/drawing/2014/main" val="15472197"/>
                    </a:ext>
                  </a:extLst>
                </a:gridCol>
                <a:gridCol w="823166">
                  <a:extLst>
                    <a:ext uri="{9D8B030D-6E8A-4147-A177-3AD203B41FA5}">
                      <a16:colId xmlns:a16="http://schemas.microsoft.com/office/drawing/2014/main" val="1659664602"/>
                    </a:ext>
                  </a:extLst>
                </a:gridCol>
                <a:gridCol w="823166">
                  <a:extLst>
                    <a:ext uri="{9D8B030D-6E8A-4147-A177-3AD203B41FA5}">
                      <a16:colId xmlns:a16="http://schemas.microsoft.com/office/drawing/2014/main" val="3384332606"/>
                    </a:ext>
                  </a:extLst>
                </a:gridCol>
                <a:gridCol w="823166">
                  <a:extLst>
                    <a:ext uri="{9D8B030D-6E8A-4147-A177-3AD203B41FA5}">
                      <a16:colId xmlns:a16="http://schemas.microsoft.com/office/drawing/2014/main" val="3308323789"/>
                    </a:ext>
                  </a:extLst>
                </a:gridCol>
                <a:gridCol w="823166">
                  <a:extLst>
                    <a:ext uri="{9D8B030D-6E8A-4147-A177-3AD203B41FA5}">
                      <a16:colId xmlns:a16="http://schemas.microsoft.com/office/drawing/2014/main" val="2567347791"/>
                    </a:ext>
                  </a:extLst>
                </a:gridCol>
                <a:gridCol w="929228">
                  <a:extLst>
                    <a:ext uri="{9D8B030D-6E8A-4147-A177-3AD203B41FA5}">
                      <a16:colId xmlns:a16="http://schemas.microsoft.com/office/drawing/2014/main" val="3238174118"/>
                    </a:ext>
                  </a:extLst>
                </a:gridCol>
              </a:tblGrid>
              <a:tr h="743772"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№</a:t>
                      </a:r>
                    </a:p>
                  </a:txBody>
                  <a:tcPr marL="10665" marR="10665" marT="106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1</a:t>
                      </a:r>
                    </a:p>
                  </a:txBody>
                  <a:tcPr marL="10665" marR="10665" marT="106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2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3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4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5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6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Диаметр домена коллизий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9723205"/>
                  </a:ext>
                </a:extLst>
              </a:tr>
              <a:tr h="291237"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</a:t>
                      </a:r>
                    </a:p>
                  </a:txBody>
                  <a:tcPr marL="10665" marR="10665" marT="106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10665" marR="10665" marT="106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369195"/>
                  </a:ext>
                </a:extLst>
              </a:tr>
              <a:tr h="291237"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</a:t>
                      </a:r>
                    </a:p>
                  </a:txBody>
                  <a:tcPr marL="10665" marR="10665" marT="106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FFF2CC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10665" marR="10665" marT="106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FFF2CC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FFF2CC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283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555728"/>
                  </a:ext>
                </a:extLst>
              </a:tr>
              <a:tr h="291237"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</a:t>
                      </a:r>
                    </a:p>
                  </a:txBody>
                  <a:tcPr marL="10665" marR="10665" marT="106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10665" marR="10665" marT="106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34532"/>
                  </a:ext>
                </a:extLst>
              </a:tr>
              <a:tr h="291237"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</a:t>
                      </a:r>
                    </a:p>
                  </a:txBody>
                  <a:tcPr marL="10665" marR="10665" marT="106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10665" marR="10665" marT="106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025822"/>
                  </a:ext>
                </a:extLst>
              </a:tr>
              <a:tr h="291237"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</a:t>
                      </a:r>
                    </a:p>
                  </a:txBody>
                  <a:tcPr marL="10665" marR="10665" marT="106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10665" marR="10665" marT="106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FFF2CC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FFF2CC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FFF2CC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210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727359"/>
                  </a:ext>
                </a:extLst>
              </a:tr>
              <a:tr h="291237"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</a:t>
                      </a:r>
                    </a:p>
                  </a:txBody>
                  <a:tcPr marL="10665" marR="10665" marT="106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10665" marR="10665" marT="106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FFF2CC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FFF2CC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FFF2CC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</a:t>
                      </a:r>
                    </a:p>
                  </a:txBody>
                  <a:tcPr marL="10665" marR="10665" marT="106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633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0513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E020D7-385E-1218-1ABC-985A34656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 fontScale="90000"/>
          </a:bodyPr>
          <a:lstStyle/>
          <a:p>
            <a:r>
              <a:rPr lang="ru-RU" dirty="0"/>
              <a:t>Выполнение лабораторной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EC8334-4320-93A7-9344-2876634EA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>
            <a:normAutofit fontScale="92500" lnSpcReduction="20000"/>
          </a:bodyPr>
          <a:lstStyle/>
          <a:p>
            <a:r>
              <a:rPr lang="ru-RU" kern="1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Droid Sans Fallback"/>
                <a:cs typeface="Mangal" panose="02040503050203030202" pitchFamily="18" charset="0"/>
              </a:rPr>
              <a:t>Оценим работоспособность сети в соответствии со второй моделью.</a:t>
            </a:r>
            <a:endParaRPr lang="ru-RU" kern="100" dirty="0">
              <a:solidFill>
                <a:srgbClr val="404040"/>
              </a:solidFill>
              <a:effectLst/>
              <a:latin typeface="Liberation Serif"/>
              <a:ea typeface="Droid Sans Fallback"/>
              <a:cs typeface="Mangal" panose="02040503050203030202" pitchFamily="18" charset="0"/>
            </a:endParaRPr>
          </a:p>
          <a:p>
            <a:r>
              <a:rPr lang="ru-RU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Droid Sans Fallback"/>
              </a:rPr>
              <a:t>Для этого нам надо вычислить время двойного оборота.</a:t>
            </a:r>
          </a:p>
          <a:p>
            <a:r>
              <a:rPr lang="ru-RU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Droid Sans Fallback"/>
              </a:rPr>
              <a:t>Время двойного оборота рассчитывается для наихудшего пути между двумя узлами домена коллизий. Расчёт выполняется путём суммирования временных задержек в сегментах, повторителях и терминалах.</a:t>
            </a:r>
          </a:p>
          <a:p>
            <a:r>
              <a:rPr lang="ru-RU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Droid Sans Fallback"/>
              </a:rPr>
              <a:t>Для вычисления времени двойного оборота нужно умножить длину сегмента на величину удельного времени двойного оборота соответствующего сегмента (для витой пары категории 5: 1,112 би/м).</a:t>
            </a:r>
            <a:endParaRPr lang="ru-RU" dirty="0">
              <a:solidFill>
                <a:srgbClr val="404040"/>
              </a:solidFill>
              <a:latin typeface="Times New Roman" panose="02020603050405020304" pitchFamily="18" charset="0"/>
              <a:ea typeface="Droid Sans Fallback"/>
            </a:endParaRPr>
          </a:p>
          <a:p>
            <a:r>
              <a:rPr lang="ru-RU" dirty="0">
                <a:solidFill>
                  <a:srgbClr val="404040"/>
                </a:solidFill>
                <a:latin typeface="Times New Roman" panose="02020603050405020304" pitchFamily="18" charset="0"/>
              </a:rPr>
              <a:t>Сравнить результат с 512 би.</a:t>
            </a:r>
            <a:endParaRPr lang="ru-RU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0258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6B363D-0DEF-FA47-E866-E772DFC7A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ru-RU" sz="3200" dirty="0"/>
              <a:t>Выполнение лабораторной работы</a:t>
            </a:r>
            <a:endParaRPr lang="en-US" sz="3200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29969C78-3145-783D-7A13-62B33BE0E5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3407288"/>
              </p:ext>
            </p:extLst>
          </p:nvPr>
        </p:nvGraphicFramePr>
        <p:xfrm>
          <a:off x="935941" y="640078"/>
          <a:ext cx="10320119" cy="3301312"/>
        </p:xfrm>
        <a:graphic>
          <a:graphicData uri="http://schemas.openxmlformats.org/drawingml/2006/table">
            <a:tbl>
              <a:tblPr/>
              <a:tblGrid>
                <a:gridCol w="6163797">
                  <a:extLst>
                    <a:ext uri="{9D8B030D-6E8A-4147-A177-3AD203B41FA5}">
                      <a16:colId xmlns:a16="http://schemas.microsoft.com/office/drawing/2014/main" val="1099261101"/>
                    </a:ext>
                  </a:extLst>
                </a:gridCol>
                <a:gridCol w="4156322">
                  <a:extLst>
                    <a:ext uri="{9D8B030D-6E8A-4147-A177-3AD203B41FA5}">
                      <a16:colId xmlns:a16="http://schemas.microsoft.com/office/drawing/2014/main" val="2381928839"/>
                    </a:ext>
                  </a:extLst>
                </a:gridCol>
              </a:tblGrid>
              <a:tr h="471616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Компонент пути </a:t>
                      </a:r>
                      <a:endParaRPr lang="ru-RU" sz="4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Время двойного оборота, би</a:t>
                      </a:r>
                      <a:endParaRPr lang="ru-RU" sz="4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7308789"/>
                  </a:ext>
                </a:extLst>
              </a:tr>
              <a:tr h="471616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Пара терминалов с интерфейсами 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TX</a:t>
                      </a:r>
                      <a:endParaRPr lang="en-US" sz="4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  <a:endParaRPr lang="ru-RU" sz="4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9730590"/>
                  </a:ext>
                </a:extLst>
              </a:tr>
              <a:tr h="471616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на витой паре категории 5 (100 м)</a:t>
                      </a:r>
                      <a:endParaRPr lang="ru-RU" sz="4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111,2</a:t>
                      </a:r>
                      <a:endParaRPr lang="ru-RU" sz="4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3993409"/>
                  </a:ext>
                </a:extLst>
              </a:tr>
              <a:tr h="471616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на витой паре категории 5 (100 м)</a:t>
                      </a:r>
                      <a:endParaRPr lang="ru-RU" sz="4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111,2</a:t>
                      </a:r>
                      <a:endParaRPr lang="ru-RU" sz="4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6266947"/>
                  </a:ext>
                </a:extLst>
              </a:tr>
              <a:tr h="471616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на витой паре категории 5 (5 м)</a:t>
                      </a:r>
                      <a:endParaRPr lang="ru-RU" sz="4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5,56</a:t>
                      </a:r>
                      <a:endParaRPr lang="ru-RU" sz="4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998270"/>
                  </a:ext>
                </a:extLst>
              </a:tr>
              <a:tr h="471616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Повторитель класса 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II </a:t>
                      </a:r>
                      <a:endParaRPr lang="en-US" sz="4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  <a:endParaRPr lang="ru-RU" sz="4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9374257"/>
                  </a:ext>
                </a:extLst>
              </a:tr>
              <a:tr h="471616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Повторитель класса 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II </a:t>
                      </a:r>
                      <a:endParaRPr lang="en-US" sz="4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  <a:endParaRPr lang="ru-RU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8525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4191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534D7B-DB15-91CE-9394-FC944C7F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 dirty="0" err="1"/>
              <a:t>Выполнение</a:t>
            </a:r>
            <a:r>
              <a:rPr lang="en-US" sz="3200" dirty="0"/>
              <a:t> </a:t>
            </a:r>
            <a:r>
              <a:rPr lang="en-US" sz="3200" dirty="0" err="1"/>
              <a:t>лабораторной</a:t>
            </a:r>
            <a:r>
              <a:rPr lang="en-US" sz="3200" dirty="0"/>
              <a:t> </a:t>
            </a:r>
            <a:r>
              <a:rPr lang="en-US" sz="3200" dirty="0" err="1"/>
              <a:t>работы</a:t>
            </a:r>
            <a:endParaRPr lang="en-US" sz="3200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A897E7A5-4F75-E669-9FFA-A9E5C23AAB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3645563"/>
              </p:ext>
            </p:extLst>
          </p:nvPr>
        </p:nvGraphicFramePr>
        <p:xfrm>
          <a:off x="1102756" y="640078"/>
          <a:ext cx="9986490" cy="3301312"/>
        </p:xfrm>
        <a:graphic>
          <a:graphicData uri="http://schemas.openxmlformats.org/drawingml/2006/table">
            <a:tbl>
              <a:tblPr firstRow="1" bandRow="1"/>
              <a:tblGrid>
                <a:gridCol w="575382">
                  <a:extLst>
                    <a:ext uri="{9D8B030D-6E8A-4147-A177-3AD203B41FA5}">
                      <a16:colId xmlns:a16="http://schemas.microsoft.com/office/drawing/2014/main" val="2476089564"/>
                    </a:ext>
                  </a:extLst>
                </a:gridCol>
                <a:gridCol w="1568518">
                  <a:extLst>
                    <a:ext uri="{9D8B030D-6E8A-4147-A177-3AD203B41FA5}">
                      <a16:colId xmlns:a16="http://schemas.microsoft.com/office/drawing/2014/main" val="816518143"/>
                    </a:ext>
                  </a:extLst>
                </a:gridCol>
                <a:gridCol w="1568518">
                  <a:extLst>
                    <a:ext uri="{9D8B030D-6E8A-4147-A177-3AD203B41FA5}">
                      <a16:colId xmlns:a16="http://schemas.microsoft.com/office/drawing/2014/main" val="3994533022"/>
                    </a:ext>
                  </a:extLst>
                </a:gridCol>
                <a:gridCol w="1568518">
                  <a:extLst>
                    <a:ext uri="{9D8B030D-6E8A-4147-A177-3AD203B41FA5}">
                      <a16:colId xmlns:a16="http://schemas.microsoft.com/office/drawing/2014/main" val="1852672286"/>
                    </a:ext>
                  </a:extLst>
                </a:gridCol>
                <a:gridCol w="1568518">
                  <a:extLst>
                    <a:ext uri="{9D8B030D-6E8A-4147-A177-3AD203B41FA5}">
                      <a16:colId xmlns:a16="http://schemas.microsoft.com/office/drawing/2014/main" val="1762532734"/>
                    </a:ext>
                  </a:extLst>
                </a:gridCol>
                <a:gridCol w="1568518">
                  <a:extLst>
                    <a:ext uri="{9D8B030D-6E8A-4147-A177-3AD203B41FA5}">
                      <a16:colId xmlns:a16="http://schemas.microsoft.com/office/drawing/2014/main" val="1880698955"/>
                    </a:ext>
                  </a:extLst>
                </a:gridCol>
                <a:gridCol w="1568518">
                  <a:extLst>
                    <a:ext uri="{9D8B030D-6E8A-4147-A177-3AD203B41FA5}">
                      <a16:colId xmlns:a16="http://schemas.microsoft.com/office/drawing/2014/main" val="1742681963"/>
                    </a:ext>
                  </a:extLst>
                </a:gridCol>
              </a:tblGrid>
              <a:tr h="471616"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№</a:t>
                      </a:r>
                    </a:p>
                  </a:txBody>
                  <a:tcPr marL="16965" marR="16965" marT="169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1</a:t>
                      </a:r>
                    </a:p>
                  </a:txBody>
                  <a:tcPr marL="16965" marR="16965" marT="169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2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3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4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5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6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8208864"/>
                  </a:ext>
                </a:extLst>
              </a:tr>
              <a:tr h="471616"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</a:t>
                      </a:r>
                    </a:p>
                  </a:txBody>
                  <a:tcPr marL="16965" marR="16965" marT="169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16965" marR="16965" marT="169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350217"/>
                  </a:ext>
                </a:extLst>
              </a:tr>
              <a:tr h="471616"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</a:t>
                      </a:r>
                    </a:p>
                  </a:txBody>
                  <a:tcPr marL="16965" marR="16965" marT="169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16965" marR="16965" marT="169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728258"/>
                  </a:ext>
                </a:extLst>
              </a:tr>
              <a:tr h="471616"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</a:t>
                      </a:r>
                    </a:p>
                  </a:txBody>
                  <a:tcPr marL="16965" marR="16965" marT="169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16965" marR="16965" marT="169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817922"/>
                  </a:ext>
                </a:extLst>
              </a:tr>
              <a:tr h="471616"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</a:t>
                      </a:r>
                    </a:p>
                  </a:txBody>
                  <a:tcPr marL="16965" marR="16965" marT="169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16965" marR="16965" marT="169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247846"/>
                  </a:ext>
                </a:extLst>
              </a:tr>
              <a:tr h="471616"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</a:t>
                      </a:r>
                    </a:p>
                  </a:txBody>
                  <a:tcPr marL="16965" marR="16965" marT="169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16965" marR="16965" marT="169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985002"/>
                  </a:ext>
                </a:extLst>
              </a:tr>
              <a:tr h="471616"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</a:t>
                      </a:r>
                    </a:p>
                  </a:txBody>
                  <a:tcPr marL="16965" marR="16965" marT="169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16965" marR="16965" marT="1696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16965" marR="16965" marT="169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984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469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45D051-27B1-61D9-3BE0-4017F0970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Выполнение</a:t>
            </a:r>
            <a:r>
              <a:rPr lang="en-US" sz="3200" dirty="0"/>
              <a:t> </a:t>
            </a:r>
            <a:r>
              <a:rPr lang="en-US" sz="3200"/>
              <a:t>лабораторной</a:t>
            </a:r>
            <a:r>
              <a:rPr lang="en-US" sz="3200" dirty="0"/>
              <a:t> </a:t>
            </a:r>
            <a:r>
              <a:rPr lang="en-US" sz="3200"/>
              <a:t>работы</a:t>
            </a:r>
            <a:endParaRPr lang="en-US" sz="3200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F656E813-7EFD-A02A-3F5E-F757C14161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6131429"/>
              </p:ext>
            </p:extLst>
          </p:nvPr>
        </p:nvGraphicFramePr>
        <p:xfrm>
          <a:off x="635267" y="851298"/>
          <a:ext cx="10921469" cy="2878871"/>
        </p:xfrm>
        <a:graphic>
          <a:graphicData uri="http://schemas.openxmlformats.org/drawingml/2006/table">
            <a:tbl>
              <a:tblPr/>
              <a:tblGrid>
                <a:gridCol w="461869">
                  <a:extLst>
                    <a:ext uri="{9D8B030D-6E8A-4147-A177-3AD203B41FA5}">
                      <a16:colId xmlns:a16="http://schemas.microsoft.com/office/drawing/2014/main" val="1193247758"/>
                    </a:ext>
                  </a:extLst>
                </a:gridCol>
                <a:gridCol w="1048895">
                  <a:extLst>
                    <a:ext uri="{9D8B030D-6E8A-4147-A177-3AD203B41FA5}">
                      <a16:colId xmlns:a16="http://schemas.microsoft.com/office/drawing/2014/main" val="3460196214"/>
                    </a:ext>
                  </a:extLst>
                </a:gridCol>
                <a:gridCol w="1048895">
                  <a:extLst>
                    <a:ext uri="{9D8B030D-6E8A-4147-A177-3AD203B41FA5}">
                      <a16:colId xmlns:a16="http://schemas.microsoft.com/office/drawing/2014/main" val="195458971"/>
                    </a:ext>
                  </a:extLst>
                </a:gridCol>
                <a:gridCol w="1048895">
                  <a:extLst>
                    <a:ext uri="{9D8B030D-6E8A-4147-A177-3AD203B41FA5}">
                      <a16:colId xmlns:a16="http://schemas.microsoft.com/office/drawing/2014/main" val="1418175654"/>
                    </a:ext>
                  </a:extLst>
                </a:gridCol>
                <a:gridCol w="1048895">
                  <a:extLst>
                    <a:ext uri="{9D8B030D-6E8A-4147-A177-3AD203B41FA5}">
                      <a16:colId xmlns:a16="http://schemas.microsoft.com/office/drawing/2014/main" val="3536305149"/>
                    </a:ext>
                  </a:extLst>
                </a:gridCol>
                <a:gridCol w="1048895">
                  <a:extLst>
                    <a:ext uri="{9D8B030D-6E8A-4147-A177-3AD203B41FA5}">
                      <a16:colId xmlns:a16="http://schemas.microsoft.com/office/drawing/2014/main" val="455715519"/>
                    </a:ext>
                  </a:extLst>
                </a:gridCol>
                <a:gridCol w="1048895">
                  <a:extLst>
                    <a:ext uri="{9D8B030D-6E8A-4147-A177-3AD203B41FA5}">
                      <a16:colId xmlns:a16="http://schemas.microsoft.com/office/drawing/2014/main" val="2045307930"/>
                    </a:ext>
                  </a:extLst>
                </a:gridCol>
                <a:gridCol w="2807207">
                  <a:extLst>
                    <a:ext uri="{9D8B030D-6E8A-4147-A177-3AD203B41FA5}">
                      <a16:colId xmlns:a16="http://schemas.microsoft.com/office/drawing/2014/main" val="4091821378"/>
                    </a:ext>
                  </a:extLst>
                </a:gridCol>
                <a:gridCol w="1359023">
                  <a:extLst>
                    <a:ext uri="{9D8B030D-6E8A-4147-A177-3AD203B41FA5}">
                      <a16:colId xmlns:a16="http://schemas.microsoft.com/office/drawing/2014/main" val="2675475738"/>
                    </a:ext>
                  </a:extLst>
                </a:gridCol>
              </a:tblGrid>
              <a:tr h="661901"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№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1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2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3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4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5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Сегмент 6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Время двойного оборота для наихудшего пути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 запасные биты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580933"/>
                  </a:ext>
                </a:extLst>
              </a:tr>
              <a:tr h="369495"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106,752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5,56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107,864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504,176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508,176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654360"/>
                  </a:ext>
                </a:extLst>
              </a:tr>
              <a:tr h="369495"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105,64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100,08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108,976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598,696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602,696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675920"/>
                  </a:ext>
                </a:extLst>
              </a:tr>
              <a:tr h="369495"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105,64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5,56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111,2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506,4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510,4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49868"/>
                  </a:ext>
                </a:extLst>
              </a:tr>
              <a:tr h="369495"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100,08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88,96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381,04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385,04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198850"/>
                  </a:ext>
                </a:extLst>
              </a:tr>
              <a:tr h="369495"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105,64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16,68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111,2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517,52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521,52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601633"/>
                  </a:ext>
                </a:extLst>
              </a:tr>
              <a:tr h="369495"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108,976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10,008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111,2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514,184</a:t>
                      </a:r>
                      <a:endParaRPr lang="ru-RU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518,184</a:t>
                      </a:r>
                      <a:endParaRPr lang="ru-RU" sz="3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91" marR="13291" marT="132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395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7339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7D5CE0-6CA6-62F3-6583-C73EAB8FD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AF0A8C-166F-B521-952E-6F913CED9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244" y="2632842"/>
            <a:ext cx="8779512" cy="287925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kern="1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В процессе выполнения данной лабораторной работы я изучил принципы технологий Ethernet и Fast Ethernet, а также освоил методики оценки работоспособности сети, построенной на базе технологии Fast Ethernet.</a:t>
            </a:r>
            <a:endParaRPr lang="ru-RU" sz="2400" kern="100" dirty="0">
              <a:solidFill>
                <a:srgbClr val="404040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endParaRPr lang="ru-RU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2234932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57</TotalTime>
  <Words>646</Words>
  <Application>Microsoft Office PowerPoint</Application>
  <PresentationFormat>Широкоэкранный</PresentationFormat>
  <Paragraphs>253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Liberation Serif</vt:lpstr>
      <vt:lpstr>Times New Roman</vt:lpstr>
      <vt:lpstr>Ретро</vt:lpstr>
      <vt:lpstr>Лабораторная работа №2</vt:lpstr>
      <vt:lpstr>Цель работы</vt:lpstr>
      <vt:lpstr>Задание</vt:lpstr>
      <vt:lpstr>Задание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№2</dc:title>
  <dc:creator>Беличева Дарья Михайловна</dc:creator>
  <cp:lastModifiedBy>Никита Сахно</cp:lastModifiedBy>
  <cp:revision>10</cp:revision>
  <dcterms:created xsi:type="dcterms:W3CDTF">2023-09-16T15:55:04Z</dcterms:created>
  <dcterms:modified xsi:type="dcterms:W3CDTF">2025-12-15T09:36:56Z</dcterms:modified>
</cp:coreProperties>
</file>