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</p:sldIdLst>
  <p:sldSz cx="5765800" cy="3244850"/>
  <p:notesSz cx="5765800" cy="3244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60" d="100"/>
          <a:sy n="160" d="100"/>
        </p:scale>
        <p:origin x="922" y="10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2435" y="1005903"/>
            <a:ext cx="4900930" cy="6814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F9F9F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22373A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22373A"/>
                </a:solidFill>
                <a:latin typeface="Tahoma"/>
                <a:cs typeface="Tahoma"/>
              </a:defRPr>
            </a:lvl1pPr>
          </a:lstStyle>
          <a:p>
            <a:pPr marL="35560">
              <a:lnSpc>
                <a:spcPct val="100000"/>
              </a:lnSpc>
              <a:spcBef>
                <a:spcPts val="165"/>
              </a:spcBef>
            </a:pPr>
            <a:fld id="{81D60167-4931-47E6-BA6A-407CBD079E47}" type="slidenum">
              <a:rPr spc="-10" dirty="0"/>
              <a:t>‹#›</a:t>
            </a:fld>
            <a:r>
              <a:rPr spc="-10" dirty="0"/>
              <a:t>/33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F9F9F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22373A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22373A"/>
                </a:solidFill>
                <a:latin typeface="Tahoma"/>
                <a:cs typeface="Tahoma"/>
              </a:defRPr>
            </a:lvl1pPr>
          </a:lstStyle>
          <a:p>
            <a:pPr marL="35560">
              <a:lnSpc>
                <a:spcPct val="100000"/>
              </a:lnSpc>
              <a:spcBef>
                <a:spcPts val="165"/>
              </a:spcBef>
            </a:pPr>
            <a:fld id="{81D60167-4931-47E6-BA6A-407CBD079E47}" type="slidenum">
              <a:rPr spc="-10" dirty="0"/>
              <a:t>‹#›</a:t>
            </a:fld>
            <a:r>
              <a:rPr spc="-10" dirty="0"/>
              <a:t>/33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F9F9F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22373A"/>
                </a:solidFill>
                <a:latin typeface="Tahoma"/>
                <a:cs typeface="Tahoma"/>
              </a:defRPr>
            </a:lvl1pPr>
          </a:lstStyle>
          <a:p>
            <a:pPr marL="35560">
              <a:lnSpc>
                <a:spcPct val="100000"/>
              </a:lnSpc>
              <a:spcBef>
                <a:spcPts val="165"/>
              </a:spcBef>
            </a:pPr>
            <a:fld id="{81D60167-4931-47E6-BA6A-407CBD079E47}" type="slidenum">
              <a:rPr spc="-10" dirty="0"/>
              <a:t>‹#›</a:t>
            </a:fld>
            <a:r>
              <a:rPr spc="-10" dirty="0"/>
              <a:t>/33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F9F9F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22373A"/>
                </a:solidFill>
                <a:latin typeface="Tahoma"/>
                <a:cs typeface="Tahoma"/>
              </a:defRPr>
            </a:lvl1pPr>
          </a:lstStyle>
          <a:p>
            <a:pPr marL="35560">
              <a:lnSpc>
                <a:spcPct val="100000"/>
              </a:lnSpc>
              <a:spcBef>
                <a:spcPts val="165"/>
              </a:spcBef>
            </a:pPr>
            <a:fld id="{81D60167-4931-47E6-BA6A-407CBD079E47}" type="slidenum">
              <a:rPr spc="-10" dirty="0"/>
              <a:t>‹#›</a:t>
            </a:fld>
            <a:r>
              <a:rPr spc="-10" dirty="0"/>
              <a:t>/33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22373A"/>
                </a:solidFill>
                <a:latin typeface="Tahoma"/>
                <a:cs typeface="Tahoma"/>
              </a:defRPr>
            </a:lvl1pPr>
          </a:lstStyle>
          <a:p>
            <a:pPr marL="35560">
              <a:lnSpc>
                <a:spcPct val="100000"/>
              </a:lnSpc>
              <a:spcBef>
                <a:spcPts val="165"/>
              </a:spcBef>
            </a:pPr>
            <a:fld id="{81D60167-4931-47E6-BA6A-407CBD079E47}" type="slidenum">
              <a:rPr spc="-10" dirty="0"/>
              <a:t>‹#›</a:t>
            </a:fld>
            <a:r>
              <a:rPr spc="-10" dirty="0"/>
              <a:t>/33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5760085" cy="359410"/>
          </a:xfrm>
          <a:custGeom>
            <a:avLst/>
            <a:gdLst/>
            <a:ahLst/>
            <a:cxnLst/>
            <a:rect l="l" t="t" r="r" b="b"/>
            <a:pathLst>
              <a:path w="5760085" h="359410">
                <a:moveTo>
                  <a:pt x="5759996" y="0"/>
                </a:moveTo>
                <a:lnTo>
                  <a:pt x="0" y="0"/>
                </a:lnTo>
                <a:lnTo>
                  <a:pt x="0" y="358800"/>
                </a:lnTo>
                <a:lnTo>
                  <a:pt x="5759996" y="358800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2631" y="82852"/>
            <a:ext cx="793750" cy="1790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F9F9F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7294" y="991733"/>
            <a:ext cx="4937760" cy="13119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22373A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14378" y="2992618"/>
            <a:ext cx="257810" cy="1473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50" b="0" i="0">
                <a:solidFill>
                  <a:srgbClr val="22373A"/>
                </a:solidFill>
                <a:latin typeface="Tahoma"/>
                <a:cs typeface="Tahoma"/>
              </a:defRPr>
            </a:lvl1pPr>
          </a:lstStyle>
          <a:p>
            <a:pPr marL="35560">
              <a:lnSpc>
                <a:spcPct val="100000"/>
              </a:lnSpc>
              <a:spcBef>
                <a:spcPts val="165"/>
              </a:spcBef>
            </a:pPr>
            <a:fld id="{81D60167-4931-47E6-BA6A-407CBD079E47}" type="slidenum">
              <a:rPr spc="-10" dirty="0"/>
              <a:t>‹#›</a:t>
            </a:fld>
            <a:r>
              <a:rPr spc="-10" dirty="0"/>
              <a:t>/33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1032216453@pfur.ru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7294" y="807330"/>
            <a:ext cx="1878330" cy="2101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dirty="0">
                <a:solidFill>
                  <a:srgbClr val="22373A"/>
                </a:solidFill>
              </a:rPr>
              <a:t>Лабораторная</a:t>
            </a:r>
            <a:r>
              <a:rPr sz="1200" spc="175" dirty="0">
                <a:solidFill>
                  <a:srgbClr val="22373A"/>
                </a:solidFill>
              </a:rPr>
              <a:t> </a:t>
            </a:r>
            <a:r>
              <a:rPr sz="1200" dirty="0">
                <a:solidFill>
                  <a:srgbClr val="22373A"/>
                </a:solidFill>
              </a:rPr>
              <a:t>работа</a:t>
            </a:r>
            <a:r>
              <a:rPr sz="1200" spc="180" dirty="0">
                <a:solidFill>
                  <a:srgbClr val="22373A"/>
                </a:solidFill>
              </a:rPr>
              <a:t> </a:t>
            </a:r>
            <a:r>
              <a:rPr sz="1200" spc="40" dirty="0">
                <a:solidFill>
                  <a:srgbClr val="22373A"/>
                </a:solidFill>
              </a:rPr>
              <a:t>№1</a:t>
            </a:r>
            <a:endParaRPr sz="1200"/>
          </a:p>
        </p:txBody>
      </p:sp>
      <p:sp>
        <p:nvSpPr>
          <p:cNvPr id="4" name="object 4"/>
          <p:cNvSpPr txBox="1"/>
          <p:nvPr/>
        </p:nvSpPr>
        <p:spPr>
          <a:xfrm>
            <a:off x="347294" y="1112388"/>
            <a:ext cx="1231265" cy="1803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000" dirty="0">
                <a:solidFill>
                  <a:srgbClr val="22373A"/>
                </a:solidFill>
                <a:latin typeface="Tahoma"/>
                <a:cs typeface="Tahoma"/>
              </a:rPr>
              <a:t>Сетевые</a:t>
            </a:r>
            <a:r>
              <a:rPr sz="1000" spc="-6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22373A"/>
                </a:solidFill>
                <a:latin typeface="Tahoma"/>
                <a:cs typeface="Tahoma"/>
              </a:rPr>
              <a:t>технологии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59994" y="1511255"/>
            <a:ext cx="5040630" cy="5080"/>
          </a:xfrm>
          <a:custGeom>
            <a:avLst/>
            <a:gdLst/>
            <a:ahLst/>
            <a:cxnLst/>
            <a:rect l="l" t="t" r="r" b="b"/>
            <a:pathLst>
              <a:path w="5040630" h="5080">
                <a:moveTo>
                  <a:pt x="0" y="5060"/>
                </a:moveTo>
                <a:lnTo>
                  <a:pt x="0" y="0"/>
                </a:lnTo>
                <a:lnTo>
                  <a:pt x="5040064" y="0"/>
                </a:lnTo>
                <a:lnTo>
                  <a:pt x="5040064" y="5060"/>
                </a:lnTo>
                <a:lnTo>
                  <a:pt x="0" y="5060"/>
                </a:lnTo>
                <a:close/>
              </a:path>
            </a:pathLst>
          </a:custGeom>
          <a:solidFill>
            <a:srgbClr val="EB80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47294" y="1713071"/>
            <a:ext cx="3352800" cy="881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490470">
              <a:lnSpc>
                <a:spcPct val="155500"/>
              </a:lnSpc>
              <a:spcBef>
                <a:spcPts val="100"/>
              </a:spcBef>
            </a:pPr>
            <a:r>
              <a:rPr lang="ru-RU" sz="850" dirty="0">
                <a:solidFill>
                  <a:srgbClr val="22373A"/>
                </a:solidFill>
                <a:latin typeface="Tahoma"/>
                <a:cs typeface="Tahoma"/>
              </a:rPr>
              <a:t>Сахно Никита НФИбд-02-23</a:t>
            </a:r>
          </a:p>
          <a:p>
            <a:pPr marL="12700" marR="2490470">
              <a:lnSpc>
                <a:spcPct val="155500"/>
              </a:lnSpc>
              <a:spcBef>
                <a:spcPts val="100"/>
              </a:spcBef>
            </a:pPr>
            <a:r>
              <a:rPr lang="ru-RU" sz="850" spc="-45" dirty="0">
                <a:solidFill>
                  <a:srgbClr val="22373A"/>
                </a:solidFill>
                <a:latin typeface="Tahoma"/>
                <a:cs typeface="Tahoma"/>
              </a:rPr>
              <a:t>10</a:t>
            </a:r>
            <a:r>
              <a:rPr sz="850" spc="-4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lang="ru-RU" sz="850" spc="-45" dirty="0">
                <a:solidFill>
                  <a:srgbClr val="22373A"/>
                </a:solidFill>
                <a:latin typeface="Tahoma"/>
                <a:cs typeface="Tahoma"/>
              </a:rPr>
              <a:t>декабря</a:t>
            </a:r>
            <a:r>
              <a:rPr sz="850" spc="-4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850" spc="-50" dirty="0">
                <a:solidFill>
                  <a:srgbClr val="22373A"/>
                </a:solidFill>
                <a:latin typeface="Tahoma"/>
                <a:cs typeface="Tahoma"/>
              </a:rPr>
              <a:t>202</a:t>
            </a:r>
            <a:r>
              <a:rPr lang="ru-RU" sz="850" spc="-50" dirty="0">
                <a:solidFill>
                  <a:srgbClr val="22373A"/>
                </a:solidFill>
                <a:latin typeface="Tahoma"/>
                <a:cs typeface="Tahoma"/>
              </a:rPr>
              <a:t>5</a:t>
            </a:r>
            <a:endParaRPr sz="85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85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650" spc="10" dirty="0">
                <a:solidFill>
                  <a:srgbClr val="22373A"/>
                </a:solidFill>
                <a:latin typeface="Tahoma"/>
                <a:cs typeface="Tahoma"/>
              </a:rPr>
              <a:t>Российский</a:t>
            </a:r>
            <a:r>
              <a:rPr sz="650" spc="3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650" spc="10" dirty="0">
                <a:solidFill>
                  <a:srgbClr val="22373A"/>
                </a:solidFill>
                <a:latin typeface="Tahoma"/>
                <a:cs typeface="Tahoma"/>
              </a:rPr>
              <a:t>университет</a:t>
            </a:r>
            <a:r>
              <a:rPr sz="650" spc="4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650" spc="10" dirty="0">
                <a:solidFill>
                  <a:srgbClr val="22373A"/>
                </a:solidFill>
                <a:latin typeface="Tahoma"/>
                <a:cs typeface="Tahoma"/>
              </a:rPr>
              <a:t>дружбы</a:t>
            </a:r>
            <a:r>
              <a:rPr sz="650" spc="3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650" spc="10" dirty="0">
                <a:solidFill>
                  <a:srgbClr val="22373A"/>
                </a:solidFill>
                <a:latin typeface="Tahoma"/>
                <a:cs typeface="Tahoma"/>
              </a:rPr>
              <a:t>народов</a:t>
            </a:r>
            <a:r>
              <a:rPr sz="650" spc="4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650" spc="10" dirty="0">
                <a:solidFill>
                  <a:srgbClr val="22373A"/>
                </a:solidFill>
                <a:latin typeface="Tahoma"/>
                <a:cs typeface="Tahoma"/>
              </a:rPr>
              <a:t>имени</a:t>
            </a:r>
            <a:r>
              <a:rPr sz="650" spc="3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650" spc="10" dirty="0">
                <a:solidFill>
                  <a:srgbClr val="22373A"/>
                </a:solidFill>
                <a:latin typeface="Tahoma"/>
                <a:cs typeface="Tahoma"/>
              </a:rPr>
              <a:t>Патриса</a:t>
            </a:r>
            <a:r>
              <a:rPr sz="650" spc="4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650" dirty="0">
                <a:solidFill>
                  <a:srgbClr val="22373A"/>
                </a:solidFill>
                <a:latin typeface="Tahoma"/>
                <a:cs typeface="Tahoma"/>
              </a:rPr>
              <a:t>Лумумбы,</a:t>
            </a:r>
            <a:r>
              <a:rPr sz="650" spc="4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650" spc="10" dirty="0">
                <a:solidFill>
                  <a:srgbClr val="22373A"/>
                </a:solidFill>
                <a:latin typeface="Tahoma"/>
                <a:cs typeface="Tahoma"/>
              </a:rPr>
              <a:t>Москва,</a:t>
            </a:r>
            <a:r>
              <a:rPr sz="650" spc="3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650" spc="-10" dirty="0">
                <a:solidFill>
                  <a:srgbClr val="22373A"/>
                </a:solidFill>
                <a:latin typeface="Tahoma"/>
                <a:cs typeface="Tahoma"/>
              </a:rPr>
              <a:t>Россия</a:t>
            </a:r>
            <a:endParaRPr sz="650" dirty="0">
              <a:latin typeface="Tahoma"/>
              <a:cs typeface="Tahom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35560">
              <a:lnSpc>
                <a:spcPct val="100000"/>
              </a:lnSpc>
              <a:spcBef>
                <a:spcPts val="165"/>
              </a:spcBef>
            </a:pPr>
            <a:fld id="{81D60167-4931-47E6-BA6A-407CBD079E47}" type="slidenum">
              <a:rPr spc="-10" dirty="0"/>
              <a:t>1</a:t>
            </a:fld>
            <a:r>
              <a:rPr spc="-10" dirty="0"/>
              <a:t>/33</a:t>
            </a: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Докладчик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358793"/>
            <a:ext cx="5760085" cy="5080"/>
            <a:chOff x="0" y="358793"/>
            <a:chExt cx="5760085" cy="5080"/>
          </a:xfrm>
        </p:grpSpPr>
        <p:sp>
          <p:nvSpPr>
            <p:cNvPr id="4" name="object 4"/>
            <p:cNvSpPr/>
            <p:nvPr/>
          </p:nvSpPr>
          <p:spPr>
            <a:xfrm>
              <a:off x="0" y="361327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5879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58793"/>
              <a:ext cx="349250" cy="5080"/>
            </a:xfrm>
            <a:custGeom>
              <a:avLst/>
              <a:gdLst/>
              <a:ahLst/>
              <a:cxnLst/>
              <a:rect l="l" t="t" r="r" b="b"/>
              <a:pathLst>
                <a:path w="349250" h="5079">
                  <a:moveTo>
                    <a:pt x="0" y="5060"/>
                  </a:moveTo>
                  <a:lnTo>
                    <a:pt x="0" y="0"/>
                  </a:lnTo>
                  <a:lnTo>
                    <a:pt x="349105" y="0"/>
                  </a:lnTo>
                  <a:lnTo>
                    <a:pt x="34910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0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85368" y="1095530"/>
            <a:ext cx="3272154" cy="1015365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116839" indent="-104139">
              <a:lnSpc>
                <a:spcPct val="100000"/>
              </a:lnSpc>
              <a:spcBef>
                <a:spcPts val="570"/>
              </a:spcBef>
              <a:buChar char="•"/>
              <a:tabLst>
                <a:tab pos="116839" algn="l"/>
              </a:tabLst>
            </a:pPr>
            <a:r>
              <a:rPr lang="ru-RU" sz="900" dirty="0">
                <a:solidFill>
                  <a:srgbClr val="22373A"/>
                </a:solidFill>
                <a:latin typeface="Tahoma"/>
                <a:cs typeface="Tahoma"/>
              </a:rPr>
              <a:t>Сахно Никита Вячеславович</a:t>
            </a:r>
            <a:endParaRPr sz="900" dirty="0">
              <a:latin typeface="Tahoma"/>
              <a:cs typeface="Tahoma"/>
            </a:endParaRPr>
          </a:p>
          <a:p>
            <a:pPr marL="116839" indent="-104139">
              <a:lnSpc>
                <a:spcPct val="100000"/>
              </a:lnSpc>
              <a:spcBef>
                <a:spcPts val="480"/>
              </a:spcBef>
              <a:buChar char="•"/>
              <a:tabLst>
                <a:tab pos="116839" algn="l"/>
              </a:tabLst>
            </a:pP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учебная</a:t>
            </a:r>
            <a:r>
              <a:rPr sz="900" spc="4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группа:</a:t>
            </a:r>
            <a:r>
              <a:rPr sz="900" spc="4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lang="ru-RU" sz="900" dirty="0">
                <a:solidFill>
                  <a:srgbClr val="22373A"/>
                </a:solidFill>
                <a:latin typeface="Tahoma"/>
                <a:cs typeface="Tahoma"/>
              </a:rPr>
              <a:t>НФИбд-02-23</a:t>
            </a:r>
            <a:endParaRPr sz="900" dirty="0">
              <a:latin typeface="Tahoma"/>
              <a:cs typeface="Tahoma"/>
            </a:endParaRPr>
          </a:p>
          <a:p>
            <a:pPr marL="116839" indent="-104139">
              <a:lnSpc>
                <a:spcPct val="100000"/>
              </a:lnSpc>
              <a:spcBef>
                <a:spcPts val="480"/>
              </a:spcBef>
              <a:buChar char="•"/>
              <a:tabLst>
                <a:tab pos="116839" algn="l"/>
              </a:tabLst>
            </a:pPr>
            <a:r>
              <a:rPr sz="900" spc="-10" dirty="0">
                <a:solidFill>
                  <a:srgbClr val="22373A"/>
                </a:solidFill>
                <a:latin typeface="Tahoma"/>
                <a:cs typeface="Tahoma"/>
                <a:hlinkClick r:id="rId2"/>
              </a:rPr>
              <a:t>1</a:t>
            </a:r>
            <a:r>
              <a:rPr lang="ru-RU" sz="900" spc="-10" dirty="0">
                <a:solidFill>
                  <a:srgbClr val="22373A"/>
                </a:solidFill>
                <a:latin typeface="Tahoma"/>
                <a:cs typeface="Tahoma"/>
                <a:hlinkClick r:id="rId2"/>
              </a:rPr>
              <a:t>132230298</a:t>
            </a:r>
            <a:r>
              <a:rPr sz="900" spc="-10" dirty="0">
                <a:solidFill>
                  <a:srgbClr val="22373A"/>
                </a:solidFill>
                <a:latin typeface="Tahoma"/>
                <a:cs typeface="Tahoma"/>
                <a:hlinkClick r:id="rId2"/>
              </a:rPr>
              <a:t>@pfur.ru</a:t>
            </a:r>
            <a:endParaRPr sz="900" dirty="0">
              <a:latin typeface="Tahoma"/>
              <a:cs typeface="Tahoma"/>
            </a:endParaRPr>
          </a:p>
          <a:p>
            <a:pPr marL="115570" marR="5080" indent="-103505">
              <a:lnSpc>
                <a:spcPct val="144300"/>
              </a:lnSpc>
              <a:buChar char="•"/>
              <a:tabLst>
                <a:tab pos="115570" algn="l"/>
              </a:tabLst>
            </a:pP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Российский</a:t>
            </a:r>
            <a:r>
              <a:rPr sz="900" spc="10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университет</a:t>
            </a:r>
            <a:r>
              <a:rPr sz="900" spc="11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дружбы</a:t>
            </a:r>
            <a:r>
              <a:rPr sz="900" spc="11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народов</a:t>
            </a:r>
            <a:r>
              <a:rPr sz="900" spc="11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имени</a:t>
            </a:r>
            <a:r>
              <a:rPr sz="900" spc="11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Tahoma"/>
                <a:cs typeface="Tahoma"/>
              </a:rPr>
              <a:t>Патриса Лумумбы</a:t>
            </a:r>
            <a:endParaRPr sz="900" dirty="0">
              <a:latin typeface="Tahoma"/>
              <a:cs typeface="Tahom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35560">
              <a:lnSpc>
                <a:spcPct val="100000"/>
              </a:lnSpc>
              <a:spcBef>
                <a:spcPts val="165"/>
              </a:spcBef>
            </a:pPr>
            <a:fld id="{81D60167-4931-47E6-BA6A-407CBD079E47}" type="slidenum">
              <a:rPr spc="-10" dirty="0"/>
              <a:t>2</a:t>
            </a:fld>
            <a:r>
              <a:rPr spc="-10" dirty="0"/>
              <a:t>/33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38A09A2-078B-FEE0-FDF1-28538F67E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8874" y="679073"/>
            <a:ext cx="1331709" cy="1998345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2631" y="82852"/>
            <a:ext cx="76517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spc="-10" dirty="0">
                <a:solidFill>
                  <a:srgbClr val="F9F9F9"/>
                </a:solidFill>
                <a:latin typeface="Trebuchet MS"/>
                <a:cs typeface="Trebuchet MS"/>
              </a:rPr>
              <a:t>Содержание</a:t>
            </a:r>
            <a:endParaRPr sz="10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358793"/>
            <a:ext cx="5760085" cy="5080"/>
            <a:chOff x="0" y="358793"/>
            <a:chExt cx="5760085" cy="5080"/>
          </a:xfrm>
        </p:grpSpPr>
        <p:sp>
          <p:nvSpPr>
            <p:cNvPr id="4" name="object 4"/>
            <p:cNvSpPr/>
            <p:nvPr/>
          </p:nvSpPr>
          <p:spPr>
            <a:xfrm>
              <a:off x="0" y="361327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5879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58793"/>
              <a:ext cx="523875" cy="5080"/>
            </a:xfrm>
            <a:custGeom>
              <a:avLst/>
              <a:gdLst/>
              <a:ahLst/>
              <a:cxnLst/>
              <a:rect l="l" t="t" r="r" b="b"/>
              <a:pathLst>
                <a:path w="523875" h="5079">
                  <a:moveTo>
                    <a:pt x="0" y="5060"/>
                  </a:moveTo>
                  <a:lnTo>
                    <a:pt x="0" y="0"/>
                  </a:lnTo>
                  <a:lnTo>
                    <a:pt x="523658" y="0"/>
                  </a:lnTo>
                  <a:lnTo>
                    <a:pt x="523658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0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69849" y="1241072"/>
            <a:ext cx="1348105" cy="817244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167640" indent="-142875">
              <a:lnSpc>
                <a:spcPct val="100000"/>
              </a:lnSpc>
              <a:spcBef>
                <a:spcPts val="570"/>
              </a:spcBef>
              <a:buAutoNum type="arabicPeriod"/>
              <a:tabLst>
                <a:tab pos="167640" algn="l"/>
              </a:tabLst>
            </a:pPr>
            <a:r>
              <a:rPr sz="900" spc="-20" dirty="0">
                <a:solidFill>
                  <a:srgbClr val="22373A"/>
                </a:solidFill>
                <a:latin typeface="Tahoma"/>
                <a:cs typeface="Tahoma"/>
              </a:rPr>
              <a:t>Цель</a:t>
            </a:r>
            <a:endParaRPr sz="900">
              <a:latin typeface="Tahoma"/>
              <a:cs typeface="Tahoma"/>
            </a:endParaRPr>
          </a:p>
          <a:p>
            <a:pPr marL="168275" indent="-151130">
              <a:lnSpc>
                <a:spcPct val="100000"/>
              </a:lnSpc>
              <a:spcBef>
                <a:spcPts val="480"/>
              </a:spcBef>
              <a:buAutoNum type="arabicPeriod"/>
              <a:tabLst>
                <a:tab pos="168275" algn="l"/>
              </a:tabLst>
            </a:pPr>
            <a:r>
              <a:rPr sz="900" spc="-10" dirty="0">
                <a:solidFill>
                  <a:srgbClr val="22373A"/>
                </a:solidFill>
                <a:latin typeface="Tahoma"/>
                <a:cs typeface="Tahoma"/>
              </a:rPr>
              <a:t>Задания</a:t>
            </a:r>
            <a:endParaRPr sz="900">
              <a:latin typeface="Tahoma"/>
              <a:cs typeface="Tahoma"/>
            </a:endParaRPr>
          </a:p>
          <a:p>
            <a:pPr marL="167640" indent="-151765">
              <a:lnSpc>
                <a:spcPct val="100000"/>
              </a:lnSpc>
              <a:spcBef>
                <a:spcPts val="480"/>
              </a:spcBef>
              <a:buAutoNum type="arabicPeriod"/>
              <a:tabLst>
                <a:tab pos="167640" algn="l"/>
              </a:tabLst>
            </a:pP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Процесс</a:t>
            </a:r>
            <a:r>
              <a:rPr sz="900" spc="9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Tahoma"/>
                <a:cs typeface="Tahoma"/>
              </a:rPr>
              <a:t>выполнения</a:t>
            </a:r>
            <a:endParaRPr sz="900">
              <a:latin typeface="Tahoma"/>
              <a:cs typeface="Tahoma"/>
            </a:endParaRPr>
          </a:p>
          <a:p>
            <a:pPr marL="168275" indent="-155575">
              <a:lnSpc>
                <a:spcPct val="100000"/>
              </a:lnSpc>
              <a:spcBef>
                <a:spcPts val="475"/>
              </a:spcBef>
              <a:buAutoNum type="arabicPeriod"/>
              <a:tabLst>
                <a:tab pos="168275" algn="l"/>
              </a:tabLst>
            </a:pPr>
            <a:r>
              <a:rPr sz="900" spc="-10" dirty="0">
                <a:solidFill>
                  <a:srgbClr val="22373A"/>
                </a:solidFill>
                <a:latin typeface="Tahoma"/>
                <a:cs typeface="Tahoma"/>
              </a:rPr>
              <a:t>Вывод</a:t>
            </a:r>
            <a:endParaRPr sz="900">
              <a:latin typeface="Tahoma"/>
              <a:cs typeface="Tahom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35560">
              <a:lnSpc>
                <a:spcPct val="100000"/>
              </a:lnSpc>
              <a:spcBef>
                <a:spcPts val="165"/>
              </a:spcBef>
            </a:pPr>
            <a:fld id="{81D60167-4931-47E6-BA6A-407CBD079E47}" type="slidenum">
              <a:rPr spc="-10" dirty="0"/>
              <a:t>3</a:t>
            </a:fld>
            <a:r>
              <a:rPr spc="-10" dirty="0"/>
              <a:t>/33</a:t>
            </a: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Цель</a:t>
            </a:r>
            <a:r>
              <a:rPr spc="-20" dirty="0"/>
              <a:t> </a:t>
            </a:r>
            <a:r>
              <a:rPr spc="-10" dirty="0"/>
              <a:t>работы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358793"/>
            <a:ext cx="5760085" cy="5080"/>
            <a:chOff x="0" y="358793"/>
            <a:chExt cx="5760085" cy="5080"/>
          </a:xfrm>
        </p:grpSpPr>
        <p:sp>
          <p:nvSpPr>
            <p:cNvPr id="4" name="object 4"/>
            <p:cNvSpPr/>
            <p:nvPr/>
          </p:nvSpPr>
          <p:spPr>
            <a:xfrm>
              <a:off x="0" y="361327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5879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58793"/>
              <a:ext cx="698500" cy="5080"/>
            </a:xfrm>
            <a:custGeom>
              <a:avLst/>
              <a:gdLst/>
              <a:ahLst/>
              <a:cxnLst/>
              <a:rect l="l" t="t" r="r" b="b"/>
              <a:pathLst>
                <a:path w="698500" h="5079">
                  <a:moveTo>
                    <a:pt x="0" y="5060"/>
                  </a:moveTo>
                  <a:lnTo>
                    <a:pt x="0" y="0"/>
                  </a:lnTo>
                  <a:lnTo>
                    <a:pt x="698211" y="0"/>
                  </a:lnTo>
                  <a:lnTo>
                    <a:pt x="69821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0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47294" y="1237542"/>
            <a:ext cx="5066030" cy="8172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4300"/>
              </a:lnSpc>
              <a:spcBef>
                <a:spcPts val="95"/>
              </a:spcBef>
            </a:pPr>
            <a:r>
              <a:rPr sz="900" spc="10" dirty="0">
                <a:solidFill>
                  <a:srgbClr val="22373A"/>
                </a:solidFill>
                <a:latin typeface="Tahoma"/>
                <a:cs typeface="Tahoma"/>
              </a:rPr>
              <a:t>Изучить</a:t>
            </a:r>
            <a:r>
              <a:rPr sz="900" spc="4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2373A"/>
                </a:solidFill>
                <a:latin typeface="Tahoma"/>
                <a:cs typeface="Tahoma"/>
              </a:rPr>
              <a:t>методы</a:t>
            </a:r>
            <a:r>
              <a:rPr sz="900" spc="4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2373A"/>
                </a:solidFill>
                <a:latin typeface="Tahoma"/>
                <a:cs typeface="Tahoma"/>
              </a:rPr>
              <a:t>кодирования</a:t>
            </a:r>
            <a:r>
              <a:rPr sz="900" spc="4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2373A"/>
                </a:solidFill>
                <a:latin typeface="Tahoma"/>
                <a:cs typeface="Tahoma"/>
              </a:rPr>
              <a:t>и</a:t>
            </a:r>
            <a:r>
              <a:rPr sz="900" spc="4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2373A"/>
                </a:solidFill>
                <a:latin typeface="Tahoma"/>
                <a:cs typeface="Tahoma"/>
              </a:rPr>
              <a:t>модуляции</a:t>
            </a:r>
            <a:r>
              <a:rPr sz="900" spc="4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2373A"/>
                </a:solidFill>
                <a:latin typeface="Tahoma"/>
                <a:cs typeface="Tahoma"/>
              </a:rPr>
              <a:t>сигналов</a:t>
            </a:r>
            <a:r>
              <a:rPr sz="900" spc="4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2373A"/>
                </a:solidFill>
                <a:latin typeface="Tahoma"/>
                <a:cs typeface="Tahoma"/>
              </a:rPr>
              <a:t>с</a:t>
            </a:r>
            <a:r>
              <a:rPr sz="900" spc="4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2373A"/>
                </a:solidFill>
                <a:latin typeface="Tahoma"/>
                <a:cs typeface="Tahoma"/>
              </a:rPr>
              <a:t>помощью</a:t>
            </a:r>
            <a:r>
              <a:rPr sz="900" spc="4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2373A"/>
                </a:solidFill>
                <a:latin typeface="Tahoma"/>
                <a:cs typeface="Tahoma"/>
              </a:rPr>
              <a:t>высокоуровнего</a:t>
            </a:r>
            <a:r>
              <a:rPr sz="900" spc="4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Tahoma"/>
                <a:cs typeface="Tahoma"/>
              </a:rPr>
              <a:t>языка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программирования</a:t>
            </a:r>
            <a:r>
              <a:rPr sz="900" spc="9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octave.</a:t>
            </a:r>
            <a:r>
              <a:rPr sz="900" spc="10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Определить</a:t>
            </a:r>
            <a:r>
              <a:rPr sz="900" spc="10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спектр</a:t>
            </a:r>
            <a:r>
              <a:rPr sz="900" spc="9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и</a:t>
            </a:r>
            <a:r>
              <a:rPr sz="900" spc="10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параметры</a:t>
            </a:r>
            <a:r>
              <a:rPr sz="900" spc="10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сигнала.</a:t>
            </a:r>
            <a:r>
              <a:rPr sz="900" spc="9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Tahoma"/>
                <a:cs typeface="Tahoma"/>
              </a:rPr>
              <a:t>Продемонстрировать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принципы</a:t>
            </a:r>
            <a:r>
              <a:rPr sz="900" spc="5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модуляции</a:t>
            </a:r>
            <a:r>
              <a:rPr sz="900" spc="5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сигнала</a:t>
            </a:r>
            <a:r>
              <a:rPr sz="900" spc="5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на</a:t>
            </a:r>
            <a:r>
              <a:rPr sz="900" spc="5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примере</a:t>
            </a:r>
            <a:r>
              <a:rPr sz="900" spc="5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аналоговой</a:t>
            </a:r>
            <a:r>
              <a:rPr sz="900" spc="5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амплитудной</a:t>
            </a:r>
            <a:r>
              <a:rPr sz="900" spc="5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модуляции.</a:t>
            </a:r>
            <a:r>
              <a:rPr sz="900" spc="5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Tahoma"/>
                <a:cs typeface="Tahoma"/>
              </a:rPr>
              <a:t>Исследовать </a:t>
            </a:r>
            <a:r>
              <a:rPr sz="900" spc="10" dirty="0">
                <a:solidFill>
                  <a:srgbClr val="22373A"/>
                </a:solidFill>
                <a:latin typeface="Tahoma"/>
                <a:cs typeface="Tahoma"/>
              </a:rPr>
              <a:t>свойства</a:t>
            </a:r>
            <a:r>
              <a:rPr sz="900" spc="12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2373A"/>
                </a:solidFill>
                <a:latin typeface="Tahoma"/>
                <a:cs typeface="Tahoma"/>
              </a:rPr>
              <a:t>самосинхронизации</a:t>
            </a:r>
            <a:r>
              <a:rPr sz="900" spc="12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Tahoma"/>
                <a:cs typeface="Tahoma"/>
              </a:rPr>
              <a:t>сигнала.</a:t>
            </a:r>
            <a:endParaRPr sz="900">
              <a:latin typeface="Tahoma"/>
              <a:cs typeface="Tahom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35560">
              <a:lnSpc>
                <a:spcPct val="100000"/>
              </a:lnSpc>
              <a:spcBef>
                <a:spcPts val="165"/>
              </a:spcBef>
            </a:pPr>
            <a:fld id="{81D60167-4931-47E6-BA6A-407CBD079E47}" type="slidenum">
              <a:rPr spc="-10" dirty="0"/>
              <a:t>4</a:t>
            </a:fld>
            <a:r>
              <a:rPr spc="-10" dirty="0"/>
              <a:t>/33</a:t>
            </a: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Задание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358793"/>
            <a:ext cx="5760085" cy="5080"/>
            <a:chOff x="0" y="358793"/>
            <a:chExt cx="5760085" cy="5080"/>
          </a:xfrm>
        </p:grpSpPr>
        <p:sp>
          <p:nvSpPr>
            <p:cNvPr id="4" name="object 4"/>
            <p:cNvSpPr/>
            <p:nvPr/>
          </p:nvSpPr>
          <p:spPr>
            <a:xfrm>
              <a:off x="0" y="361327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5879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58793"/>
              <a:ext cx="873125" cy="5080"/>
            </a:xfrm>
            <a:custGeom>
              <a:avLst/>
              <a:gdLst/>
              <a:ahLst/>
              <a:cxnLst/>
              <a:rect l="l" t="t" r="r" b="b"/>
              <a:pathLst>
                <a:path w="873125" h="5079">
                  <a:moveTo>
                    <a:pt x="0" y="5060"/>
                  </a:moveTo>
                  <a:lnTo>
                    <a:pt x="0" y="0"/>
                  </a:lnTo>
                  <a:lnTo>
                    <a:pt x="872764" y="0"/>
                  </a:lnTo>
                  <a:lnTo>
                    <a:pt x="87276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0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69849" y="841771"/>
            <a:ext cx="4571365" cy="1609090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167640" indent="-142875">
              <a:lnSpc>
                <a:spcPct val="100000"/>
              </a:lnSpc>
              <a:spcBef>
                <a:spcPts val="570"/>
              </a:spcBef>
              <a:buAutoNum type="arabicPeriod"/>
              <a:tabLst>
                <a:tab pos="167640" algn="l"/>
              </a:tabLst>
            </a:pP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Построить</a:t>
            </a:r>
            <a:r>
              <a:rPr sz="900" spc="8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графики</a:t>
            </a:r>
            <a:r>
              <a:rPr sz="900" spc="8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в</a:t>
            </a:r>
            <a:r>
              <a:rPr sz="900" spc="8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Tahoma"/>
                <a:cs typeface="Tahoma"/>
              </a:rPr>
              <a:t>octave;</a:t>
            </a:r>
            <a:endParaRPr sz="900">
              <a:latin typeface="Tahoma"/>
              <a:cs typeface="Tahoma"/>
            </a:endParaRPr>
          </a:p>
          <a:p>
            <a:pPr marL="168275" indent="-151130">
              <a:lnSpc>
                <a:spcPct val="100000"/>
              </a:lnSpc>
              <a:spcBef>
                <a:spcPts val="480"/>
              </a:spcBef>
              <a:buAutoNum type="arabicPeriod"/>
              <a:tabLst>
                <a:tab pos="168275" algn="l"/>
              </a:tabLst>
            </a:pP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Разложить</a:t>
            </a:r>
            <a:r>
              <a:rPr sz="900" spc="8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импульсный</a:t>
            </a:r>
            <a:r>
              <a:rPr sz="900" spc="8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сигнал</a:t>
            </a:r>
            <a:r>
              <a:rPr sz="900" spc="8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в</a:t>
            </a:r>
            <a:r>
              <a:rPr sz="900" spc="8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частичный</a:t>
            </a:r>
            <a:r>
              <a:rPr sz="900" spc="8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ряд</a:t>
            </a:r>
            <a:r>
              <a:rPr sz="900" spc="8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Tahoma"/>
                <a:cs typeface="Tahoma"/>
              </a:rPr>
              <a:t>Фурье;</a:t>
            </a:r>
            <a:endParaRPr sz="900">
              <a:latin typeface="Tahoma"/>
              <a:cs typeface="Tahoma"/>
            </a:endParaRPr>
          </a:p>
          <a:p>
            <a:pPr marL="167640" indent="-151765">
              <a:lnSpc>
                <a:spcPct val="100000"/>
              </a:lnSpc>
              <a:spcBef>
                <a:spcPts val="480"/>
              </a:spcBef>
              <a:buAutoNum type="arabicPeriod"/>
              <a:tabLst>
                <a:tab pos="167640" algn="l"/>
              </a:tabLst>
            </a:pP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Определить</a:t>
            </a:r>
            <a:r>
              <a:rPr sz="900" spc="6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спектр</a:t>
            </a:r>
            <a:r>
              <a:rPr sz="900" spc="6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и</a:t>
            </a:r>
            <a:r>
              <a:rPr sz="900" spc="6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параметры</a:t>
            </a:r>
            <a:r>
              <a:rPr sz="900" spc="7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Tahoma"/>
                <a:cs typeface="Tahoma"/>
              </a:rPr>
              <a:t>сигнала;</a:t>
            </a:r>
            <a:endParaRPr sz="900">
              <a:latin typeface="Tahoma"/>
              <a:cs typeface="Tahoma"/>
            </a:endParaRPr>
          </a:p>
          <a:p>
            <a:pPr marL="167005" marR="185420" indent="-154940">
              <a:lnSpc>
                <a:spcPct val="144300"/>
              </a:lnSpc>
              <a:buAutoNum type="arabicPeriod"/>
              <a:tabLst>
                <a:tab pos="167005" algn="l"/>
              </a:tabLst>
            </a:pPr>
            <a:r>
              <a:rPr sz="900" spc="10" dirty="0">
                <a:solidFill>
                  <a:srgbClr val="22373A"/>
                </a:solidFill>
                <a:latin typeface="Tahoma"/>
                <a:cs typeface="Tahoma"/>
              </a:rPr>
              <a:t>Продемонстрировать</a:t>
            </a:r>
            <a:r>
              <a:rPr sz="900" spc="6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2373A"/>
                </a:solidFill>
                <a:latin typeface="Tahoma"/>
                <a:cs typeface="Tahoma"/>
              </a:rPr>
              <a:t>принципы</a:t>
            </a:r>
            <a:r>
              <a:rPr sz="900" spc="6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2373A"/>
                </a:solidFill>
                <a:latin typeface="Tahoma"/>
                <a:cs typeface="Tahoma"/>
              </a:rPr>
              <a:t>модуляции</a:t>
            </a:r>
            <a:r>
              <a:rPr sz="900" spc="6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2373A"/>
                </a:solidFill>
                <a:latin typeface="Tahoma"/>
                <a:cs typeface="Tahoma"/>
              </a:rPr>
              <a:t>сигнала</a:t>
            </a:r>
            <a:r>
              <a:rPr sz="900" spc="6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2373A"/>
                </a:solidFill>
                <a:latin typeface="Tahoma"/>
                <a:cs typeface="Tahoma"/>
              </a:rPr>
              <a:t>на</a:t>
            </a:r>
            <a:r>
              <a:rPr sz="900" spc="6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2373A"/>
                </a:solidFill>
                <a:latin typeface="Tahoma"/>
                <a:cs typeface="Tahoma"/>
              </a:rPr>
              <a:t>примере</a:t>
            </a:r>
            <a:r>
              <a:rPr sz="900" spc="6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Tahoma"/>
                <a:cs typeface="Tahoma"/>
              </a:rPr>
              <a:t>аналоговой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амплитудной</a:t>
            </a:r>
            <a:r>
              <a:rPr sz="900" spc="13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Tahoma"/>
                <a:cs typeface="Tahoma"/>
              </a:rPr>
              <a:t>модуляции;</a:t>
            </a:r>
            <a:endParaRPr sz="900">
              <a:latin typeface="Tahoma"/>
              <a:cs typeface="Tahoma"/>
            </a:endParaRPr>
          </a:p>
          <a:p>
            <a:pPr marL="167005" marR="5080" indent="-151130">
              <a:lnSpc>
                <a:spcPct val="144300"/>
              </a:lnSpc>
              <a:buAutoNum type="arabicPeriod"/>
              <a:tabLst>
                <a:tab pos="167005" algn="l"/>
              </a:tabLst>
            </a:pP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По</a:t>
            </a:r>
            <a:r>
              <a:rPr sz="900" spc="8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заданным</a:t>
            </a:r>
            <a:r>
              <a:rPr sz="900" spc="9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битовым</a:t>
            </a:r>
            <a:r>
              <a:rPr sz="900" spc="9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последовательностям</a:t>
            </a:r>
            <a:r>
              <a:rPr sz="900" spc="9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требуется</a:t>
            </a:r>
            <a:r>
              <a:rPr sz="900" spc="9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получить</a:t>
            </a:r>
            <a:r>
              <a:rPr sz="900" spc="9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Tahoma"/>
                <a:cs typeface="Tahoma"/>
              </a:rPr>
              <a:t>кодированные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сигналы</a:t>
            </a:r>
            <a:r>
              <a:rPr sz="900" spc="9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для</a:t>
            </a:r>
            <a:r>
              <a:rPr sz="900" spc="10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нескольких</a:t>
            </a:r>
            <a:r>
              <a:rPr sz="900" spc="9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кодов,</a:t>
            </a:r>
            <a:r>
              <a:rPr sz="900" spc="10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проверить</a:t>
            </a:r>
            <a:r>
              <a:rPr sz="900" spc="10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свойства</a:t>
            </a:r>
            <a:r>
              <a:rPr sz="900" spc="9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Tahoma"/>
                <a:cs typeface="Tahoma"/>
              </a:rPr>
              <a:t>самосинхронизуемости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кодов,получить</a:t>
            </a:r>
            <a:r>
              <a:rPr sz="900" spc="8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Tahoma"/>
                <a:cs typeface="Tahoma"/>
              </a:rPr>
              <a:t>спектры.</a:t>
            </a:r>
            <a:endParaRPr sz="900">
              <a:latin typeface="Tahoma"/>
              <a:cs typeface="Tahom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35560">
              <a:lnSpc>
                <a:spcPct val="100000"/>
              </a:lnSpc>
              <a:spcBef>
                <a:spcPts val="165"/>
              </a:spcBef>
            </a:pPr>
            <a:fld id="{81D60167-4931-47E6-BA6A-407CBD079E47}" type="slidenum">
              <a:rPr spc="-10" dirty="0"/>
              <a:t>5</a:t>
            </a:fld>
            <a:r>
              <a:rPr spc="-10" dirty="0"/>
              <a:t>/33</a:t>
            </a: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Задание</a:t>
            </a:r>
            <a:r>
              <a:rPr spc="40" dirty="0"/>
              <a:t> </a:t>
            </a:r>
            <a:r>
              <a:rPr spc="30" dirty="0"/>
              <a:t>№1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358793"/>
            <a:ext cx="5760085" cy="5080"/>
            <a:chOff x="0" y="358793"/>
            <a:chExt cx="5760085" cy="5080"/>
          </a:xfrm>
        </p:grpSpPr>
        <p:sp>
          <p:nvSpPr>
            <p:cNvPr id="4" name="object 4"/>
            <p:cNvSpPr/>
            <p:nvPr/>
          </p:nvSpPr>
          <p:spPr>
            <a:xfrm>
              <a:off x="0" y="361327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5879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58793"/>
              <a:ext cx="1047750" cy="5080"/>
            </a:xfrm>
            <a:custGeom>
              <a:avLst/>
              <a:gdLst/>
              <a:ahLst/>
              <a:cxnLst/>
              <a:rect l="l" t="t" r="r" b="b"/>
              <a:pathLst>
                <a:path w="1047750" h="5079">
                  <a:moveTo>
                    <a:pt x="0" y="5060"/>
                  </a:moveTo>
                  <a:lnTo>
                    <a:pt x="0" y="0"/>
                  </a:lnTo>
                  <a:lnTo>
                    <a:pt x="1047318" y="0"/>
                  </a:lnTo>
                  <a:lnTo>
                    <a:pt x="1047318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0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47294" y="1244507"/>
            <a:ext cx="5208270" cy="85915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Построение</a:t>
            </a:r>
            <a:r>
              <a:rPr sz="900" spc="15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графика</a:t>
            </a:r>
            <a:r>
              <a:rPr sz="900" spc="15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Tahoma"/>
                <a:cs typeface="Tahoma"/>
              </a:rPr>
              <a:t>функции: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9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x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=-</a:t>
            </a:r>
            <a:r>
              <a:rPr sz="900" spc="-10" dirty="0">
                <a:solidFill>
                  <a:srgbClr val="3FA070"/>
                </a:solidFill>
                <a:latin typeface="Courier New"/>
                <a:cs typeface="Courier New"/>
              </a:rPr>
              <a:t>10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:</a:t>
            </a:r>
            <a:r>
              <a:rPr sz="900" spc="-10" dirty="0">
                <a:solidFill>
                  <a:srgbClr val="3FA070"/>
                </a:solidFill>
                <a:latin typeface="Courier New"/>
                <a:cs typeface="Courier New"/>
              </a:rPr>
              <a:t>0.1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:</a:t>
            </a:r>
            <a:r>
              <a:rPr sz="900" spc="-10" dirty="0">
                <a:solidFill>
                  <a:srgbClr val="3FA070"/>
                </a:solidFill>
                <a:latin typeface="Courier New"/>
                <a:cs typeface="Courier New"/>
              </a:rPr>
              <a:t>10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;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y1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z="900" spc="-10" dirty="0">
                <a:solidFill>
                  <a:srgbClr val="05287C"/>
                </a:solidFill>
                <a:latin typeface="Courier New"/>
                <a:cs typeface="Courier New"/>
              </a:rPr>
              <a:t>sin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(x)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+</a:t>
            </a:r>
            <a:r>
              <a:rPr sz="900" spc="-10" dirty="0">
                <a:solidFill>
                  <a:srgbClr val="3FA070"/>
                </a:solidFill>
                <a:latin typeface="Courier New"/>
                <a:cs typeface="Courier New"/>
              </a:rPr>
              <a:t>1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/</a:t>
            </a:r>
            <a:r>
              <a:rPr sz="900" spc="-10" dirty="0">
                <a:solidFill>
                  <a:srgbClr val="3FA070"/>
                </a:solidFill>
                <a:latin typeface="Courier New"/>
                <a:cs typeface="Courier New"/>
              </a:rPr>
              <a:t>3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*</a:t>
            </a:r>
            <a:r>
              <a:rPr sz="900" spc="-10" dirty="0">
                <a:solidFill>
                  <a:srgbClr val="05287C"/>
                </a:solidFill>
                <a:latin typeface="Courier New"/>
                <a:cs typeface="Courier New"/>
              </a:rPr>
              <a:t>sin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(</a:t>
            </a:r>
            <a:r>
              <a:rPr sz="900" spc="-10" dirty="0">
                <a:solidFill>
                  <a:srgbClr val="3FA070"/>
                </a:solidFill>
                <a:latin typeface="Courier New"/>
                <a:cs typeface="Courier New"/>
              </a:rPr>
              <a:t>3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*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x)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+</a:t>
            </a:r>
            <a:r>
              <a:rPr sz="900" spc="-10" dirty="0">
                <a:solidFill>
                  <a:srgbClr val="3FA070"/>
                </a:solidFill>
                <a:latin typeface="Courier New"/>
                <a:cs typeface="Courier New"/>
              </a:rPr>
              <a:t>1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/</a:t>
            </a:r>
            <a:r>
              <a:rPr sz="900" spc="-10" dirty="0">
                <a:solidFill>
                  <a:srgbClr val="3FA070"/>
                </a:solidFill>
                <a:latin typeface="Courier New"/>
                <a:cs typeface="Courier New"/>
              </a:rPr>
              <a:t>5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*</a:t>
            </a:r>
            <a:r>
              <a:rPr sz="900" spc="-10" dirty="0">
                <a:solidFill>
                  <a:srgbClr val="05287C"/>
                </a:solidFill>
                <a:latin typeface="Courier New"/>
                <a:cs typeface="Courier New"/>
              </a:rPr>
              <a:t>sin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(</a:t>
            </a:r>
            <a:r>
              <a:rPr sz="900" spc="-10" dirty="0">
                <a:solidFill>
                  <a:srgbClr val="3FA070"/>
                </a:solidFill>
                <a:latin typeface="Courier New"/>
                <a:cs typeface="Courier New"/>
              </a:rPr>
              <a:t>5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*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x)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;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900" dirty="0">
                <a:solidFill>
                  <a:srgbClr val="05287C"/>
                </a:solidFill>
                <a:latin typeface="Courier New"/>
                <a:cs typeface="Courier New"/>
              </a:rPr>
              <a:t>plot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(x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,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y1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,</a:t>
            </a:r>
            <a:r>
              <a:rPr sz="900" spc="28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3F70A0"/>
                </a:solidFill>
                <a:latin typeface="Courier New"/>
                <a:cs typeface="Courier New"/>
              </a:rPr>
              <a:t>"-ok;</a:t>
            </a:r>
            <a:r>
              <a:rPr sz="900" spc="290" dirty="0">
                <a:solidFill>
                  <a:srgbClr val="3F70A0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3F70A0"/>
                </a:solidFill>
                <a:latin typeface="Courier New"/>
                <a:cs typeface="Courier New"/>
              </a:rPr>
              <a:t>y1=sin(x)+(1/3)*sin(3*x)+(1/5)*sin(5*x);"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,</a:t>
            </a:r>
            <a:r>
              <a:rPr sz="900" spc="-10" dirty="0">
                <a:solidFill>
                  <a:srgbClr val="3F70A0"/>
                </a:solidFill>
                <a:latin typeface="Courier New"/>
                <a:cs typeface="Courier New"/>
              </a:rPr>
              <a:t>"markersize"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,</a:t>
            </a:r>
            <a:r>
              <a:rPr sz="900" spc="-10" dirty="0">
                <a:solidFill>
                  <a:srgbClr val="3FA070"/>
                </a:solidFill>
                <a:latin typeface="Courier New"/>
                <a:cs typeface="Courier New"/>
              </a:rPr>
              <a:t>4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)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35560">
              <a:lnSpc>
                <a:spcPct val="100000"/>
              </a:lnSpc>
              <a:spcBef>
                <a:spcPts val="165"/>
              </a:spcBef>
            </a:pPr>
            <a:fld id="{81D60167-4931-47E6-BA6A-407CBD079E47}" type="slidenum">
              <a:rPr spc="-10" dirty="0"/>
              <a:t>6</a:t>
            </a:fld>
            <a:r>
              <a:rPr spc="-10" dirty="0"/>
              <a:t>/33</a:t>
            </a: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2631" y="82852"/>
            <a:ext cx="75501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dirty="0">
                <a:solidFill>
                  <a:srgbClr val="F9F9F9"/>
                </a:solidFill>
                <a:latin typeface="Trebuchet MS"/>
                <a:cs typeface="Trebuchet MS"/>
              </a:rPr>
              <a:t>Задание</a:t>
            </a:r>
            <a:r>
              <a:rPr sz="1000" spc="40" dirty="0">
                <a:solidFill>
                  <a:srgbClr val="F9F9F9"/>
                </a:solidFill>
                <a:latin typeface="Trebuchet MS"/>
                <a:cs typeface="Trebuchet MS"/>
              </a:rPr>
              <a:t> </a:t>
            </a:r>
            <a:r>
              <a:rPr sz="1000" spc="30" dirty="0">
                <a:solidFill>
                  <a:srgbClr val="F9F9F9"/>
                </a:solidFill>
                <a:latin typeface="Trebuchet MS"/>
                <a:cs typeface="Trebuchet MS"/>
              </a:rPr>
              <a:t>№1</a:t>
            </a:r>
            <a:endParaRPr sz="10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358793"/>
            <a:ext cx="5760085" cy="2677160"/>
            <a:chOff x="0" y="358793"/>
            <a:chExt cx="5760085" cy="2677160"/>
          </a:xfrm>
        </p:grpSpPr>
        <p:sp>
          <p:nvSpPr>
            <p:cNvPr id="4" name="object 4"/>
            <p:cNvSpPr/>
            <p:nvPr/>
          </p:nvSpPr>
          <p:spPr>
            <a:xfrm>
              <a:off x="0" y="361327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5879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58793"/>
              <a:ext cx="1222375" cy="5080"/>
            </a:xfrm>
            <a:custGeom>
              <a:avLst/>
              <a:gdLst/>
              <a:ahLst/>
              <a:cxnLst/>
              <a:rect l="l" t="t" r="r" b="b"/>
              <a:pathLst>
                <a:path w="1222375" h="5079">
                  <a:moveTo>
                    <a:pt x="0" y="5060"/>
                  </a:moveTo>
                  <a:lnTo>
                    <a:pt x="0" y="0"/>
                  </a:lnTo>
                  <a:lnTo>
                    <a:pt x="1221870" y="0"/>
                  </a:lnTo>
                  <a:lnTo>
                    <a:pt x="122187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0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6050" y="405926"/>
              <a:ext cx="3527872" cy="2629868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35560">
              <a:lnSpc>
                <a:spcPct val="100000"/>
              </a:lnSpc>
              <a:spcBef>
                <a:spcPts val="165"/>
              </a:spcBef>
            </a:pPr>
            <a:fld id="{81D60167-4931-47E6-BA6A-407CBD079E47}" type="slidenum">
              <a:rPr spc="-10" dirty="0"/>
              <a:t>7</a:t>
            </a:fld>
            <a:r>
              <a:rPr spc="-10" dirty="0"/>
              <a:t>/33</a:t>
            </a: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2631" y="82852"/>
            <a:ext cx="75501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dirty="0">
                <a:solidFill>
                  <a:srgbClr val="F9F9F9"/>
                </a:solidFill>
                <a:latin typeface="Trebuchet MS"/>
                <a:cs typeface="Trebuchet MS"/>
              </a:rPr>
              <a:t>Задание</a:t>
            </a:r>
            <a:r>
              <a:rPr sz="1000" spc="40" dirty="0">
                <a:solidFill>
                  <a:srgbClr val="F9F9F9"/>
                </a:solidFill>
                <a:latin typeface="Trebuchet MS"/>
                <a:cs typeface="Trebuchet MS"/>
              </a:rPr>
              <a:t> </a:t>
            </a:r>
            <a:r>
              <a:rPr sz="1000" spc="30" dirty="0">
                <a:solidFill>
                  <a:srgbClr val="F9F9F9"/>
                </a:solidFill>
                <a:latin typeface="Trebuchet MS"/>
                <a:cs typeface="Trebuchet MS"/>
              </a:rPr>
              <a:t>№1</a:t>
            </a:r>
            <a:endParaRPr sz="10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358793"/>
            <a:ext cx="5760085" cy="2677160"/>
            <a:chOff x="0" y="358793"/>
            <a:chExt cx="5760085" cy="2677160"/>
          </a:xfrm>
        </p:grpSpPr>
        <p:sp>
          <p:nvSpPr>
            <p:cNvPr id="4" name="object 4"/>
            <p:cNvSpPr/>
            <p:nvPr/>
          </p:nvSpPr>
          <p:spPr>
            <a:xfrm>
              <a:off x="0" y="361327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5879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58793"/>
              <a:ext cx="1570990" cy="5080"/>
            </a:xfrm>
            <a:custGeom>
              <a:avLst/>
              <a:gdLst/>
              <a:ahLst/>
              <a:cxnLst/>
              <a:rect l="l" t="t" r="r" b="b"/>
              <a:pathLst>
                <a:path w="1570990" h="5079">
                  <a:moveTo>
                    <a:pt x="0" y="5060"/>
                  </a:moveTo>
                  <a:lnTo>
                    <a:pt x="0" y="0"/>
                  </a:lnTo>
                  <a:lnTo>
                    <a:pt x="1570889" y="0"/>
                  </a:lnTo>
                  <a:lnTo>
                    <a:pt x="157088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0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6050" y="405926"/>
              <a:ext cx="3527872" cy="2629868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35560">
              <a:lnSpc>
                <a:spcPct val="100000"/>
              </a:lnSpc>
              <a:spcBef>
                <a:spcPts val="165"/>
              </a:spcBef>
            </a:pPr>
            <a:fld id="{81D60167-4931-47E6-BA6A-407CBD079E47}" type="slidenum">
              <a:rPr spc="-10" dirty="0"/>
              <a:t>8</a:t>
            </a:fld>
            <a:r>
              <a:rPr spc="-10" dirty="0"/>
              <a:t>/33</a:t>
            </a: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Задание</a:t>
            </a:r>
            <a:r>
              <a:rPr spc="40" dirty="0"/>
              <a:t> </a:t>
            </a:r>
            <a:r>
              <a:rPr spc="65" dirty="0"/>
              <a:t>№2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358793"/>
            <a:ext cx="5760085" cy="5080"/>
            <a:chOff x="0" y="358793"/>
            <a:chExt cx="5760085" cy="5080"/>
          </a:xfrm>
        </p:grpSpPr>
        <p:sp>
          <p:nvSpPr>
            <p:cNvPr id="4" name="object 4"/>
            <p:cNvSpPr/>
            <p:nvPr/>
          </p:nvSpPr>
          <p:spPr>
            <a:xfrm>
              <a:off x="0" y="361327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5879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58793"/>
              <a:ext cx="1920239" cy="5080"/>
            </a:xfrm>
            <a:custGeom>
              <a:avLst/>
              <a:gdLst/>
              <a:ahLst/>
              <a:cxnLst/>
              <a:rect l="l" t="t" r="r" b="b"/>
              <a:pathLst>
                <a:path w="1920239" h="5079">
                  <a:moveTo>
                    <a:pt x="0" y="5060"/>
                  </a:moveTo>
                  <a:lnTo>
                    <a:pt x="0" y="0"/>
                  </a:lnTo>
                  <a:lnTo>
                    <a:pt x="1919995" y="0"/>
                  </a:lnTo>
                  <a:lnTo>
                    <a:pt x="191999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0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47294" y="655004"/>
            <a:ext cx="2687320" cy="2004695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nh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(</a:t>
            </a:r>
            <a:r>
              <a:rPr sz="900" dirty="0">
                <a:solidFill>
                  <a:srgbClr val="3FA070"/>
                </a:solidFill>
                <a:latin typeface="Courier New"/>
                <a:cs typeface="Courier New"/>
              </a:rPr>
              <a:t>1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: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N)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*</a:t>
            </a:r>
            <a:r>
              <a:rPr sz="900" dirty="0">
                <a:solidFill>
                  <a:srgbClr val="3FA070"/>
                </a:solidFill>
                <a:latin typeface="Courier New"/>
                <a:cs typeface="Courier New"/>
              </a:rPr>
              <a:t>2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-</a:t>
            </a:r>
            <a:r>
              <a:rPr sz="900" spc="-25" dirty="0">
                <a:solidFill>
                  <a:srgbClr val="3FA070"/>
                </a:solidFill>
                <a:latin typeface="Courier New"/>
                <a:cs typeface="Courier New"/>
              </a:rPr>
              <a:t>1</a:t>
            </a:r>
            <a:r>
              <a:rPr sz="900" spc="-25" dirty="0">
                <a:solidFill>
                  <a:srgbClr val="666666"/>
                </a:solidFill>
                <a:latin typeface="Courier New"/>
                <a:cs typeface="Courier New"/>
              </a:rPr>
              <a:t>;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Am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z="900" dirty="0">
                <a:solidFill>
                  <a:srgbClr val="3FA070"/>
                </a:solidFill>
                <a:latin typeface="Courier New"/>
                <a:cs typeface="Courier New"/>
              </a:rPr>
              <a:t>2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/</a:t>
            </a:r>
            <a:r>
              <a:rPr sz="900" dirty="0">
                <a:solidFill>
                  <a:srgbClr val="007F00"/>
                </a:solidFill>
                <a:latin typeface="Courier New"/>
                <a:cs typeface="Courier New"/>
              </a:rPr>
              <a:t>pi</a:t>
            </a:r>
            <a:r>
              <a:rPr sz="900" spc="5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./</a:t>
            </a:r>
            <a:r>
              <a:rPr sz="900" spc="5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Courier New"/>
                <a:cs typeface="Courier New"/>
              </a:rPr>
              <a:t>nh</a:t>
            </a:r>
            <a:r>
              <a:rPr sz="900" spc="-25" dirty="0">
                <a:solidFill>
                  <a:srgbClr val="666666"/>
                </a:solidFill>
                <a:latin typeface="Courier New"/>
                <a:cs typeface="Courier New"/>
              </a:rPr>
              <a:t>;</a:t>
            </a:r>
            <a:endParaRPr sz="900">
              <a:latin typeface="Courier New"/>
              <a:cs typeface="Courier New"/>
            </a:endParaRPr>
          </a:p>
          <a:p>
            <a:pPr marL="12700" marR="5080">
              <a:lnSpc>
                <a:spcPct val="144300"/>
              </a:lnSpc>
            </a:pP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Am(</a:t>
            </a:r>
            <a:r>
              <a:rPr sz="900" dirty="0">
                <a:solidFill>
                  <a:srgbClr val="3FA070"/>
                </a:solidFill>
                <a:latin typeface="Courier New"/>
                <a:cs typeface="Courier New"/>
              </a:rPr>
              <a:t>2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:</a:t>
            </a:r>
            <a:r>
              <a:rPr sz="900" dirty="0">
                <a:solidFill>
                  <a:srgbClr val="3FA070"/>
                </a:solidFill>
                <a:latin typeface="Courier New"/>
                <a:cs typeface="Courier New"/>
              </a:rPr>
              <a:t>2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:</a:t>
            </a:r>
            <a:r>
              <a:rPr sz="900" dirty="0">
                <a:solidFill>
                  <a:srgbClr val="007021"/>
                </a:solidFill>
                <a:latin typeface="Courier New"/>
                <a:cs typeface="Courier New"/>
              </a:rPr>
              <a:t>end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)</a:t>
            </a:r>
            <a:r>
              <a:rPr sz="900" spc="7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z="900" spc="70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-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Am(</a:t>
            </a:r>
            <a:r>
              <a:rPr sz="900" spc="-10" dirty="0">
                <a:solidFill>
                  <a:srgbClr val="3FA070"/>
                </a:solidFill>
                <a:latin typeface="Courier New"/>
                <a:cs typeface="Courier New"/>
              </a:rPr>
              <a:t>2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:</a:t>
            </a:r>
            <a:r>
              <a:rPr sz="900" spc="-10" dirty="0">
                <a:solidFill>
                  <a:srgbClr val="3FA070"/>
                </a:solidFill>
                <a:latin typeface="Courier New"/>
                <a:cs typeface="Courier New"/>
              </a:rPr>
              <a:t>2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:</a:t>
            </a:r>
            <a:r>
              <a:rPr sz="900" spc="-10" dirty="0">
                <a:solidFill>
                  <a:srgbClr val="007021"/>
                </a:solidFill>
                <a:latin typeface="Courier New"/>
                <a:cs typeface="Courier New"/>
              </a:rPr>
              <a:t>end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)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;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harmonics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z="900" dirty="0">
                <a:solidFill>
                  <a:srgbClr val="05287C"/>
                </a:solidFill>
                <a:latin typeface="Courier New"/>
                <a:cs typeface="Courier New"/>
              </a:rPr>
              <a:t>cos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(</a:t>
            </a:r>
            <a:r>
              <a:rPr sz="900" dirty="0">
                <a:solidFill>
                  <a:srgbClr val="3FA070"/>
                </a:solidFill>
                <a:latin typeface="Courier New"/>
                <a:cs typeface="Courier New"/>
              </a:rPr>
              <a:t>2</a:t>
            </a:r>
            <a:r>
              <a:rPr sz="900" spc="50" dirty="0">
                <a:solidFill>
                  <a:srgbClr val="3FA07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*</a:t>
            </a:r>
            <a:r>
              <a:rPr sz="900" spc="50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007F00"/>
                </a:solidFill>
                <a:latin typeface="Courier New"/>
                <a:cs typeface="Courier New"/>
              </a:rPr>
              <a:t>pi</a:t>
            </a:r>
            <a:r>
              <a:rPr sz="900" spc="5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*</a:t>
            </a:r>
            <a:r>
              <a:rPr sz="900" spc="50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nh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'</a:t>
            </a:r>
            <a:r>
              <a:rPr sz="900" spc="50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*</a:t>
            </a:r>
            <a:r>
              <a:rPr sz="900" spc="50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spc="-20" dirty="0">
                <a:solidFill>
                  <a:srgbClr val="22373A"/>
                </a:solidFill>
                <a:latin typeface="Courier New"/>
                <a:cs typeface="Courier New"/>
              </a:rPr>
              <a:t>t</a:t>
            </a:r>
            <a:r>
              <a:rPr sz="900" spc="-20" dirty="0">
                <a:solidFill>
                  <a:srgbClr val="666666"/>
                </a:solidFill>
                <a:latin typeface="Courier New"/>
                <a:cs typeface="Courier New"/>
              </a:rPr>
              <a:t>/</a:t>
            </a:r>
            <a:r>
              <a:rPr sz="900" spc="-20" dirty="0">
                <a:solidFill>
                  <a:srgbClr val="22373A"/>
                </a:solidFill>
                <a:latin typeface="Courier New"/>
                <a:cs typeface="Courier New"/>
              </a:rPr>
              <a:t>T)</a:t>
            </a:r>
            <a:r>
              <a:rPr sz="900" spc="-20" dirty="0">
                <a:solidFill>
                  <a:srgbClr val="666666"/>
                </a:solidFill>
                <a:latin typeface="Courier New"/>
                <a:cs typeface="Courier New"/>
              </a:rPr>
              <a:t>; 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s1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harmonics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.*</a:t>
            </a:r>
            <a:r>
              <a:rPr sz="900" spc="-10" dirty="0">
                <a:solidFill>
                  <a:srgbClr val="05287C"/>
                </a:solidFill>
                <a:latin typeface="Courier New"/>
                <a:cs typeface="Courier New"/>
              </a:rPr>
              <a:t>repmat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(Am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',</a:t>
            </a:r>
            <a:r>
              <a:rPr sz="900" spc="-10" dirty="0">
                <a:solidFill>
                  <a:srgbClr val="3FA070"/>
                </a:solidFill>
                <a:latin typeface="Courier New"/>
                <a:cs typeface="Courier New"/>
              </a:rPr>
              <a:t>1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,</a:t>
            </a:r>
            <a:r>
              <a:rPr sz="900" spc="-10" dirty="0">
                <a:solidFill>
                  <a:srgbClr val="05287C"/>
                </a:solidFill>
                <a:latin typeface="Courier New"/>
                <a:cs typeface="Courier New"/>
              </a:rPr>
              <a:t>length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(t))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; 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s2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z="900" spc="-10" dirty="0">
                <a:solidFill>
                  <a:srgbClr val="05287C"/>
                </a:solidFill>
                <a:latin typeface="Courier New"/>
                <a:cs typeface="Courier New"/>
              </a:rPr>
              <a:t>cumsum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(s1)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;</a:t>
            </a:r>
            <a:endParaRPr sz="900">
              <a:latin typeface="Courier New"/>
              <a:cs typeface="Courier New"/>
            </a:endParaRPr>
          </a:p>
          <a:p>
            <a:pPr marL="12700" marR="1545590">
              <a:lnSpc>
                <a:spcPct val="144300"/>
              </a:lnSpc>
            </a:pPr>
            <a:r>
              <a:rPr sz="900" dirty="0">
                <a:solidFill>
                  <a:srgbClr val="007021"/>
                </a:solidFill>
                <a:latin typeface="Courier New"/>
                <a:cs typeface="Courier New"/>
              </a:rPr>
              <a:t>for</a:t>
            </a:r>
            <a:r>
              <a:rPr sz="900" spc="40" dirty="0">
                <a:solidFill>
                  <a:srgbClr val="007021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k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z="900" spc="-10" dirty="0">
                <a:solidFill>
                  <a:srgbClr val="3FA070"/>
                </a:solidFill>
                <a:latin typeface="Courier New"/>
                <a:cs typeface="Courier New"/>
              </a:rPr>
              <a:t>1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: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N </a:t>
            </a:r>
            <a:r>
              <a:rPr sz="900" spc="-10" dirty="0">
                <a:solidFill>
                  <a:srgbClr val="05287C"/>
                </a:solidFill>
                <a:latin typeface="Courier New"/>
                <a:cs typeface="Courier New"/>
              </a:rPr>
              <a:t>subplot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(</a:t>
            </a:r>
            <a:r>
              <a:rPr sz="900" spc="-10" dirty="0">
                <a:solidFill>
                  <a:srgbClr val="3FA070"/>
                </a:solidFill>
                <a:latin typeface="Courier New"/>
                <a:cs typeface="Courier New"/>
              </a:rPr>
              <a:t>4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,</a:t>
            </a:r>
            <a:r>
              <a:rPr sz="900" spc="-10" dirty="0">
                <a:solidFill>
                  <a:srgbClr val="3FA070"/>
                </a:solidFill>
                <a:latin typeface="Courier New"/>
                <a:cs typeface="Courier New"/>
              </a:rPr>
              <a:t>2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,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k) </a:t>
            </a:r>
            <a:r>
              <a:rPr sz="900" dirty="0">
                <a:solidFill>
                  <a:srgbClr val="05287C"/>
                </a:solidFill>
                <a:latin typeface="Courier New"/>
                <a:cs typeface="Courier New"/>
              </a:rPr>
              <a:t>plot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(t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,</a:t>
            </a:r>
            <a:r>
              <a:rPr sz="900" spc="8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s2(k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,: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)) </a:t>
            </a:r>
            <a:r>
              <a:rPr sz="900" spc="-25" dirty="0">
                <a:solidFill>
                  <a:srgbClr val="007021"/>
                </a:solidFill>
                <a:latin typeface="Courier New"/>
                <a:cs typeface="Courier New"/>
              </a:rPr>
              <a:t>end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35560">
              <a:lnSpc>
                <a:spcPct val="100000"/>
              </a:lnSpc>
              <a:spcBef>
                <a:spcPts val="165"/>
              </a:spcBef>
            </a:pPr>
            <a:fld id="{81D60167-4931-47E6-BA6A-407CBD079E47}" type="slidenum">
              <a:rPr spc="-10" dirty="0"/>
              <a:t>9</a:t>
            </a:fld>
            <a:r>
              <a:rPr spc="-10" dirty="0"/>
              <a:t>/33</a:t>
            </a: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2631" y="82852"/>
            <a:ext cx="763270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dirty="0">
                <a:solidFill>
                  <a:srgbClr val="F9F9F9"/>
                </a:solidFill>
                <a:latin typeface="Trebuchet MS"/>
                <a:cs typeface="Trebuchet MS"/>
              </a:rPr>
              <a:t>Задание</a:t>
            </a:r>
            <a:r>
              <a:rPr sz="1000" spc="40" dirty="0">
                <a:solidFill>
                  <a:srgbClr val="F9F9F9"/>
                </a:solidFill>
                <a:latin typeface="Trebuchet MS"/>
                <a:cs typeface="Trebuchet MS"/>
              </a:rPr>
              <a:t> </a:t>
            </a:r>
            <a:r>
              <a:rPr sz="1000" spc="65" dirty="0">
                <a:solidFill>
                  <a:srgbClr val="F9F9F9"/>
                </a:solidFill>
                <a:latin typeface="Trebuchet MS"/>
                <a:cs typeface="Trebuchet MS"/>
              </a:rPr>
              <a:t>№2</a:t>
            </a:r>
            <a:endParaRPr sz="10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358793"/>
            <a:ext cx="5760085" cy="2693670"/>
            <a:chOff x="0" y="358793"/>
            <a:chExt cx="5760085" cy="2693670"/>
          </a:xfrm>
        </p:grpSpPr>
        <p:sp>
          <p:nvSpPr>
            <p:cNvPr id="4" name="object 4"/>
            <p:cNvSpPr/>
            <p:nvPr/>
          </p:nvSpPr>
          <p:spPr>
            <a:xfrm>
              <a:off x="0" y="361327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5879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58793"/>
              <a:ext cx="2094864" cy="5080"/>
            </a:xfrm>
            <a:custGeom>
              <a:avLst/>
              <a:gdLst/>
              <a:ahLst/>
              <a:cxnLst/>
              <a:rect l="l" t="t" r="r" b="b"/>
              <a:pathLst>
                <a:path w="2094864" h="5079">
                  <a:moveTo>
                    <a:pt x="0" y="5060"/>
                  </a:moveTo>
                  <a:lnTo>
                    <a:pt x="0" y="0"/>
                  </a:lnTo>
                  <a:lnTo>
                    <a:pt x="2094548" y="0"/>
                  </a:lnTo>
                  <a:lnTo>
                    <a:pt x="2094548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0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5999" y="405932"/>
              <a:ext cx="3527971" cy="2645978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35560">
              <a:lnSpc>
                <a:spcPct val="100000"/>
              </a:lnSpc>
              <a:spcBef>
                <a:spcPts val="165"/>
              </a:spcBef>
            </a:pPr>
            <a:fld id="{81D60167-4931-47E6-BA6A-407CBD079E47}" type="slidenum">
              <a:rPr spc="-10" dirty="0"/>
              <a:t>10</a:t>
            </a:fld>
            <a:r>
              <a:rPr spc="-10" dirty="0"/>
              <a:t>/33</a:t>
            </a: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Задание</a:t>
            </a:r>
            <a:r>
              <a:rPr spc="40" dirty="0"/>
              <a:t> </a:t>
            </a:r>
            <a:r>
              <a:rPr spc="65" dirty="0"/>
              <a:t>№3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358793"/>
            <a:ext cx="5760085" cy="5080"/>
            <a:chOff x="0" y="358793"/>
            <a:chExt cx="5760085" cy="5080"/>
          </a:xfrm>
        </p:grpSpPr>
        <p:sp>
          <p:nvSpPr>
            <p:cNvPr id="4" name="object 4"/>
            <p:cNvSpPr/>
            <p:nvPr/>
          </p:nvSpPr>
          <p:spPr>
            <a:xfrm>
              <a:off x="0" y="361327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5879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58793"/>
              <a:ext cx="2269490" cy="5080"/>
            </a:xfrm>
            <a:custGeom>
              <a:avLst/>
              <a:gdLst/>
              <a:ahLst/>
              <a:cxnLst/>
              <a:rect l="l" t="t" r="r" b="b"/>
              <a:pathLst>
                <a:path w="2269490" h="5079">
                  <a:moveTo>
                    <a:pt x="0" y="5060"/>
                  </a:moveTo>
                  <a:lnTo>
                    <a:pt x="0" y="0"/>
                  </a:lnTo>
                  <a:lnTo>
                    <a:pt x="2269101" y="0"/>
                  </a:lnTo>
                  <a:lnTo>
                    <a:pt x="226910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0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47294" y="551912"/>
            <a:ext cx="3114675" cy="22447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Определим</a:t>
            </a:r>
            <a:r>
              <a:rPr sz="900" spc="4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спектр</a:t>
            </a:r>
            <a:r>
              <a:rPr sz="900" spc="4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двух</a:t>
            </a:r>
            <a:r>
              <a:rPr sz="900" spc="4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отдельных</a:t>
            </a:r>
            <a:r>
              <a:rPr sz="900" spc="4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сигналов</a:t>
            </a:r>
            <a:r>
              <a:rPr sz="900" spc="4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и</a:t>
            </a:r>
            <a:r>
              <a:rPr sz="900" spc="4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их</a:t>
            </a:r>
            <a:r>
              <a:rPr sz="900" spc="4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Tahoma"/>
                <a:cs typeface="Tahoma"/>
              </a:rPr>
              <a:t>суммы.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9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tmax</a:t>
            </a:r>
            <a:r>
              <a:rPr sz="900" spc="3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z="900" spc="3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spc="-20" dirty="0">
                <a:solidFill>
                  <a:srgbClr val="3FA070"/>
                </a:solidFill>
                <a:latin typeface="Courier New"/>
                <a:cs typeface="Courier New"/>
              </a:rPr>
              <a:t>0.5</a:t>
            </a:r>
            <a:r>
              <a:rPr sz="900" spc="-20" dirty="0">
                <a:solidFill>
                  <a:srgbClr val="666666"/>
                </a:solidFill>
                <a:latin typeface="Courier New"/>
                <a:cs typeface="Courier New"/>
              </a:rPr>
              <a:t>;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fd</a:t>
            </a:r>
            <a:r>
              <a:rPr sz="900" spc="2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z="900" spc="2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spc="-20" dirty="0">
                <a:solidFill>
                  <a:srgbClr val="3FA070"/>
                </a:solidFill>
                <a:latin typeface="Courier New"/>
                <a:cs typeface="Courier New"/>
              </a:rPr>
              <a:t>512</a:t>
            </a:r>
            <a:r>
              <a:rPr sz="900" spc="-20" dirty="0">
                <a:solidFill>
                  <a:srgbClr val="666666"/>
                </a:solidFill>
                <a:latin typeface="Courier New"/>
                <a:cs typeface="Courier New"/>
              </a:rPr>
              <a:t>;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f1</a:t>
            </a:r>
            <a:r>
              <a:rPr sz="900" spc="2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z="900" spc="2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spc="-25" dirty="0">
                <a:solidFill>
                  <a:srgbClr val="3FA070"/>
                </a:solidFill>
                <a:latin typeface="Courier New"/>
                <a:cs typeface="Courier New"/>
              </a:rPr>
              <a:t>10</a:t>
            </a:r>
            <a:r>
              <a:rPr sz="900" spc="-25" dirty="0">
                <a:solidFill>
                  <a:srgbClr val="666666"/>
                </a:solidFill>
                <a:latin typeface="Courier New"/>
                <a:cs typeface="Courier New"/>
              </a:rPr>
              <a:t>;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f2</a:t>
            </a:r>
            <a:r>
              <a:rPr sz="900" spc="2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z="900" spc="2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spc="-25" dirty="0">
                <a:solidFill>
                  <a:srgbClr val="3FA070"/>
                </a:solidFill>
                <a:latin typeface="Courier New"/>
                <a:cs typeface="Courier New"/>
              </a:rPr>
              <a:t>40</a:t>
            </a:r>
            <a:r>
              <a:rPr sz="900" spc="-25" dirty="0">
                <a:solidFill>
                  <a:srgbClr val="666666"/>
                </a:solidFill>
                <a:latin typeface="Courier New"/>
                <a:cs typeface="Courier New"/>
              </a:rPr>
              <a:t>;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a1</a:t>
            </a:r>
            <a:r>
              <a:rPr sz="900" spc="2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z="900" spc="2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spc="-25" dirty="0">
                <a:solidFill>
                  <a:srgbClr val="3FA070"/>
                </a:solidFill>
                <a:latin typeface="Courier New"/>
                <a:cs typeface="Courier New"/>
              </a:rPr>
              <a:t>1</a:t>
            </a:r>
            <a:r>
              <a:rPr sz="900" spc="-25" dirty="0">
                <a:solidFill>
                  <a:srgbClr val="666666"/>
                </a:solidFill>
                <a:latin typeface="Courier New"/>
                <a:cs typeface="Courier New"/>
              </a:rPr>
              <a:t>;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a2</a:t>
            </a:r>
            <a:r>
              <a:rPr sz="900" spc="2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z="900" spc="2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spc="-20" dirty="0">
                <a:solidFill>
                  <a:srgbClr val="3FA070"/>
                </a:solidFill>
                <a:latin typeface="Courier New"/>
                <a:cs typeface="Courier New"/>
              </a:rPr>
              <a:t>0.7</a:t>
            </a:r>
            <a:r>
              <a:rPr sz="900" spc="-20" dirty="0">
                <a:solidFill>
                  <a:srgbClr val="666666"/>
                </a:solidFill>
                <a:latin typeface="Courier New"/>
                <a:cs typeface="Courier New"/>
              </a:rPr>
              <a:t>;</a:t>
            </a:r>
            <a:endParaRPr sz="900">
              <a:latin typeface="Courier New"/>
              <a:cs typeface="Courier New"/>
            </a:endParaRPr>
          </a:p>
          <a:p>
            <a:pPr marL="12700" marR="1903095">
              <a:lnSpc>
                <a:spcPct val="144300"/>
              </a:lnSpc>
            </a:pP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t</a:t>
            </a:r>
            <a:r>
              <a:rPr sz="900" spc="2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z="900" spc="20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3FA070"/>
                </a:solidFill>
                <a:latin typeface="Courier New"/>
                <a:cs typeface="Courier New"/>
              </a:rPr>
              <a:t>0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:</a:t>
            </a:r>
            <a:r>
              <a:rPr sz="900" spc="-10" dirty="0">
                <a:solidFill>
                  <a:srgbClr val="3FA070"/>
                </a:solidFill>
                <a:latin typeface="Courier New"/>
                <a:cs typeface="Courier New"/>
              </a:rPr>
              <a:t>1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./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fd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: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tmax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;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fd2</a:t>
            </a:r>
            <a:r>
              <a:rPr sz="900" spc="3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z="900" spc="30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fd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/</a:t>
            </a:r>
            <a:r>
              <a:rPr sz="900" spc="-10" dirty="0">
                <a:solidFill>
                  <a:srgbClr val="3FA070"/>
                </a:solidFill>
                <a:latin typeface="Courier New"/>
                <a:cs typeface="Courier New"/>
              </a:rPr>
              <a:t>2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;</a:t>
            </a:r>
            <a:endParaRPr sz="900">
              <a:latin typeface="Courier New"/>
              <a:cs typeface="Courier New"/>
            </a:endParaRPr>
          </a:p>
          <a:p>
            <a:pPr marL="12700" marR="1132840">
              <a:lnSpc>
                <a:spcPct val="144300"/>
              </a:lnSpc>
            </a:pP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signal1</a:t>
            </a:r>
            <a:r>
              <a:rPr sz="900" spc="5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z="900" spc="5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a1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*</a:t>
            </a:r>
            <a:r>
              <a:rPr sz="900" spc="-10" dirty="0">
                <a:solidFill>
                  <a:srgbClr val="05287C"/>
                </a:solidFill>
                <a:latin typeface="Courier New"/>
                <a:cs typeface="Courier New"/>
              </a:rPr>
              <a:t>sin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(</a:t>
            </a:r>
            <a:r>
              <a:rPr sz="900" spc="-10" dirty="0">
                <a:solidFill>
                  <a:srgbClr val="3FA070"/>
                </a:solidFill>
                <a:latin typeface="Courier New"/>
                <a:cs typeface="Courier New"/>
              </a:rPr>
              <a:t>2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*</a:t>
            </a:r>
            <a:r>
              <a:rPr sz="900" spc="-10" dirty="0">
                <a:solidFill>
                  <a:srgbClr val="007F00"/>
                </a:solidFill>
                <a:latin typeface="Courier New"/>
                <a:cs typeface="Courier New"/>
              </a:rPr>
              <a:t>pi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*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t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*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f1)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;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signal2</a:t>
            </a:r>
            <a:r>
              <a:rPr sz="900" spc="5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z="900" spc="5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a2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*</a:t>
            </a:r>
            <a:r>
              <a:rPr sz="900" spc="-10" dirty="0">
                <a:solidFill>
                  <a:srgbClr val="05287C"/>
                </a:solidFill>
                <a:latin typeface="Courier New"/>
                <a:cs typeface="Courier New"/>
              </a:rPr>
              <a:t>sin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(</a:t>
            </a:r>
            <a:r>
              <a:rPr sz="900" spc="-10" dirty="0">
                <a:solidFill>
                  <a:srgbClr val="3FA070"/>
                </a:solidFill>
                <a:latin typeface="Courier New"/>
                <a:cs typeface="Courier New"/>
              </a:rPr>
              <a:t>2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*</a:t>
            </a:r>
            <a:r>
              <a:rPr sz="900" spc="-10" dirty="0">
                <a:solidFill>
                  <a:srgbClr val="007F00"/>
                </a:solidFill>
                <a:latin typeface="Courier New"/>
                <a:cs typeface="Courier New"/>
              </a:rPr>
              <a:t>pi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*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t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*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f2)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;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35560">
              <a:lnSpc>
                <a:spcPct val="100000"/>
              </a:lnSpc>
              <a:spcBef>
                <a:spcPts val="165"/>
              </a:spcBef>
            </a:pPr>
            <a:fld id="{81D60167-4931-47E6-BA6A-407CBD079E47}" type="slidenum">
              <a:rPr spc="-10" dirty="0"/>
              <a:t>11</a:t>
            </a:fld>
            <a:r>
              <a:rPr spc="-10" dirty="0"/>
              <a:t>/33</a:t>
            </a: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2631" y="82852"/>
            <a:ext cx="763270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dirty="0">
                <a:solidFill>
                  <a:srgbClr val="F9F9F9"/>
                </a:solidFill>
                <a:latin typeface="Trebuchet MS"/>
                <a:cs typeface="Trebuchet MS"/>
              </a:rPr>
              <a:t>Задание</a:t>
            </a:r>
            <a:r>
              <a:rPr sz="1000" spc="40" dirty="0">
                <a:solidFill>
                  <a:srgbClr val="F9F9F9"/>
                </a:solidFill>
                <a:latin typeface="Trebuchet MS"/>
                <a:cs typeface="Trebuchet MS"/>
              </a:rPr>
              <a:t> </a:t>
            </a:r>
            <a:r>
              <a:rPr sz="1000" spc="65" dirty="0">
                <a:solidFill>
                  <a:srgbClr val="F9F9F9"/>
                </a:solidFill>
                <a:latin typeface="Trebuchet MS"/>
                <a:cs typeface="Trebuchet MS"/>
              </a:rPr>
              <a:t>№3</a:t>
            </a:r>
            <a:endParaRPr sz="10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358793"/>
            <a:ext cx="5760085" cy="2693670"/>
            <a:chOff x="0" y="358793"/>
            <a:chExt cx="5760085" cy="2693670"/>
          </a:xfrm>
        </p:grpSpPr>
        <p:sp>
          <p:nvSpPr>
            <p:cNvPr id="4" name="object 4"/>
            <p:cNvSpPr/>
            <p:nvPr/>
          </p:nvSpPr>
          <p:spPr>
            <a:xfrm>
              <a:off x="0" y="361327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5879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58793"/>
              <a:ext cx="2444115" cy="5080"/>
            </a:xfrm>
            <a:custGeom>
              <a:avLst/>
              <a:gdLst/>
              <a:ahLst/>
              <a:cxnLst/>
              <a:rect l="l" t="t" r="r" b="b"/>
              <a:pathLst>
                <a:path w="2444115" h="5079">
                  <a:moveTo>
                    <a:pt x="0" y="5060"/>
                  </a:moveTo>
                  <a:lnTo>
                    <a:pt x="0" y="0"/>
                  </a:lnTo>
                  <a:lnTo>
                    <a:pt x="2443654" y="0"/>
                  </a:lnTo>
                  <a:lnTo>
                    <a:pt x="244365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0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5999" y="405932"/>
              <a:ext cx="3527971" cy="2645978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35560">
              <a:lnSpc>
                <a:spcPct val="100000"/>
              </a:lnSpc>
              <a:spcBef>
                <a:spcPts val="165"/>
              </a:spcBef>
            </a:pPr>
            <a:fld id="{81D60167-4931-47E6-BA6A-407CBD079E47}" type="slidenum">
              <a:rPr spc="-10" dirty="0"/>
              <a:t>12</a:t>
            </a:fld>
            <a:r>
              <a:rPr spc="-10" dirty="0"/>
              <a:t>/33</a:t>
            </a: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Задание</a:t>
            </a:r>
            <a:r>
              <a:rPr spc="40" dirty="0"/>
              <a:t> </a:t>
            </a:r>
            <a:r>
              <a:rPr spc="65" dirty="0"/>
              <a:t>№3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358793"/>
            <a:ext cx="5760085" cy="5080"/>
            <a:chOff x="0" y="358793"/>
            <a:chExt cx="5760085" cy="5080"/>
          </a:xfrm>
        </p:grpSpPr>
        <p:sp>
          <p:nvSpPr>
            <p:cNvPr id="4" name="object 4"/>
            <p:cNvSpPr/>
            <p:nvPr/>
          </p:nvSpPr>
          <p:spPr>
            <a:xfrm>
              <a:off x="0" y="361327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5879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58793"/>
              <a:ext cx="2618740" cy="5080"/>
            </a:xfrm>
            <a:custGeom>
              <a:avLst/>
              <a:gdLst/>
              <a:ahLst/>
              <a:cxnLst/>
              <a:rect l="l" t="t" r="r" b="b"/>
              <a:pathLst>
                <a:path w="2618740" h="5079">
                  <a:moveTo>
                    <a:pt x="0" y="5060"/>
                  </a:moveTo>
                  <a:lnTo>
                    <a:pt x="0" y="0"/>
                  </a:lnTo>
                  <a:lnTo>
                    <a:pt x="2618207" y="0"/>
                  </a:lnTo>
                  <a:lnTo>
                    <a:pt x="261820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0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47294" y="1046615"/>
            <a:ext cx="4255135" cy="12547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00" spc="10" dirty="0">
                <a:solidFill>
                  <a:srgbClr val="22373A"/>
                </a:solidFill>
                <a:latin typeface="Tahoma"/>
                <a:cs typeface="Tahoma"/>
              </a:rPr>
              <a:t>Используем</a:t>
            </a:r>
            <a:r>
              <a:rPr sz="900" spc="3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2373A"/>
                </a:solidFill>
                <a:latin typeface="Tahoma"/>
                <a:cs typeface="Tahoma"/>
              </a:rPr>
              <a:t>быстрое</a:t>
            </a:r>
            <a:r>
              <a:rPr sz="900" spc="3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2373A"/>
                </a:solidFill>
                <a:latin typeface="Tahoma"/>
                <a:cs typeface="Tahoma"/>
              </a:rPr>
              <a:t>преобразование</a:t>
            </a:r>
            <a:r>
              <a:rPr sz="900" spc="3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Фурье,</a:t>
            </a:r>
            <a:r>
              <a:rPr sz="900" spc="3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2373A"/>
                </a:solidFill>
                <a:latin typeface="Tahoma"/>
                <a:cs typeface="Tahoma"/>
              </a:rPr>
              <a:t>чтобы</a:t>
            </a:r>
            <a:r>
              <a:rPr sz="900" spc="3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2373A"/>
                </a:solidFill>
                <a:latin typeface="Tahoma"/>
                <a:cs typeface="Tahoma"/>
              </a:rPr>
              <a:t>найти</a:t>
            </a:r>
            <a:r>
              <a:rPr sz="900" spc="3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2373A"/>
                </a:solidFill>
                <a:latin typeface="Tahoma"/>
                <a:cs typeface="Tahoma"/>
              </a:rPr>
              <a:t>спектры</a:t>
            </a:r>
            <a:r>
              <a:rPr sz="900" spc="3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Tahoma"/>
                <a:cs typeface="Tahoma"/>
              </a:rPr>
              <a:t>сигналов.</a:t>
            </a:r>
            <a:endParaRPr sz="900">
              <a:latin typeface="Tahoma"/>
              <a:cs typeface="Tahoma"/>
            </a:endParaRPr>
          </a:p>
          <a:p>
            <a:pPr marL="12700" marR="1993264" algn="just">
              <a:lnSpc>
                <a:spcPct val="144300"/>
              </a:lnSpc>
              <a:spcBef>
                <a:spcPts val="780"/>
              </a:spcBef>
            </a:pP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spectre1</a:t>
            </a:r>
            <a:r>
              <a:rPr sz="900" spc="5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z="900" spc="60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05287C"/>
                </a:solidFill>
                <a:latin typeface="Courier New"/>
                <a:cs typeface="Courier New"/>
              </a:rPr>
              <a:t>abs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(</a:t>
            </a:r>
            <a:r>
              <a:rPr sz="900" spc="-10" dirty="0">
                <a:solidFill>
                  <a:srgbClr val="05287C"/>
                </a:solidFill>
                <a:latin typeface="Courier New"/>
                <a:cs typeface="Courier New"/>
              </a:rPr>
              <a:t>fft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(signal1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,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fd))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;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spectre2</a:t>
            </a:r>
            <a:r>
              <a:rPr sz="900" spc="5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z="900" spc="60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05287C"/>
                </a:solidFill>
                <a:latin typeface="Courier New"/>
                <a:cs typeface="Courier New"/>
              </a:rPr>
              <a:t>abs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(</a:t>
            </a:r>
            <a:r>
              <a:rPr sz="900" spc="-10" dirty="0">
                <a:solidFill>
                  <a:srgbClr val="05287C"/>
                </a:solidFill>
                <a:latin typeface="Courier New"/>
                <a:cs typeface="Courier New"/>
              </a:rPr>
              <a:t>fft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(signal2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,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fd))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; </a:t>
            </a:r>
            <a:r>
              <a:rPr sz="900" spc="-10" dirty="0">
                <a:solidFill>
                  <a:srgbClr val="05287C"/>
                </a:solidFill>
                <a:latin typeface="Courier New"/>
                <a:cs typeface="Courier New"/>
              </a:rPr>
              <a:t>plot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(spectre1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,</a:t>
            </a:r>
            <a:r>
              <a:rPr sz="900" spc="-10" dirty="0">
                <a:solidFill>
                  <a:srgbClr val="3F70A0"/>
                </a:solidFill>
                <a:latin typeface="Courier New"/>
                <a:cs typeface="Courier New"/>
              </a:rPr>
              <a:t>'b'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)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;</a:t>
            </a:r>
            <a:endParaRPr sz="900">
              <a:latin typeface="Courier New"/>
              <a:cs typeface="Courier New"/>
            </a:endParaRPr>
          </a:p>
          <a:p>
            <a:pPr marL="12700" marR="2903220" algn="just">
              <a:lnSpc>
                <a:spcPct val="144300"/>
              </a:lnSpc>
            </a:pPr>
            <a:r>
              <a:rPr sz="900" dirty="0">
                <a:solidFill>
                  <a:srgbClr val="05287C"/>
                </a:solidFill>
                <a:latin typeface="Courier New"/>
                <a:cs typeface="Courier New"/>
              </a:rPr>
              <a:t>hold</a:t>
            </a:r>
            <a:r>
              <a:rPr sz="900" spc="50" dirty="0">
                <a:solidFill>
                  <a:srgbClr val="05287C"/>
                </a:solidFill>
                <a:latin typeface="Courier New"/>
                <a:cs typeface="Courier New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Courier New"/>
                <a:cs typeface="Courier New"/>
              </a:rPr>
              <a:t>on </a:t>
            </a:r>
            <a:r>
              <a:rPr sz="900" spc="-10" dirty="0">
                <a:solidFill>
                  <a:srgbClr val="05287C"/>
                </a:solidFill>
                <a:latin typeface="Courier New"/>
                <a:cs typeface="Courier New"/>
              </a:rPr>
              <a:t>plot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(spectre2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,</a:t>
            </a:r>
            <a:r>
              <a:rPr sz="900" spc="-10" dirty="0">
                <a:solidFill>
                  <a:srgbClr val="3F70A0"/>
                </a:solidFill>
                <a:latin typeface="Courier New"/>
                <a:cs typeface="Courier New"/>
              </a:rPr>
              <a:t>'r'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)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;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35560">
              <a:lnSpc>
                <a:spcPct val="100000"/>
              </a:lnSpc>
              <a:spcBef>
                <a:spcPts val="165"/>
              </a:spcBef>
            </a:pPr>
            <a:fld id="{81D60167-4931-47E6-BA6A-407CBD079E47}" type="slidenum">
              <a:rPr spc="-10" dirty="0"/>
              <a:t>13</a:t>
            </a:fld>
            <a:r>
              <a:rPr spc="-10" dirty="0"/>
              <a:t>/33</a:t>
            </a: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2631" y="82852"/>
            <a:ext cx="763270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dirty="0">
                <a:solidFill>
                  <a:srgbClr val="F9F9F9"/>
                </a:solidFill>
                <a:latin typeface="Trebuchet MS"/>
                <a:cs typeface="Trebuchet MS"/>
              </a:rPr>
              <a:t>Задание</a:t>
            </a:r>
            <a:r>
              <a:rPr sz="1000" spc="40" dirty="0">
                <a:solidFill>
                  <a:srgbClr val="F9F9F9"/>
                </a:solidFill>
                <a:latin typeface="Trebuchet MS"/>
                <a:cs typeface="Trebuchet MS"/>
              </a:rPr>
              <a:t> </a:t>
            </a:r>
            <a:r>
              <a:rPr sz="1000" spc="65" dirty="0">
                <a:solidFill>
                  <a:srgbClr val="F9F9F9"/>
                </a:solidFill>
                <a:latin typeface="Trebuchet MS"/>
                <a:cs typeface="Trebuchet MS"/>
              </a:rPr>
              <a:t>№3</a:t>
            </a:r>
            <a:endParaRPr sz="10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358793"/>
            <a:ext cx="5760085" cy="2667000"/>
            <a:chOff x="0" y="358793"/>
            <a:chExt cx="5760085" cy="2667000"/>
          </a:xfrm>
        </p:grpSpPr>
        <p:sp>
          <p:nvSpPr>
            <p:cNvPr id="4" name="object 4"/>
            <p:cNvSpPr/>
            <p:nvPr/>
          </p:nvSpPr>
          <p:spPr>
            <a:xfrm>
              <a:off x="0" y="361327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5879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58793"/>
              <a:ext cx="2793365" cy="5080"/>
            </a:xfrm>
            <a:custGeom>
              <a:avLst/>
              <a:gdLst/>
              <a:ahLst/>
              <a:cxnLst/>
              <a:rect l="l" t="t" r="r" b="b"/>
              <a:pathLst>
                <a:path w="2793365" h="5079">
                  <a:moveTo>
                    <a:pt x="0" y="5060"/>
                  </a:moveTo>
                  <a:lnTo>
                    <a:pt x="0" y="0"/>
                  </a:lnTo>
                  <a:lnTo>
                    <a:pt x="2792760" y="0"/>
                  </a:lnTo>
                  <a:lnTo>
                    <a:pt x="279276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0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5949" y="405891"/>
              <a:ext cx="3528124" cy="2619566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35560">
              <a:lnSpc>
                <a:spcPct val="100000"/>
              </a:lnSpc>
              <a:spcBef>
                <a:spcPts val="165"/>
              </a:spcBef>
            </a:pPr>
            <a:fld id="{81D60167-4931-47E6-BA6A-407CBD079E47}" type="slidenum">
              <a:rPr spc="-10" dirty="0"/>
              <a:t>14</a:t>
            </a:fld>
            <a:r>
              <a:rPr spc="-10" dirty="0"/>
              <a:t>/33</a:t>
            </a:r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Задание</a:t>
            </a:r>
            <a:r>
              <a:rPr spc="40" dirty="0"/>
              <a:t> </a:t>
            </a:r>
            <a:r>
              <a:rPr spc="65" dirty="0"/>
              <a:t>№3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358793"/>
            <a:ext cx="5760085" cy="5080"/>
            <a:chOff x="0" y="358793"/>
            <a:chExt cx="5760085" cy="5080"/>
          </a:xfrm>
        </p:grpSpPr>
        <p:sp>
          <p:nvSpPr>
            <p:cNvPr id="4" name="object 4"/>
            <p:cNvSpPr/>
            <p:nvPr/>
          </p:nvSpPr>
          <p:spPr>
            <a:xfrm>
              <a:off x="0" y="361327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5879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58793"/>
              <a:ext cx="2967355" cy="5080"/>
            </a:xfrm>
            <a:custGeom>
              <a:avLst/>
              <a:gdLst/>
              <a:ahLst/>
              <a:cxnLst/>
              <a:rect l="l" t="t" r="r" b="b"/>
              <a:pathLst>
                <a:path w="2967355" h="5079">
                  <a:moveTo>
                    <a:pt x="0" y="5060"/>
                  </a:moveTo>
                  <a:lnTo>
                    <a:pt x="0" y="0"/>
                  </a:lnTo>
                  <a:lnTo>
                    <a:pt x="2967313" y="0"/>
                  </a:lnTo>
                  <a:lnTo>
                    <a:pt x="296731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0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47294" y="404091"/>
            <a:ext cx="492379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4300"/>
              </a:lnSpc>
              <a:spcBef>
                <a:spcPts val="95"/>
              </a:spcBef>
            </a:pPr>
            <a:r>
              <a:rPr sz="900" spc="10" dirty="0">
                <a:solidFill>
                  <a:srgbClr val="22373A"/>
                </a:solidFill>
                <a:latin typeface="Tahoma"/>
                <a:cs typeface="Tahoma"/>
              </a:rPr>
              <a:t>Учитывая</a:t>
            </a:r>
            <a:r>
              <a:rPr sz="900" spc="2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2373A"/>
                </a:solidFill>
                <a:latin typeface="Tahoma"/>
                <a:cs typeface="Tahoma"/>
              </a:rPr>
              <a:t>некоторые</a:t>
            </a:r>
            <a:r>
              <a:rPr sz="900" spc="3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2373A"/>
                </a:solidFill>
                <a:latin typeface="Tahoma"/>
                <a:cs typeface="Tahoma"/>
              </a:rPr>
              <a:t>неточности</a:t>
            </a:r>
            <a:r>
              <a:rPr sz="900" spc="3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2373A"/>
                </a:solidFill>
                <a:latin typeface="Tahoma"/>
                <a:cs typeface="Tahoma"/>
              </a:rPr>
              <a:t>преобразования</a:t>
            </a:r>
            <a:r>
              <a:rPr sz="900" spc="3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Фурье,</a:t>
            </a:r>
            <a:r>
              <a:rPr sz="900" spc="3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2373A"/>
                </a:solidFill>
                <a:latin typeface="Tahoma"/>
                <a:cs typeface="Tahoma"/>
              </a:rPr>
              <a:t>нужно</a:t>
            </a:r>
            <a:r>
              <a:rPr sz="900" spc="3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2373A"/>
                </a:solidFill>
                <a:latin typeface="Tahoma"/>
                <a:cs typeface="Tahoma"/>
              </a:rPr>
              <a:t>скорректировать</a:t>
            </a:r>
            <a:r>
              <a:rPr sz="900" spc="3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Tahoma"/>
                <a:cs typeface="Tahoma"/>
              </a:rPr>
              <a:t>график спектра.</a:t>
            </a:r>
            <a:endParaRPr sz="90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7967" y="924711"/>
            <a:ext cx="3024097" cy="2245335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35560">
              <a:lnSpc>
                <a:spcPct val="100000"/>
              </a:lnSpc>
              <a:spcBef>
                <a:spcPts val="165"/>
              </a:spcBef>
            </a:pPr>
            <a:fld id="{81D60167-4931-47E6-BA6A-407CBD079E47}" type="slidenum">
              <a:rPr spc="-10" dirty="0"/>
              <a:t>15</a:t>
            </a:fld>
            <a:r>
              <a:rPr spc="-10" dirty="0"/>
              <a:t>/33</a:t>
            </a:r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Задание</a:t>
            </a:r>
            <a:r>
              <a:rPr spc="40" dirty="0"/>
              <a:t> </a:t>
            </a:r>
            <a:r>
              <a:rPr spc="65" dirty="0"/>
              <a:t>№3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358793"/>
            <a:ext cx="5760085" cy="5080"/>
            <a:chOff x="0" y="358793"/>
            <a:chExt cx="5760085" cy="5080"/>
          </a:xfrm>
        </p:grpSpPr>
        <p:sp>
          <p:nvSpPr>
            <p:cNvPr id="4" name="object 4"/>
            <p:cNvSpPr/>
            <p:nvPr/>
          </p:nvSpPr>
          <p:spPr>
            <a:xfrm>
              <a:off x="0" y="361327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5879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58793"/>
              <a:ext cx="3141980" cy="5080"/>
            </a:xfrm>
            <a:custGeom>
              <a:avLst/>
              <a:gdLst/>
              <a:ahLst/>
              <a:cxnLst/>
              <a:rect l="l" t="t" r="r" b="b"/>
              <a:pathLst>
                <a:path w="3141980" h="5079">
                  <a:moveTo>
                    <a:pt x="0" y="5060"/>
                  </a:moveTo>
                  <a:lnTo>
                    <a:pt x="0" y="0"/>
                  </a:lnTo>
                  <a:lnTo>
                    <a:pt x="3141866" y="0"/>
                  </a:lnTo>
                  <a:lnTo>
                    <a:pt x="314186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0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47294" y="650845"/>
            <a:ext cx="3457575" cy="20466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25"/>
              </a:spcBef>
            </a:pP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Спектр</a:t>
            </a:r>
            <a:r>
              <a:rPr sz="900" spc="7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суммы</a:t>
            </a:r>
            <a:r>
              <a:rPr sz="900" spc="7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рассмотренных</a:t>
            </a:r>
            <a:r>
              <a:rPr sz="900" spc="7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Tahoma"/>
                <a:cs typeface="Tahoma"/>
              </a:rPr>
              <a:t>сигналов: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900">
              <a:latin typeface="Tahoma"/>
              <a:cs typeface="Tahoma"/>
            </a:endParaRPr>
          </a:p>
          <a:p>
            <a:pPr marL="12700" algn="just">
              <a:lnSpc>
                <a:spcPct val="100000"/>
              </a:lnSpc>
            </a:pPr>
            <a:r>
              <a:rPr sz="900" i="1" dirty="0">
                <a:solidFill>
                  <a:srgbClr val="60A0AF"/>
                </a:solidFill>
                <a:latin typeface="Courier New"/>
                <a:cs typeface="Courier New"/>
              </a:rPr>
              <a:t>%</a:t>
            </a:r>
            <a:r>
              <a:rPr sz="900" i="1" spc="70" dirty="0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60A0AF"/>
                </a:solidFill>
                <a:latin typeface="Courier New"/>
                <a:cs typeface="Courier New"/>
              </a:rPr>
              <a:t>Сумма</a:t>
            </a:r>
            <a:r>
              <a:rPr sz="900" i="1" spc="75" dirty="0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60A0AF"/>
                </a:solidFill>
                <a:latin typeface="Courier New"/>
                <a:cs typeface="Courier New"/>
              </a:rPr>
              <a:t>двух</a:t>
            </a:r>
            <a:r>
              <a:rPr sz="900" i="1" spc="70" dirty="0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60A0AF"/>
                </a:solidFill>
                <a:latin typeface="Courier New"/>
                <a:cs typeface="Courier New"/>
              </a:rPr>
              <a:t>сигналов</a:t>
            </a:r>
            <a:r>
              <a:rPr sz="900" i="1" spc="75" dirty="0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60A0AF"/>
                </a:solidFill>
                <a:latin typeface="Courier New"/>
                <a:cs typeface="Courier New"/>
              </a:rPr>
              <a:t>(синусоиды)</a:t>
            </a:r>
            <a:r>
              <a:rPr sz="900" i="1" spc="70" dirty="0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60A0AF"/>
                </a:solidFill>
                <a:latin typeface="Courier New"/>
                <a:cs typeface="Courier New"/>
              </a:rPr>
              <a:t>разной</a:t>
            </a:r>
            <a:r>
              <a:rPr sz="900" i="1" spc="75" dirty="0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sz="900" i="1" spc="-10" dirty="0">
                <a:solidFill>
                  <a:srgbClr val="60A0AF"/>
                </a:solidFill>
                <a:latin typeface="Courier New"/>
                <a:cs typeface="Courier New"/>
              </a:rPr>
              <a:t>частоты:</a:t>
            </a:r>
            <a:endParaRPr sz="900">
              <a:latin typeface="Courier New"/>
              <a:cs typeface="Courier New"/>
            </a:endParaRPr>
          </a:p>
          <a:p>
            <a:pPr marL="12700" algn="just">
              <a:lnSpc>
                <a:spcPct val="100000"/>
              </a:lnSpc>
              <a:spcBef>
                <a:spcPts val="480"/>
              </a:spcBef>
            </a:pP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t</a:t>
            </a:r>
            <a:r>
              <a:rPr sz="900" spc="2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z="900" spc="20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3FA070"/>
                </a:solidFill>
                <a:latin typeface="Courier New"/>
                <a:cs typeface="Courier New"/>
              </a:rPr>
              <a:t>0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:</a:t>
            </a:r>
            <a:r>
              <a:rPr sz="900" spc="-10" dirty="0">
                <a:solidFill>
                  <a:srgbClr val="3FA070"/>
                </a:solidFill>
                <a:latin typeface="Courier New"/>
                <a:cs typeface="Courier New"/>
              </a:rPr>
              <a:t>1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./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fd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: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tmax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;</a:t>
            </a:r>
            <a:endParaRPr sz="900">
              <a:latin typeface="Courier New"/>
              <a:cs typeface="Courier New"/>
            </a:endParaRPr>
          </a:p>
          <a:p>
            <a:pPr marL="12700" marR="1475740" algn="just">
              <a:lnSpc>
                <a:spcPct val="144300"/>
              </a:lnSpc>
            </a:pP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signal1</a:t>
            </a:r>
            <a:r>
              <a:rPr sz="900" spc="5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z="900" spc="5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a1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*</a:t>
            </a:r>
            <a:r>
              <a:rPr sz="900" spc="-10" dirty="0">
                <a:solidFill>
                  <a:srgbClr val="05287C"/>
                </a:solidFill>
                <a:latin typeface="Courier New"/>
                <a:cs typeface="Courier New"/>
              </a:rPr>
              <a:t>sin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(</a:t>
            </a:r>
            <a:r>
              <a:rPr sz="900" spc="-10" dirty="0">
                <a:solidFill>
                  <a:srgbClr val="3FA070"/>
                </a:solidFill>
                <a:latin typeface="Courier New"/>
                <a:cs typeface="Courier New"/>
              </a:rPr>
              <a:t>2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*</a:t>
            </a:r>
            <a:r>
              <a:rPr sz="900" spc="-10" dirty="0">
                <a:solidFill>
                  <a:srgbClr val="007F00"/>
                </a:solidFill>
                <a:latin typeface="Courier New"/>
                <a:cs typeface="Courier New"/>
              </a:rPr>
              <a:t>pi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*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t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*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f1)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;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signal2</a:t>
            </a:r>
            <a:r>
              <a:rPr sz="900" spc="5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z="900" spc="5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a2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*</a:t>
            </a:r>
            <a:r>
              <a:rPr sz="900" spc="-10" dirty="0">
                <a:solidFill>
                  <a:srgbClr val="05287C"/>
                </a:solidFill>
                <a:latin typeface="Courier New"/>
                <a:cs typeface="Courier New"/>
              </a:rPr>
              <a:t>sin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(</a:t>
            </a:r>
            <a:r>
              <a:rPr sz="900" spc="-10" dirty="0">
                <a:solidFill>
                  <a:srgbClr val="3FA070"/>
                </a:solidFill>
                <a:latin typeface="Courier New"/>
                <a:cs typeface="Courier New"/>
              </a:rPr>
              <a:t>2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*</a:t>
            </a:r>
            <a:r>
              <a:rPr sz="900" spc="-10" dirty="0">
                <a:solidFill>
                  <a:srgbClr val="007F00"/>
                </a:solidFill>
                <a:latin typeface="Courier New"/>
                <a:cs typeface="Courier New"/>
              </a:rPr>
              <a:t>pi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*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t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*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f2)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;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signal</a:t>
            </a:r>
            <a:r>
              <a:rPr sz="900" spc="5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z="900" spc="50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signal1</a:t>
            </a:r>
            <a:r>
              <a:rPr sz="900" spc="5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+</a:t>
            </a:r>
            <a:r>
              <a:rPr sz="900" spc="50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signal2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;</a:t>
            </a:r>
            <a:endParaRPr sz="900">
              <a:latin typeface="Courier New"/>
              <a:cs typeface="Courier New"/>
            </a:endParaRPr>
          </a:p>
          <a:p>
            <a:pPr marL="12700" algn="just">
              <a:lnSpc>
                <a:spcPct val="100000"/>
              </a:lnSpc>
              <a:spcBef>
                <a:spcPts val="475"/>
              </a:spcBef>
            </a:pPr>
            <a:r>
              <a:rPr sz="900" i="1" dirty="0">
                <a:solidFill>
                  <a:srgbClr val="60A0AF"/>
                </a:solidFill>
                <a:latin typeface="Courier New"/>
                <a:cs typeface="Courier New"/>
              </a:rPr>
              <a:t>%</a:t>
            </a:r>
            <a:r>
              <a:rPr sz="900" i="1" spc="50" dirty="0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60A0AF"/>
                </a:solidFill>
                <a:latin typeface="Courier New"/>
                <a:cs typeface="Courier New"/>
              </a:rPr>
              <a:t>Подсчет</a:t>
            </a:r>
            <a:r>
              <a:rPr sz="900" i="1" spc="55" dirty="0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sz="900" i="1" spc="-10" dirty="0">
                <a:solidFill>
                  <a:srgbClr val="60A0AF"/>
                </a:solidFill>
                <a:latin typeface="Courier New"/>
                <a:cs typeface="Courier New"/>
              </a:rPr>
              <a:t>спектра:</a:t>
            </a:r>
            <a:endParaRPr sz="900">
              <a:latin typeface="Courier New"/>
              <a:cs typeface="Courier New"/>
            </a:endParaRPr>
          </a:p>
          <a:p>
            <a:pPr marL="12700" marR="1685289">
              <a:lnSpc>
                <a:spcPct val="144300"/>
              </a:lnSpc>
            </a:pP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spectre</a:t>
            </a:r>
            <a:r>
              <a:rPr sz="900" spc="5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z="900" spc="5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05287C"/>
                </a:solidFill>
                <a:latin typeface="Courier New"/>
                <a:cs typeface="Courier New"/>
              </a:rPr>
              <a:t>fft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(signal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,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fd)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;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f</a:t>
            </a:r>
            <a:r>
              <a:rPr sz="900" spc="2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z="900" spc="20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3FA070"/>
                </a:solidFill>
                <a:latin typeface="Courier New"/>
                <a:cs typeface="Courier New"/>
              </a:rPr>
              <a:t>1000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*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(</a:t>
            </a:r>
            <a:r>
              <a:rPr sz="900" spc="-10" dirty="0">
                <a:solidFill>
                  <a:srgbClr val="3FA070"/>
                </a:solidFill>
                <a:latin typeface="Courier New"/>
                <a:cs typeface="Courier New"/>
              </a:rPr>
              <a:t>0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: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fd2)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./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(</a:t>
            </a:r>
            <a:r>
              <a:rPr sz="900" spc="-10" dirty="0">
                <a:solidFill>
                  <a:srgbClr val="3FA070"/>
                </a:solidFill>
                <a:latin typeface="Courier New"/>
                <a:cs typeface="Courier New"/>
              </a:rPr>
              <a:t>2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*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fd)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;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spectre</a:t>
            </a:r>
            <a:r>
              <a:rPr sz="900" spc="5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z="900" spc="5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3FA070"/>
                </a:solidFill>
                <a:latin typeface="Courier New"/>
                <a:cs typeface="Courier New"/>
              </a:rPr>
              <a:t>2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*</a:t>
            </a:r>
            <a:r>
              <a:rPr sz="900" spc="-10" dirty="0">
                <a:solidFill>
                  <a:srgbClr val="05287C"/>
                </a:solidFill>
                <a:latin typeface="Courier New"/>
                <a:cs typeface="Courier New"/>
              </a:rPr>
              <a:t>sqrt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(spectre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.*</a:t>
            </a:r>
            <a:r>
              <a:rPr sz="900" spc="-10" dirty="0">
                <a:solidFill>
                  <a:srgbClr val="05287C"/>
                </a:solidFill>
                <a:latin typeface="Courier New"/>
                <a:cs typeface="Courier New"/>
              </a:rPr>
              <a:t>conj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(spectre))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./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fd2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;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35560">
              <a:lnSpc>
                <a:spcPct val="100000"/>
              </a:lnSpc>
              <a:spcBef>
                <a:spcPts val="165"/>
              </a:spcBef>
            </a:pPr>
            <a:fld id="{81D60167-4931-47E6-BA6A-407CBD079E47}" type="slidenum">
              <a:rPr spc="-10" dirty="0"/>
              <a:t>16</a:t>
            </a:fld>
            <a:r>
              <a:rPr spc="-10" dirty="0"/>
              <a:t>/33</a:t>
            </a:r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2631" y="82852"/>
            <a:ext cx="763270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dirty="0">
                <a:solidFill>
                  <a:srgbClr val="F9F9F9"/>
                </a:solidFill>
                <a:latin typeface="Trebuchet MS"/>
                <a:cs typeface="Trebuchet MS"/>
              </a:rPr>
              <a:t>Задание</a:t>
            </a:r>
            <a:r>
              <a:rPr sz="1000" spc="40" dirty="0">
                <a:solidFill>
                  <a:srgbClr val="F9F9F9"/>
                </a:solidFill>
                <a:latin typeface="Trebuchet MS"/>
                <a:cs typeface="Trebuchet MS"/>
              </a:rPr>
              <a:t> </a:t>
            </a:r>
            <a:r>
              <a:rPr sz="1000" spc="65" dirty="0">
                <a:solidFill>
                  <a:srgbClr val="F9F9F9"/>
                </a:solidFill>
                <a:latin typeface="Trebuchet MS"/>
                <a:cs typeface="Trebuchet MS"/>
              </a:rPr>
              <a:t>№3</a:t>
            </a:r>
            <a:endParaRPr sz="10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358793"/>
            <a:ext cx="5760085" cy="2693670"/>
            <a:chOff x="0" y="358793"/>
            <a:chExt cx="5760085" cy="2693670"/>
          </a:xfrm>
        </p:grpSpPr>
        <p:sp>
          <p:nvSpPr>
            <p:cNvPr id="4" name="object 4"/>
            <p:cNvSpPr/>
            <p:nvPr/>
          </p:nvSpPr>
          <p:spPr>
            <a:xfrm>
              <a:off x="0" y="361327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5879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58793"/>
              <a:ext cx="3316604" cy="5080"/>
            </a:xfrm>
            <a:custGeom>
              <a:avLst/>
              <a:gdLst/>
              <a:ahLst/>
              <a:cxnLst/>
              <a:rect l="l" t="t" r="r" b="b"/>
              <a:pathLst>
                <a:path w="3316604" h="5079">
                  <a:moveTo>
                    <a:pt x="0" y="5060"/>
                  </a:moveTo>
                  <a:lnTo>
                    <a:pt x="0" y="0"/>
                  </a:lnTo>
                  <a:lnTo>
                    <a:pt x="3316419" y="0"/>
                  </a:lnTo>
                  <a:lnTo>
                    <a:pt x="331641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0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5999" y="405932"/>
              <a:ext cx="3527971" cy="2645978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35560">
              <a:lnSpc>
                <a:spcPct val="100000"/>
              </a:lnSpc>
              <a:spcBef>
                <a:spcPts val="165"/>
              </a:spcBef>
            </a:pPr>
            <a:fld id="{81D60167-4931-47E6-BA6A-407CBD079E47}" type="slidenum">
              <a:rPr spc="-10" dirty="0"/>
              <a:t>17</a:t>
            </a:fld>
            <a:r>
              <a:rPr spc="-10" dirty="0"/>
              <a:t>/33</a:t>
            </a:r>
          </a:p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2631" y="82852"/>
            <a:ext cx="763270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dirty="0">
                <a:solidFill>
                  <a:srgbClr val="F9F9F9"/>
                </a:solidFill>
                <a:latin typeface="Trebuchet MS"/>
                <a:cs typeface="Trebuchet MS"/>
              </a:rPr>
              <a:t>Задание</a:t>
            </a:r>
            <a:r>
              <a:rPr sz="1000" spc="40" dirty="0">
                <a:solidFill>
                  <a:srgbClr val="F9F9F9"/>
                </a:solidFill>
                <a:latin typeface="Trebuchet MS"/>
                <a:cs typeface="Trebuchet MS"/>
              </a:rPr>
              <a:t> </a:t>
            </a:r>
            <a:r>
              <a:rPr sz="1000" spc="65" dirty="0">
                <a:solidFill>
                  <a:srgbClr val="F9F9F9"/>
                </a:solidFill>
                <a:latin typeface="Trebuchet MS"/>
                <a:cs typeface="Trebuchet MS"/>
              </a:rPr>
              <a:t>№3</a:t>
            </a:r>
            <a:endParaRPr sz="10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358793"/>
            <a:ext cx="5760085" cy="2677160"/>
            <a:chOff x="0" y="358793"/>
            <a:chExt cx="5760085" cy="2677160"/>
          </a:xfrm>
        </p:grpSpPr>
        <p:sp>
          <p:nvSpPr>
            <p:cNvPr id="4" name="object 4"/>
            <p:cNvSpPr/>
            <p:nvPr/>
          </p:nvSpPr>
          <p:spPr>
            <a:xfrm>
              <a:off x="0" y="361327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5879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58793"/>
              <a:ext cx="3491229" cy="5080"/>
            </a:xfrm>
            <a:custGeom>
              <a:avLst/>
              <a:gdLst/>
              <a:ahLst/>
              <a:cxnLst/>
              <a:rect l="l" t="t" r="r" b="b"/>
              <a:pathLst>
                <a:path w="3491229" h="5079">
                  <a:moveTo>
                    <a:pt x="0" y="5060"/>
                  </a:moveTo>
                  <a:lnTo>
                    <a:pt x="0" y="0"/>
                  </a:lnTo>
                  <a:lnTo>
                    <a:pt x="3490972" y="0"/>
                  </a:lnTo>
                  <a:lnTo>
                    <a:pt x="349097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0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6050" y="405926"/>
              <a:ext cx="3527872" cy="2629868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35560">
              <a:lnSpc>
                <a:spcPct val="100000"/>
              </a:lnSpc>
              <a:spcBef>
                <a:spcPts val="165"/>
              </a:spcBef>
            </a:pPr>
            <a:fld id="{81D60167-4931-47E6-BA6A-407CBD079E47}" type="slidenum">
              <a:rPr spc="-10" dirty="0"/>
              <a:t>18</a:t>
            </a:fld>
            <a:r>
              <a:rPr spc="-10" dirty="0"/>
              <a:t>/33</a:t>
            </a:r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2631" y="82852"/>
            <a:ext cx="763270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dirty="0">
                <a:solidFill>
                  <a:srgbClr val="F9F9F9"/>
                </a:solidFill>
                <a:latin typeface="Trebuchet MS"/>
                <a:cs typeface="Trebuchet MS"/>
              </a:rPr>
              <a:t>Задание</a:t>
            </a:r>
            <a:r>
              <a:rPr sz="1000" spc="40" dirty="0">
                <a:solidFill>
                  <a:srgbClr val="F9F9F9"/>
                </a:solidFill>
                <a:latin typeface="Trebuchet MS"/>
                <a:cs typeface="Trebuchet MS"/>
              </a:rPr>
              <a:t> </a:t>
            </a:r>
            <a:r>
              <a:rPr sz="1000" spc="65" dirty="0">
                <a:solidFill>
                  <a:srgbClr val="F9F9F9"/>
                </a:solidFill>
                <a:latin typeface="Trebuchet MS"/>
                <a:cs typeface="Trebuchet MS"/>
              </a:rPr>
              <a:t>№3</a:t>
            </a:r>
            <a:endParaRPr sz="10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358793"/>
            <a:ext cx="5760085" cy="5080"/>
            <a:chOff x="0" y="358793"/>
            <a:chExt cx="5760085" cy="5080"/>
          </a:xfrm>
        </p:grpSpPr>
        <p:sp>
          <p:nvSpPr>
            <p:cNvPr id="4" name="object 4"/>
            <p:cNvSpPr/>
            <p:nvPr/>
          </p:nvSpPr>
          <p:spPr>
            <a:xfrm>
              <a:off x="0" y="361327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5879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58793"/>
              <a:ext cx="3665854" cy="5080"/>
            </a:xfrm>
            <a:custGeom>
              <a:avLst/>
              <a:gdLst/>
              <a:ahLst/>
              <a:cxnLst/>
              <a:rect l="l" t="t" r="r" b="b"/>
              <a:pathLst>
                <a:path w="3665854" h="5079">
                  <a:moveTo>
                    <a:pt x="0" y="5060"/>
                  </a:moveTo>
                  <a:lnTo>
                    <a:pt x="0" y="0"/>
                  </a:lnTo>
                  <a:lnTo>
                    <a:pt x="3665525" y="0"/>
                  </a:lnTo>
                  <a:lnTo>
                    <a:pt x="366552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0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47294" y="460828"/>
            <a:ext cx="3192780" cy="1670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Пример</a:t>
            </a:r>
            <a:r>
              <a:rPr sz="900" spc="7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графика</a:t>
            </a:r>
            <a:r>
              <a:rPr sz="900" spc="7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с</a:t>
            </a:r>
            <a:r>
              <a:rPr sz="900" spc="8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частотой</a:t>
            </a:r>
            <a:r>
              <a:rPr sz="900" spc="7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дискретизации</a:t>
            </a:r>
            <a:r>
              <a:rPr sz="900" spc="8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меньше</a:t>
            </a:r>
            <a:r>
              <a:rPr sz="900" spc="7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80</a:t>
            </a:r>
            <a:r>
              <a:rPr sz="900" spc="8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spc="-25" dirty="0">
                <a:solidFill>
                  <a:srgbClr val="22373A"/>
                </a:solidFill>
                <a:latin typeface="Tahoma"/>
                <a:cs typeface="Tahoma"/>
              </a:rPr>
              <a:t>Гц:</a:t>
            </a:r>
            <a:endParaRPr sz="90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5999" y="726874"/>
            <a:ext cx="3527971" cy="2513124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35560">
              <a:lnSpc>
                <a:spcPct val="100000"/>
              </a:lnSpc>
              <a:spcBef>
                <a:spcPts val="165"/>
              </a:spcBef>
            </a:pPr>
            <a:fld id="{81D60167-4931-47E6-BA6A-407CBD079E47}" type="slidenum">
              <a:rPr spc="-10" dirty="0"/>
              <a:t>19</a:t>
            </a:fld>
            <a:r>
              <a:rPr spc="-10" dirty="0"/>
              <a:t>/33</a:t>
            </a:r>
          </a:p>
        </p:txBody>
      </p: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Задание</a:t>
            </a:r>
            <a:r>
              <a:rPr spc="40" dirty="0"/>
              <a:t> </a:t>
            </a:r>
            <a:r>
              <a:rPr spc="80" dirty="0"/>
              <a:t>№4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358793"/>
            <a:ext cx="5760085" cy="5080"/>
            <a:chOff x="0" y="358793"/>
            <a:chExt cx="5760085" cy="5080"/>
          </a:xfrm>
        </p:grpSpPr>
        <p:sp>
          <p:nvSpPr>
            <p:cNvPr id="4" name="object 4"/>
            <p:cNvSpPr/>
            <p:nvPr/>
          </p:nvSpPr>
          <p:spPr>
            <a:xfrm>
              <a:off x="0" y="361327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5879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58793"/>
              <a:ext cx="3840479" cy="5080"/>
            </a:xfrm>
            <a:custGeom>
              <a:avLst/>
              <a:gdLst/>
              <a:ahLst/>
              <a:cxnLst/>
              <a:rect l="l" t="t" r="r" b="b"/>
              <a:pathLst>
                <a:path w="3840479" h="5079">
                  <a:moveTo>
                    <a:pt x="0" y="5060"/>
                  </a:moveTo>
                  <a:lnTo>
                    <a:pt x="0" y="0"/>
                  </a:lnTo>
                  <a:lnTo>
                    <a:pt x="3840078" y="0"/>
                  </a:lnTo>
                  <a:lnTo>
                    <a:pt x="3840078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0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47294" y="460828"/>
            <a:ext cx="3204845" cy="26403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00" spc="10" dirty="0">
                <a:solidFill>
                  <a:srgbClr val="22373A"/>
                </a:solidFill>
                <a:latin typeface="Tahoma"/>
                <a:cs typeface="Tahoma"/>
              </a:rPr>
              <a:t>Продемонстрируем</a:t>
            </a:r>
            <a:r>
              <a:rPr sz="900" spc="3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2373A"/>
                </a:solidFill>
                <a:latin typeface="Tahoma"/>
                <a:cs typeface="Tahoma"/>
              </a:rPr>
              <a:t>аналоговую</a:t>
            </a:r>
            <a:r>
              <a:rPr sz="900" spc="4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2373A"/>
                </a:solidFill>
                <a:latin typeface="Tahoma"/>
                <a:cs typeface="Tahoma"/>
              </a:rPr>
              <a:t>амплитудную</a:t>
            </a:r>
            <a:r>
              <a:rPr sz="900" spc="4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Tahoma"/>
                <a:cs typeface="Tahoma"/>
              </a:rPr>
              <a:t>модуляцию: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9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tmax</a:t>
            </a:r>
            <a:r>
              <a:rPr sz="900" spc="3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z="900" spc="3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spc="-20" dirty="0">
                <a:solidFill>
                  <a:srgbClr val="3FA070"/>
                </a:solidFill>
                <a:latin typeface="Courier New"/>
                <a:cs typeface="Courier New"/>
              </a:rPr>
              <a:t>0.5</a:t>
            </a:r>
            <a:r>
              <a:rPr sz="900" spc="-20" dirty="0">
                <a:solidFill>
                  <a:srgbClr val="666666"/>
                </a:solidFill>
                <a:latin typeface="Courier New"/>
                <a:cs typeface="Courier New"/>
              </a:rPr>
              <a:t>;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fd</a:t>
            </a:r>
            <a:r>
              <a:rPr sz="900" spc="2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z="900" spc="2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spc="-20" dirty="0">
                <a:solidFill>
                  <a:srgbClr val="3FA070"/>
                </a:solidFill>
                <a:latin typeface="Courier New"/>
                <a:cs typeface="Courier New"/>
              </a:rPr>
              <a:t>512</a:t>
            </a:r>
            <a:r>
              <a:rPr sz="900" spc="-20" dirty="0">
                <a:solidFill>
                  <a:srgbClr val="666666"/>
                </a:solidFill>
                <a:latin typeface="Courier New"/>
                <a:cs typeface="Courier New"/>
              </a:rPr>
              <a:t>;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f1</a:t>
            </a:r>
            <a:r>
              <a:rPr sz="900" spc="2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z="900" spc="2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spc="-25" dirty="0">
                <a:solidFill>
                  <a:srgbClr val="3FA070"/>
                </a:solidFill>
                <a:latin typeface="Courier New"/>
                <a:cs typeface="Courier New"/>
              </a:rPr>
              <a:t>5</a:t>
            </a:r>
            <a:r>
              <a:rPr sz="900" spc="-25" dirty="0">
                <a:solidFill>
                  <a:srgbClr val="666666"/>
                </a:solidFill>
                <a:latin typeface="Courier New"/>
                <a:cs typeface="Courier New"/>
              </a:rPr>
              <a:t>;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f2</a:t>
            </a:r>
            <a:r>
              <a:rPr sz="900" spc="2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z="900" spc="2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spc="-20" dirty="0">
                <a:solidFill>
                  <a:srgbClr val="3FA070"/>
                </a:solidFill>
                <a:latin typeface="Courier New"/>
                <a:cs typeface="Courier New"/>
              </a:rPr>
              <a:t>512</a:t>
            </a:r>
            <a:r>
              <a:rPr sz="900" spc="-20" dirty="0">
                <a:solidFill>
                  <a:srgbClr val="666666"/>
                </a:solidFill>
                <a:latin typeface="Courier New"/>
                <a:cs typeface="Courier New"/>
              </a:rPr>
              <a:t>;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fd2</a:t>
            </a:r>
            <a:r>
              <a:rPr sz="900" spc="3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z="900" spc="30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fd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/</a:t>
            </a:r>
            <a:r>
              <a:rPr sz="900" spc="-10" dirty="0">
                <a:solidFill>
                  <a:srgbClr val="3FA070"/>
                </a:solidFill>
                <a:latin typeface="Courier New"/>
                <a:cs typeface="Courier New"/>
              </a:rPr>
              <a:t>2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;</a:t>
            </a:r>
            <a:endParaRPr sz="900">
              <a:latin typeface="Courier New"/>
              <a:cs typeface="Courier New"/>
            </a:endParaRPr>
          </a:p>
          <a:p>
            <a:pPr marL="12700" marR="1433195">
              <a:lnSpc>
                <a:spcPct val="144300"/>
              </a:lnSpc>
            </a:pP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t</a:t>
            </a:r>
            <a:r>
              <a:rPr sz="900" spc="2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z="900" spc="20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3FA070"/>
                </a:solidFill>
                <a:latin typeface="Courier New"/>
                <a:cs typeface="Courier New"/>
              </a:rPr>
              <a:t>0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:</a:t>
            </a:r>
            <a:r>
              <a:rPr sz="900" spc="-10" dirty="0">
                <a:solidFill>
                  <a:srgbClr val="3FA070"/>
                </a:solidFill>
                <a:latin typeface="Courier New"/>
                <a:cs typeface="Courier New"/>
              </a:rPr>
              <a:t>1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./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fd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: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tmax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;</a:t>
            </a:r>
            <a:r>
              <a:rPr sz="900" spc="500" dirty="0">
                <a:solidFill>
                  <a:srgbClr val="666666"/>
                </a:solidFill>
                <a:latin typeface="Courier New"/>
                <a:cs typeface="Courier New"/>
              </a:rPr>
              <a:t> 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signal1</a:t>
            </a:r>
            <a:r>
              <a:rPr sz="900" spc="5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z="900" spc="5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05287C"/>
                </a:solidFill>
                <a:latin typeface="Courier New"/>
                <a:cs typeface="Courier New"/>
              </a:rPr>
              <a:t>sin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(</a:t>
            </a:r>
            <a:r>
              <a:rPr sz="900" spc="-10" dirty="0">
                <a:solidFill>
                  <a:srgbClr val="3FA070"/>
                </a:solidFill>
                <a:latin typeface="Courier New"/>
                <a:cs typeface="Courier New"/>
              </a:rPr>
              <a:t>2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*</a:t>
            </a:r>
            <a:r>
              <a:rPr sz="900" spc="-10" dirty="0">
                <a:solidFill>
                  <a:srgbClr val="007F00"/>
                </a:solidFill>
                <a:latin typeface="Courier New"/>
                <a:cs typeface="Courier New"/>
              </a:rPr>
              <a:t>pi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*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t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*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f1)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;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signal2</a:t>
            </a:r>
            <a:r>
              <a:rPr sz="900" spc="5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z="900" spc="5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05287C"/>
                </a:solidFill>
                <a:latin typeface="Courier New"/>
                <a:cs typeface="Courier New"/>
              </a:rPr>
              <a:t>sin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(</a:t>
            </a:r>
            <a:r>
              <a:rPr sz="900" spc="-10" dirty="0">
                <a:solidFill>
                  <a:srgbClr val="3FA070"/>
                </a:solidFill>
                <a:latin typeface="Courier New"/>
                <a:cs typeface="Courier New"/>
              </a:rPr>
              <a:t>2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*</a:t>
            </a:r>
            <a:r>
              <a:rPr sz="900" spc="-10" dirty="0">
                <a:solidFill>
                  <a:srgbClr val="007F00"/>
                </a:solidFill>
                <a:latin typeface="Courier New"/>
                <a:cs typeface="Courier New"/>
              </a:rPr>
              <a:t>pi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*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t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*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f2)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;</a:t>
            </a:r>
            <a:endParaRPr sz="900">
              <a:latin typeface="Courier New"/>
              <a:cs typeface="Courier New"/>
            </a:endParaRPr>
          </a:p>
          <a:p>
            <a:pPr marL="12700" marR="1223010">
              <a:lnSpc>
                <a:spcPct val="144300"/>
              </a:lnSpc>
            </a:pP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signal</a:t>
            </a:r>
            <a:r>
              <a:rPr sz="900" spc="5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z="900" spc="5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signal1</a:t>
            </a:r>
            <a:r>
              <a:rPr sz="900" spc="5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.*</a:t>
            </a:r>
            <a:r>
              <a:rPr sz="900" spc="5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signal2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; </a:t>
            </a:r>
            <a:r>
              <a:rPr sz="900" dirty="0">
                <a:solidFill>
                  <a:srgbClr val="05287C"/>
                </a:solidFill>
                <a:latin typeface="Courier New"/>
                <a:cs typeface="Courier New"/>
              </a:rPr>
              <a:t>plot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(signal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,</a:t>
            </a:r>
            <a:r>
              <a:rPr sz="900" spc="130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spc="-20" dirty="0">
                <a:solidFill>
                  <a:srgbClr val="3F70A0"/>
                </a:solidFill>
                <a:latin typeface="Courier New"/>
                <a:cs typeface="Courier New"/>
              </a:rPr>
              <a:t>'b'</a:t>
            </a:r>
            <a:r>
              <a:rPr sz="900" spc="-20" dirty="0">
                <a:solidFill>
                  <a:srgbClr val="22373A"/>
                </a:solidFill>
                <a:latin typeface="Courier New"/>
                <a:cs typeface="Courier New"/>
              </a:rPr>
              <a:t>)</a:t>
            </a:r>
            <a:r>
              <a:rPr sz="900" spc="-20" dirty="0">
                <a:solidFill>
                  <a:srgbClr val="666666"/>
                </a:solidFill>
                <a:latin typeface="Courier New"/>
                <a:cs typeface="Courier New"/>
              </a:rPr>
              <a:t>;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900" dirty="0">
                <a:solidFill>
                  <a:srgbClr val="05287C"/>
                </a:solidFill>
                <a:latin typeface="Courier New"/>
                <a:cs typeface="Courier New"/>
              </a:rPr>
              <a:t>plot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(signal1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,</a:t>
            </a:r>
            <a:r>
              <a:rPr sz="900" spc="14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spc="-20" dirty="0">
                <a:solidFill>
                  <a:srgbClr val="3F70A0"/>
                </a:solidFill>
                <a:latin typeface="Courier New"/>
                <a:cs typeface="Courier New"/>
              </a:rPr>
              <a:t>'r'</a:t>
            </a:r>
            <a:r>
              <a:rPr sz="900" spc="-20" dirty="0">
                <a:solidFill>
                  <a:srgbClr val="22373A"/>
                </a:solidFill>
                <a:latin typeface="Courier New"/>
                <a:cs typeface="Courier New"/>
              </a:rPr>
              <a:t>)</a:t>
            </a:r>
            <a:r>
              <a:rPr sz="900" spc="-20" dirty="0">
                <a:solidFill>
                  <a:srgbClr val="666666"/>
                </a:solidFill>
                <a:latin typeface="Courier New"/>
                <a:cs typeface="Courier New"/>
              </a:rPr>
              <a:t>;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900" dirty="0">
                <a:solidFill>
                  <a:srgbClr val="05287C"/>
                </a:solidFill>
                <a:latin typeface="Courier New"/>
                <a:cs typeface="Courier New"/>
              </a:rPr>
              <a:t>plot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(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-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signal1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,</a:t>
            </a:r>
            <a:r>
              <a:rPr sz="900" spc="150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spc="-20" dirty="0">
                <a:solidFill>
                  <a:srgbClr val="3F70A0"/>
                </a:solidFill>
                <a:latin typeface="Courier New"/>
                <a:cs typeface="Courier New"/>
              </a:rPr>
              <a:t>'r'</a:t>
            </a:r>
            <a:r>
              <a:rPr sz="900" spc="-20" dirty="0">
                <a:solidFill>
                  <a:srgbClr val="22373A"/>
                </a:solidFill>
                <a:latin typeface="Courier New"/>
                <a:cs typeface="Courier New"/>
              </a:rPr>
              <a:t>)</a:t>
            </a:r>
            <a:r>
              <a:rPr sz="900" spc="-20" dirty="0">
                <a:solidFill>
                  <a:srgbClr val="666666"/>
                </a:solidFill>
                <a:latin typeface="Courier New"/>
                <a:cs typeface="Courier New"/>
              </a:rPr>
              <a:t>;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38228" y="2997946"/>
            <a:ext cx="233679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solidFill>
                  <a:srgbClr val="22373A"/>
                </a:solidFill>
                <a:latin typeface="Tahoma"/>
                <a:cs typeface="Tahoma"/>
              </a:rPr>
              <a:t>22/33</a:t>
            </a:r>
            <a:endParaRPr sz="65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2631" y="82852"/>
            <a:ext cx="76771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dirty="0">
                <a:solidFill>
                  <a:srgbClr val="F9F9F9"/>
                </a:solidFill>
                <a:latin typeface="Trebuchet MS"/>
                <a:cs typeface="Trebuchet MS"/>
              </a:rPr>
              <a:t>Задание</a:t>
            </a:r>
            <a:r>
              <a:rPr sz="1000" spc="40" dirty="0">
                <a:solidFill>
                  <a:srgbClr val="F9F9F9"/>
                </a:solidFill>
                <a:latin typeface="Trebuchet MS"/>
                <a:cs typeface="Trebuchet MS"/>
              </a:rPr>
              <a:t> </a:t>
            </a:r>
            <a:r>
              <a:rPr sz="1000" spc="80" dirty="0">
                <a:solidFill>
                  <a:srgbClr val="F9F9F9"/>
                </a:solidFill>
                <a:latin typeface="Trebuchet MS"/>
                <a:cs typeface="Trebuchet MS"/>
              </a:rPr>
              <a:t>№4</a:t>
            </a:r>
            <a:endParaRPr sz="10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358793"/>
            <a:ext cx="5760085" cy="2677160"/>
            <a:chOff x="0" y="358793"/>
            <a:chExt cx="5760085" cy="2677160"/>
          </a:xfrm>
        </p:grpSpPr>
        <p:sp>
          <p:nvSpPr>
            <p:cNvPr id="4" name="object 4"/>
            <p:cNvSpPr/>
            <p:nvPr/>
          </p:nvSpPr>
          <p:spPr>
            <a:xfrm>
              <a:off x="0" y="361327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5879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58793"/>
              <a:ext cx="4015104" cy="5080"/>
            </a:xfrm>
            <a:custGeom>
              <a:avLst/>
              <a:gdLst/>
              <a:ahLst/>
              <a:cxnLst/>
              <a:rect l="l" t="t" r="r" b="b"/>
              <a:pathLst>
                <a:path w="4015104" h="5079">
                  <a:moveTo>
                    <a:pt x="0" y="5060"/>
                  </a:moveTo>
                  <a:lnTo>
                    <a:pt x="0" y="0"/>
                  </a:lnTo>
                  <a:lnTo>
                    <a:pt x="4014631" y="0"/>
                  </a:lnTo>
                  <a:lnTo>
                    <a:pt x="401463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0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6050" y="405926"/>
              <a:ext cx="3527872" cy="2629868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65"/>
              </a:spcBef>
            </a:pPr>
            <a:fld id="{81D60167-4931-47E6-BA6A-407CBD079E47}" type="slidenum">
              <a:rPr spc="-10" dirty="0"/>
              <a:t>21</a:t>
            </a:fld>
            <a:r>
              <a:rPr spc="-10" dirty="0"/>
              <a:t>/33</a:t>
            </a:r>
          </a:p>
        </p:txBody>
      </p:sp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Задание</a:t>
            </a:r>
            <a:r>
              <a:rPr spc="40" dirty="0"/>
              <a:t> </a:t>
            </a:r>
            <a:r>
              <a:rPr spc="80" dirty="0"/>
              <a:t>№4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358793"/>
            <a:ext cx="5760085" cy="5080"/>
            <a:chOff x="0" y="358793"/>
            <a:chExt cx="5760085" cy="5080"/>
          </a:xfrm>
        </p:grpSpPr>
        <p:sp>
          <p:nvSpPr>
            <p:cNvPr id="4" name="object 4"/>
            <p:cNvSpPr/>
            <p:nvPr/>
          </p:nvSpPr>
          <p:spPr>
            <a:xfrm>
              <a:off x="0" y="361327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5879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58793"/>
              <a:ext cx="4189095" cy="5080"/>
            </a:xfrm>
            <a:custGeom>
              <a:avLst/>
              <a:gdLst/>
              <a:ahLst/>
              <a:cxnLst/>
              <a:rect l="l" t="t" r="r" b="b"/>
              <a:pathLst>
                <a:path w="4189095" h="5079">
                  <a:moveTo>
                    <a:pt x="0" y="5060"/>
                  </a:moveTo>
                  <a:lnTo>
                    <a:pt x="0" y="0"/>
                  </a:lnTo>
                  <a:lnTo>
                    <a:pt x="4189096" y="0"/>
                  </a:lnTo>
                  <a:lnTo>
                    <a:pt x="418909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0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47294" y="1145561"/>
            <a:ext cx="4760595" cy="105727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Далее</a:t>
            </a:r>
            <a:r>
              <a:rPr sz="900" spc="8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построим</a:t>
            </a:r>
            <a:r>
              <a:rPr sz="900" spc="9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спектр</a:t>
            </a:r>
            <a:r>
              <a:rPr sz="900" spc="9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произведения,</a:t>
            </a:r>
            <a:r>
              <a:rPr sz="900" spc="9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который</a:t>
            </a:r>
            <a:r>
              <a:rPr sz="900" spc="9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представляет</a:t>
            </a:r>
            <a:r>
              <a:rPr sz="900" spc="9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собой</a:t>
            </a:r>
            <a:r>
              <a:rPr sz="900" spc="8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свертку</a:t>
            </a:r>
            <a:r>
              <a:rPr sz="900" spc="9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Tahoma"/>
                <a:cs typeface="Tahoma"/>
              </a:rPr>
              <a:t>спекторв.</a:t>
            </a:r>
            <a:endParaRPr sz="900">
              <a:latin typeface="Tahoma"/>
              <a:cs typeface="Tahoma"/>
            </a:endParaRPr>
          </a:p>
          <a:p>
            <a:pPr marL="12700" marR="2988310">
              <a:lnSpc>
                <a:spcPct val="144300"/>
              </a:lnSpc>
              <a:spcBef>
                <a:spcPts val="780"/>
              </a:spcBef>
            </a:pP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spectre</a:t>
            </a:r>
            <a:r>
              <a:rPr sz="900" spc="5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z="900" spc="5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05287C"/>
                </a:solidFill>
                <a:latin typeface="Courier New"/>
                <a:cs typeface="Courier New"/>
              </a:rPr>
              <a:t>fft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(signal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,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fd)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;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f</a:t>
            </a:r>
            <a:r>
              <a:rPr sz="900" spc="2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z="900" spc="20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3FA070"/>
                </a:solidFill>
                <a:latin typeface="Courier New"/>
                <a:cs typeface="Courier New"/>
              </a:rPr>
              <a:t>1000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*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(</a:t>
            </a:r>
            <a:r>
              <a:rPr sz="900" spc="-10" dirty="0">
                <a:solidFill>
                  <a:srgbClr val="3FA070"/>
                </a:solidFill>
                <a:latin typeface="Courier New"/>
                <a:cs typeface="Courier New"/>
              </a:rPr>
              <a:t>0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: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fd2)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./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(</a:t>
            </a:r>
            <a:r>
              <a:rPr sz="900" spc="-10" dirty="0">
                <a:solidFill>
                  <a:srgbClr val="3FA070"/>
                </a:solidFill>
                <a:latin typeface="Courier New"/>
                <a:cs typeface="Courier New"/>
              </a:rPr>
              <a:t>2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*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fd)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;</a:t>
            </a:r>
            <a:endParaRPr sz="900">
              <a:latin typeface="Courier New"/>
              <a:cs typeface="Courier New"/>
            </a:endParaRPr>
          </a:p>
          <a:p>
            <a:pPr marL="12700" marR="1517650">
              <a:lnSpc>
                <a:spcPct val="144300"/>
              </a:lnSpc>
            </a:pP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spectre</a:t>
            </a:r>
            <a:r>
              <a:rPr sz="900" spc="5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z="900" spc="5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3FA070"/>
                </a:solidFill>
                <a:latin typeface="Courier New"/>
                <a:cs typeface="Courier New"/>
              </a:rPr>
              <a:t>2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*</a:t>
            </a:r>
            <a:r>
              <a:rPr sz="900" spc="-10" dirty="0">
                <a:solidFill>
                  <a:srgbClr val="05287C"/>
                </a:solidFill>
                <a:latin typeface="Courier New"/>
                <a:cs typeface="Courier New"/>
              </a:rPr>
              <a:t>sqrt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(spectre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.*</a:t>
            </a:r>
            <a:r>
              <a:rPr sz="900" spc="-10" dirty="0">
                <a:solidFill>
                  <a:srgbClr val="05287C"/>
                </a:solidFill>
                <a:latin typeface="Courier New"/>
                <a:cs typeface="Courier New"/>
              </a:rPr>
              <a:t>conj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(spectre))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./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fd2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; </a:t>
            </a:r>
            <a:r>
              <a:rPr sz="900" dirty="0">
                <a:solidFill>
                  <a:srgbClr val="05287C"/>
                </a:solidFill>
                <a:latin typeface="Courier New"/>
                <a:cs typeface="Courier New"/>
              </a:rPr>
              <a:t>plot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(f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,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spectre(</a:t>
            </a:r>
            <a:r>
              <a:rPr sz="900" dirty="0">
                <a:solidFill>
                  <a:srgbClr val="3FA070"/>
                </a:solidFill>
                <a:latin typeface="Courier New"/>
                <a:cs typeface="Courier New"/>
              </a:rPr>
              <a:t>1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: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fd2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+</a:t>
            </a:r>
            <a:r>
              <a:rPr sz="900" dirty="0">
                <a:solidFill>
                  <a:srgbClr val="3FA070"/>
                </a:solidFill>
                <a:latin typeface="Courier New"/>
                <a:cs typeface="Courier New"/>
              </a:rPr>
              <a:t>1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)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,</a:t>
            </a:r>
            <a:r>
              <a:rPr sz="900" spc="24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spc="-20" dirty="0">
                <a:solidFill>
                  <a:srgbClr val="3F70A0"/>
                </a:solidFill>
                <a:latin typeface="Courier New"/>
                <a:cs typeface="Courier New"/>
              </a:rPr>
              <a:t>'b'</a:t>
            </a:r>
            <a:r>
              <a:rPr sz="900" spc="-20" dirty="0">
                <a:solidFill>
                  <a:srgbClr val="22373A"/>
                </a:solidFill>
                <a:latin typeface="Courier New"/>
                <a:cs typeface="Courier New"/>
              </a:rPr>
              <a:t>)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65"/>
              </a:spcBef>
            </a:pPr>
            <a:fld id="{81D60167-4931-47E6-BA6A-407CBD079E47}" type="slidenum">
              <a:rPr spc="-10" dirty="0"/>
              <a:t>22</a:t>
            </a:fld>
            <a:r>
              <a:rPr spc="-10" dirty="0"/>
              <a:t>/33</a:t>
            </a:r>
          </a:p>
        </p:txBody>
      </p:sp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2631" y="82852"/>
            <a:ext cx="76771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dirty="0">
                <a:solidFill>
                  <a:srgbClr val="F9F9F9"/>
                </a:solidFill>
                <a:latin typeface="Trebuchet MS"/>
                <a:cs typeface="Trebuchet MS"/>
              </a:rPr>
              <a:t>Задание</a:t>
            </a:r>
            <a:r>
              <a:rPr sz="1000" spc="40" dirty="0">
                <a:solidFill>
                  <a:srgbClr val="F9F9F9"/>
                </a:solidFill>
                <a:latin typeface="Trebuchet MS"/>
                <a:cs typeface="Trebuchet MS"/>
              </a:rPr>
              <a:t> </a:t>
            </a:r>
            <a:r>
              <a:rPr sz="1000" spc="80" dirty="0">
                <a:solidFill>
                  <a:srgbClr val="F9F9F9"/>
                </a:solidFill>
                <a:latin typeface="Trebuchet MS"/>
                <a:cs typeface="Trebuchet MS"/>
              </a:rPr>
              <a:t>№4</a:t>
            </a:r>
            <a:endParaRPr sz="10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358793"/>
            <a:ext cx="5760085" cy="2677160"/>
            <a:chOff x="0" y="358793"/>
            <a:chExt cx="5760085" cy="2677160"/>
          </a:xfrm>
        </p:grpSpPr>
        <p:sp>
          <p:nvSpPr>
            <p:cNvPr id="4" name="object 4"/>
            <p:cNvSpPr/>
            <p:nvPr/>
          </p:nvSpPr>
          <p:spPr>
            <a:xfrm>
              <a:off x="0" y="361327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5879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58793"/>
              <a:ext cx="4363720" cy="5080"/>
            </a:xfrm>
            <a:custGeom>
              <a:avLst/>
              <a:gdLst/>
              <a:ahLst/>
              <a:cxnLst/>
              <a:rect l="l" t="t" r="r" b="b"/>
              <a:pathLst>
                <a:path w="4363720" h="5079">
                  <a:moveTo>
                    <a:pt x="0" y="5060"/>
                  </a:moveTo>
                  <a:lnTo>
                    <a:pt x="0" y="0"/>
                  </a:lnTo>
                  <a:lnTo>
                    <a:pt x="4363649" y="0"/>
                  </a:lnTo>
                  <a:lnTo>
                    <a:pt x="436364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0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6050" y="405926"/>
              <a:ext cx="3527872" cy="2629868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65"/>
              </a:spcBef>
            </a:pPr>
            <a:fld id="{81D60167-4931-47E6-BA6A-407CBD079E47}" type="slidenum">
              <a:rPr spc="-10" dirty="0"/>
              <a:t>23</a:t>
            </a:fld>
            <a:r>
              <a:rPr spc="-10" dirty="0"/>
              <a:t>/33</a:t>
            </a:r>
          </a:p>
        </p:txBody>
      </p:sp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Задание</a:t>
            </a:r>
            <a:r>
              <a:rPr spc="40" dirty="0"/>
              <a:t> </a:t>
            </a:r>
            <a:r>
              <a:rPr spc="65" dirty="0"/>
              <a:t>№5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358793"/>
            <a:ext cx="5760085" cy="5080"/>
            <a:chOff x="0" y="358793"/>
            <a:chExt cx="5760085" cy="5080"/>
          </a:xfrm>
        </p:grpSpPr>
        <p:sp>
          <p:nvSpPr>
            <p:cNvPr id="4" name="object 4"/>
            <p:cNvSpPr/>
            <p:nvPr/>
          </p:nvSpPr>
          <p:spPr>
            <a:xfrm>
              <a:off x="0" y="361327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5879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58793"/>
              <a:ext cx="4538345" cy="5080"/>
            </a:xfrm>
            <a:custGeom>
              <a:avLst/>
              <a:gdLst/>
              <a:ahLst/>
              <a:cxnLst/>
              <a:rect l="l" t="t" r="r" b="b"/>
              <a:pathLst>
                <a:path w="4538345" h="5079">
                  <a:moveTo>
                    <a:pt x="0" y="5060"/>
                  </a:moveTo>
                  <a:lnTo>
                    <a:pt x="0" y="0"/>
                  </a:lnTo>
                  <a:lnTo>
                    <a:pt x="4538202" y="0"/>
                  </a:lnTo>
                  <a:lnTo>
                    <a:pt x="453820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0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47294" y="460828"/>
            <a:ext cx="5418455" cy="24422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Содержание</a:t>
            </a:r>
            <a:r>
              <a:rPr sz="900" spc="8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файла</a:t>
            </a:r>
            <a:r>
              <a:rPr sz="900" spc="8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main.m</a:t>
            </a:r>
            <a:r>
              <a:rPr sz="900" spc="8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spc="-50" dirty="0">
                <a:solidFill>
                  <a:srgbClr val="22373A"/>
                </a:solidFill>
                <a:latin typeface="Tahoma"/>
                <a:cs typeface="Tahoma"/>
              </a:rPr>
              <a:t>: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9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900" i="1" dirty="0">
                <a:solidFill>
                  <a:srgbClr val="60A0AF"/>
                </a:solidFill>
                <a:latin typeface="Courier New"/>
                <a:cs typeface="Courier New"/>
              </a:rPr>
              <a:t>%</a:t>
            </a:r>
            <a:r>
              <a:rPr sz="900" i="1" spc="60" dirty="0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60A0AF"/>
                </a:solidFill>
                <a:latin typeface="Courier New"/>
                <a:cs typeface="Courier New"/>
              </a:rPr>
              <a:t>Входная</a:t>
            </a:r>
            <a:r>
              <a:rPr sz="900" i="1" spc="65" dirty="0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60A0AF"/>
                </a:solidFill>
                <a:latin typeface="Courier New"/>
                <a:cs typeface="Courier New"/>
              </a:rPr>
              <a:t>кодовая</a:t>
            </a:r>
            <a:r>
              <a:rPr sz="900" i="1" spc="65" dirty="0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sz="900" i="1" spc="-10" dirty="0">
                <a:solidFill>
                  <a:srgbClr val="60A0AF"/>
                </a:solidFill>
                <a:latin typeface="Courier New"/>
                <a:cs typeface="Courier New"/>
              </a:rPr>
              <a:t>последовательность: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data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[</a:t>
            </a:r>
            <a:r>
              <a:rPr sz="900" dirty="0">
                <a:solidFill>
                  <a:srgbClr val="3FA070"/>
                </a:solidFill>
                <a:latin typeface="Courier New"/>
                <a:cs typeface="Courier New"/>
              </a:rPr>
              <a:t>0</a:t>
            </a:r>
            <a:r>
              <a:rPr sz="900" spc="25" dirty="0">
                <a:solidFill>
                  <a:srgbClr val="3FA07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3FA070"/>
                </a:solidFill>
                <a:latin typeface="Courier New"/>
                <a:cs typeface="Courier New"/>
              </a:rPr>
              <a:t>1</a:t>
            </a:r>
            <a:r>
              <a:rPr sz="900" spc="25" dirty="0">
                <a:solidFill>
                  <a:srgbClr val="3FA07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3FA070"/>
                </a:solidFill>
                <a:latin typeface="Courier New"/>
                <a:cs typeface="Courier New"/>
              </a:rPr>
              <a:t>0</a:t>
            </a:r>
            <a:r>
              <a:rPr sz="900" spc="25" dirty="0">
                <a:solidFill>
                  <a:srgbClr val="3FA07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3FA070"/>
                </a:solidFill>
                <a:latin typeface="Courier New"/>
                <a:cs typeface="Courier New"/>
              </a:rPr>
              <a:t>0</a:t>
            </a:r>
            <a:r>
              <a:rPr sz="900" spc="25" dirty="0">
                <a:solidFill>
                  <a:srgbClr val="3FA07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3FA070"/>
                </a:solidFill>
                <a:latin typeface="Courier New"/>
                <a:cs typeface="Courier New"/>
              </a:rPr>
              <a:t>1</a:t>
            </a:r>
            <a:r>
              <a:rPr sz="900" spc="30" dirty="0">
                <a:solidFill>
                  <a:srgbClr val="3FA07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3FA070"/>
                </a:solidFill>
                <a:latin typeface="Courier New"/>
                <a:cs typeface="Courier New"/>
              </a:rPr>
              <a:t>1</a:t>
            </a:r>
            <a:r>
              <a:rPr sz="900" spc="25" dirty="0">
                <a:solidFill>
                  <a:srgbClr val="3FA07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3FA070"/>
                </a:solidFill>
                <a:latin typeface="Courier New"/>
                <a:cs typeface="Courier New"/>
              </a:rPr>
              <a:t>0</a:t>
            </a:r>
            <a:r>
              <a:rPr sz="900" spc="25" dirty="0">
                <a:solidFill>
                  <a:srgbClr val="3FA07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3FA070"/>
                </a:solidFill>
                <a:latin typeface="Courier New"/>
                <a:cs typeface="Courier New"/>
              </a:rPr>
              <a:t>0</a:t>
            </a:r>
            <a:r>
              <a:rPr sz="900" spc="25" dirty="0">
                <a:solidFill>
                  <a:srgbClr val="3FA07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3FA070"/>
                </a:solidFill>
                <a:latin typeface="Courier New"/>
                <a:cs typeface="Courier New"/>
              </a:rPr>
              <a:t>0</a:t>
            </a:r>
            <a:r>
              <a:rPr sz="900" spc="30" dirty="0">
                <a:solidFill>
                  <a:srgbClr val="3FA07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3FA070"/>
                </a:solidFill>
                <a:latin typeface="Courier New"/>
                <a:cs typeface="Courier New"/>
              </a:rPr>
              <a:t>1</a:t>
            </a:r>
            <a:r>
              <a:rPr sz="900" spc="25" dirty="0">
                <a:solidFill>
                  <a:srgbClr val="3FA07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3FA070"/>
                </a:solidFill>
                <a:latin typeface="Courier New"/>
                <a:cs typeface="Courier New"/>
              </a:rPr>
              <a:t>1</a:t>
            </a:r>
            <a:r>
              <a:rPr sz="900" spc="25" dirty="0">
                <a:solidFill>
                  <a:srgbClr val="3FA070"/>
                </a:solidFill>
                <a:latin typeface="Courier New"/>
                <a:cs typeface="Courier New"/>
              </a:rPr>
              <a:t> </a:t>
            </a:r>
            <a:r>
              <a:rPr sz="900" spc="-25" dirty="0">
                <a:solidFill>
                  <a:srgbClr val="3FA070"/>
                </a:solidFill>
                <a:latin typeface="Courier New"/>
                <a:cs typeface="Courier New"/>
              </a:rPr>
              <a:t>0</a:t>
            </a:r>
            <a:r>
              <a:rPr sz="900" spc="-25" dirty="0">
                <a:solidFill>
                  <a:srgbClr val="22373A"/>
                </a:solidFill>
                <a:latin typeface="Courier New"/>
                <a:cs typeface="Courier New"/>
              </a:rPr>
              <a:t>]</a:t>
            </a:r>
            <a:r>
              <a:rPr sz="900" spc="-25" dirty="0">
                <a:solidFill>
                  <a:srgbClr val="666666"/>
                </a:solidFill>
                <a:latin typeface="Courier New"/>
                <a:cs typeface="Courier New"/>
              </a:rPr>
              <a:t>;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900" i="1" dirty="0">
                <a:solidFill>
                  <a:srgbClr val="60A0AF"/>
                </a:solidFill>
                <a:latin typeface="Courier New"/>
                <a:cs typeface="Courier New"/>
              </a:rPr>
              <a:t>%</a:t>
            </a:r>
            <a:r>
              <a:rPr sz="900" i="1" spc="85" dirty="0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60A0AF"/>
                </a:solidFill>
                <a:latin typeface="Courier New"/>
                <a:cs typeface="Courier New"/>
              </a:rPr>
              <a:t>Входная</a:t>
            </a:r>
            <a:r>
              <a:rPr sz="900" i="1" spc="90" dirty="0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60A0AF"/>
                </a:solidFill>
                <a:latin typeface="Courier New"/>
                <a:cs typeface="Courier New"/>
              </a:rPr>
              <a:t>кодовая</a:t>
            </a:r>
            <a:r>
              <a:rPr sz="900" i="1" spc="90" dirty="0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60A0AF"/>
                </a:solidFill>
                <a:latin typeface="Courier New"/>
                <a:cs typeface="Courier New"/>
              </a:rPr>
              <a:t>последовательность</a:t>
            </a:r>
            <a:r>
              <a:rPr sz="900" i="1" spc="90" dirty="0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60A0AF"/>
                </a:solidFill>
                <a:latin typeface="Courier New"/>
                <a:cs typeface="Courier New"/>
              </a:rPr>
              <a:t>для</a:t>
            </a:r>
            <a:r>
              <a:rPr sz="900" i="1" spc="90" dirty="0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60A0AF"/>
                </a:solidFill>
                <a:latin typeface="Courier New"/>
                <a:cs typeface="Courier New"/>
              </a:rPr>
              <a:t>проверки</a:t>
            </a:r>
            <a:r>
              <a:rPr sz="900" i="1" spc="90" dirty="0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60A0AF"/>
                </a:solidFill>
                <a:latin typeface="Courier New"/>
                <a:cs typeface="Courier New"/>
              </a:rPr>
              <a:t>свойства</a:t>
            </a:r>
            <a:r>
              <a:rPr sz="900" i="1" spc="90" dirty="0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sz="900" i="1" spc="-10" dirty="0">
                <a:solidFill>
                  <a:srgbClr val="60A0AF"/>
                </a:solidFill>
                <a:latin typeface="Courier New"/>
                <a:cs typeface="Courier New"/>
              </a:rPr>
              <a:t>самосинхронизации: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data_sync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[</a:t>
            </a:r>
            <a:r>
              <a:rPr sz="900" dirty="0">
                <a:solidFill>
                  <a:srgbClr val="3FA070"/>
                </a:solidFill>
                <a:latin typeface="Courier New"/>
                <a:cs typeface="Courier New"/>
              </a:rPr>
              <a:t>0</a:t>
            </a:r>
            <a:r>
              <a:rPr sz="900" spc="25" dirty="0">
                <a:solidFill>
                  <a:srgbClr val="3FA07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3FA070"/>
                </a:solidFill>
                <a:latin typeface="Courier New"/>
                <a:cs typeface="Courier New"/>
              </a:rPr>
              <a:t>0</a:t>
            </a:r>
            <a:r>
              <a:rPr sz="900" spc="30" dirty="0">
                <a:solidFill>
                  <a:srgbClr val="3FA07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3FA070"/>
                </a:solidFill>
                <a:latin typeface="Courier New"/>
                <a:cs typeface="Courier New"/>
              </a:rPr>
              <a:t>0</a:t>
            </a:r>
            <a:r>
              <a:rPr sz="900" spc="30" dirty="0">
                <a:solidFill>
                  <a:srgbClr val="3FA07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3FA070"/>
                </a:solidFill>
                <a:latin typeface="Courier New"/>
                <a:cs typeface="Courier New"/>
              </a:rPr>
              <a:t>0</a:t>
            </a:r>
            <a:r>
              <a:rPr sz="900" spc="30" dirty="0">
                <a:solidFill>
                  <a:srgbClr val="3FA07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3FA070"/>
                </a:solidFill>
                <a:latin typeface="Courier New"/>
                <a:cs typeface="Courier New"/>
              </a:rPr>
              <a:t>0</a:t>
            </a:r>
            <a:r>
              <a:rPr sz="900" spc="30" dirty="0">
                <a:solidFill>
                  <a:srgbClr val="3FA07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3FA070"/>
                </a:solidFill>
                <a:latin typeface="Courier New"/>
                <a:cs typeface="Courier New"/>
              </a:rPr>
              <a:t>0</a:t>
            </a:r>
            <a:r>
              <a:rPr sz="900" spc="30" dirty="0">
                <a:solidFill>
                  <a:srgbClr val="3FA07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3FA070"/>
                </a:solidFill>
                <a:latin typeface="Courier New"/>
                <a:cs typeface="Courier New"/>
              </a:rPr>
              <a:t>0</a:t>
            </a:r>
            <a:r>
              <a:rPr sz="900" spc="30" dirty="0">
                <a:solidFill>
                  <a:srgbClr val="3FA07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3FA070"/>
                </a:solidFill>
                <a:latin typeface="Courier New"/>
                <a:cs typeface="Courier New"/>
              </a:rPr>
              <a:t>1</a:t>
            </a:r>
            <a:r>
              <a:rPr sz="900" spc="30" dirty="0">
                <a:solidFill>
                  <a:srgbClr val="3FA07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3FA070"/>
                </a:solidFill>
                <a:latin typeface="Courier New"/>
                <a:cs typeface="Courier New"/>
              </a:rPr>
              <a:t>1</a:t>
            </a:r>
            <a:r>
              <a:rPr sz="900" spc="30" dirty="0">
                <a:solidFill>
                  <a:srgbClr val="3FA07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3FA070"/>
                </a:solidFill>
                <a:latin typeface="Courier New"/>
                <a:cs typeface="Courier New"/>
              </a:rPr>
              <a:t>1</a:t>
            </a:r>
            <a:r>
              <a:rPr sz="900" spc="25" dirty="0">
                <a:solidFill>
                  <a:srgbClr val="3FA07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3FA070"/>
                </a:solidFill>
                <a:latin typeface="Courier New"/>
                <a:cs typeface="Courier New"/>
              </a:rPr>
              <a:t>1</a:t>
            </a:r>
            <a:r>
              <a:rPr sz="900" spc="30" dirty="0">
                <a:solidFill>
                  <a:srgbClr val="3FA07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3FA070"/>
                </a:solidFill>
                <a:latin typeface="Courier New"/>
                <a:cs typeface="Courier New"/>
              </a:rPr>
              <a:t>1</a:t>
            </a:r>
            <a:r>
              <a:rPr sz="900" spc="30" dirty="0">
                <a:solidFill>
                  <a:srgbClr val="3FA07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3FA070"/>
                </a:solidFill>
                <a:latin typeface="Courier New"/>
                <a:cs typeface="Courier New"/>
              </a:rPr>
              <a:t>1</a:t>
            </a:r>
            <a:r>
              <a:rPr sz="900" spc="30" dirty="0">
                <a:solidFill>
                  <a:srgbClr val="3FA070"/>
                </a:solidFill>
                <a:latin typeface="Courier New"/>
                <a:cs typeface="Courier New"/>
              </a:rPr>
              <a:t> </a:t>
            </a:r>
            <a:r>
              <a:rPr sz="900" spc="-25" dirty="0">
                <a:solidFill>
                  <a:srgbClr val="3FA070"/>
                </a:solidFill>
                <a:latin typeface="Courier New"/>
                <a:cs typeface="Courier New"/>
              </a:rPr>
              <a:t>1</a:t>
            </a:r>
            <a:r>
              <a:rPr sz="900" spc="-25" dirty="0">
                <a:solidFill>
                  <a:srgbClr val="22373A"/>
                </a:solidFill>
                <a:latin typeface="Courier New"/>
                <a:cs typeface="Courier New"/>
              </a:rPr>
              <a:t>]</a:t>
            </a:r>
            <a:r>
              <a:rPr sz="900" spc="-25" dirty="0">
                <a:solidFill>
                  <a:srgbClr val="666666"/>
                </a:solidFill>
                <a:latin typeface="Courier New"/>
                <a:cs typeface="Courier New"/>
              </a:rPr>
              <a:t>;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900" i="1" dirty="0">
                <a:solidFill>
                  <a:srgbClr val="60A0AF"/>
                </a:solidFill>
                <a:latin typeface="Courier New"/>
                <a:cs typeface="Courier New"/>
              </a:rPr>
              <a:t>%</a:t>
            </a:r>
            <a:r>
              <a:rPr sz="900" i="1" spc="90" dirty="0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60A0AF"/>
                </a:solidFill>
                <a:latin typeface="Courier New"/>
                <a:cs typeface="Courier New"/>
              </a:rPr>
              <a:t>Входная</a:t>
            </a:r>
            <a:r>
              <a:rPr sz="900" i="1" spc="90" dirty="0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60A0AF"/>
                </a:solidFill>
                <a:latin typeface="Courier New"/>
                <a:cs typeface="Courier New"/>
              </a:rPr>
              <a:t>кодовая</a:t>
            </a:r>
            <a:r>
              <a:rPr sz="900" i="1" spc="90" dirty="0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60A0AF"/>
                </a:solidFill>
                <a:latin typeface="Courier New"/>
                <a:cs typeface="Courier New"/>
              </a:rPr>
              <a:t>последовательность</a:t>
            </a:r>
            <a:r>
              <a:rPr sz="900" i="1" spc="95" dirty="0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60A0AF"/>
                </a:solidFill>
                <a:latin typeface="Courier New"/>
                <a:cs typeface="Courier New"/>
              </a:rPr>
              <a:t>для</a:t>
            </a:r>
            <a:r>
              <a:rPr sz="900" i="1" spc="90" dirty="0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60A0AF"/>
                </a:solidFill>
                <a:latin typeface="Courier New"/>
                <a:cs typeface="Courier New"/>
              </a:rPr>
              <a:t>построения</a:t>
            </a:r>
            <a:r>
              <a:rPr sz="900" i="1" spc="90" dirty="0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60A0AF"/>
                </a:solidFill>
                <a:latin typeface="Courier New"/>
                <a:cs typeface="Courier New"/>
              </a:rPr>
              <a:t>спектра</a:t>
            </a:r>
            <a:r>
              <a:rPr sz="900" i="1" spc="90" dirty="0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sz="900" i="1" spc="-10" dirty="0">
                <a:solidFill>
                  <a:srgbClr val="60A0AF"/>
                </a:solidFill>
                <a:latin typeface="Courier New"/>
                <a:cs typeface="Courier New"/>
              </a:rPr>
              <a:t>сигнала: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data_spectre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[</a:t>
            </a:r>
            <a:r>
              <a:rPr sz="900" dirty="0">
                <a:solidFill>
                  <a:srgbClr val="3FA070"/>
                </a:solidFill>
                <a:latin typeface="Courier New"/>
                <a:cs typeface="Courier New"/>
              </a:rPr>
              <a:t>0</a:t>
            </a:r>
            <a:r>
              <a:rPr sz="900" spc="30" dirty="0">
                <a:solidFill>
                  <a:srgbClr val="3FA07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3FA070"/>
                </a:solidFill>
                <a:latin typeface="Courier New"/>
                <a:cs typeface="Courier New"/>
              </a:rPr>
              <a:t>1</a:t>
            </a:r>
            <a:r>
              <a:rPr sz="900" spc="30" dirty="0">
                <a:solidFill>
                  <a:srgbClr val="3FA07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3FA070"/>
                </a:solidFill>
                <a:latin typeface="Courier New"/>
                <a:cs typeface="Courier New"/>
              </a:rPr>
              <a:t>0</a:t>
            </a:r>
            <a:r>
              <a:rPr sz="900" spc="35" dirty="0">
                <a:solidFill>
                  <a:srgbClr val="3FA07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3FA070"/>
                </a:solidFill>
                <a:latin typeface="Courier New"/>
                <a:cs typeface="Courier New"/>
              </a:rPr>
              <a:t>1</a:t>
            </a:r>
            <a:r>
              <a:rPr sz="900" spc="30" dirty="0">
                <a:solidFill>
                  <a:srgbClr val="3FA07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3FA070"/>
                </a:solidFill>
                <a:latin typeface="Courier New"/>
                <a:cs typeface="Courier New"/>
              </a:rPr>
              <a:t>0</a:t>
            </a:r>
            <a:r>
              <a:rPr sz="900" spc="30" dirty="0">
                <a:solidFill>
                  <a:srgbClr val="3FA07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3FA070"/>
                </a:solidFill>
                <a:latin typeface="Courier New"/>
                <a:cs typeface="Courier New"/>
              </a:rPr>
              <a:t>1</a:t>
            </a:r>
            <a:r>
              <a:rPr sz="900" spc="35" dirty="0">
                <a:solidFill>
                  <a:srgbClr val="3FA07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3FA070"/>
                </a:solidFill>
                <a:latin typeface="Courier New"/>
                <a:cs typeface="Courier New"/>
              </a:rPr>
              <a:t>0</a:t>
            </a:r>
            <a:r>
              <a:rPr sz="900" spc="30" dirty="0">
                <a:solidFill>
                  <a:srgbClr val="3FA07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3FA070"/>
                </a:solidFill>
                <a:latin typeface="Courier New"/>
                <a:cs typeface="Courier New"/>
              </a:rPr>
              <a:t>1</a:t>
            </a:r>
            <a:r>
              <a:rPr sz="900" spc="35" dirty="0">
                <a:solidFill>
                  <a:srgbClr val="3FA07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3FA070"/>
                </a:solidFill>
                <a:latin typeface="Courier New"/>
                <a:cs typeface="Courier New"/>
              </a:rPr>
              <a:t>0</a:t>
            </a:r>
            <a:r>
              <a:rPr sz="900" spc="30" dirty="0">
                <a:solidFill>
                  <a:srgbClr val="3FA07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3FA070"/>
                </a:solidFill>
                <a:latin typeface="Courier New"/>
                <a:cs typeface="Courier New"/>
              </a:rPr>
              <a:t>1</a:t>
            </a:r>
            <a:r>
              <a:rPr sz="900" spc="30" dirty="0">
                <a:solidFill>
                  <a:srgbClr val="3FA07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3FA070"/>
                </a:solidFill>
                <a:latin typeface="Courier New"/>
                <a:cs typeface="Courier New"/>
              </a:rPr>
              <a:t>0</a:t>
            </a:r>
            <a:r>
              <a:rPr sz="900" spc="35" dirty="0">
                <a:solidFill>
                  <a:srgbClr val="3FA07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3FA070"/>
                </a:solidFill>
                <a:latin typeface="Courier New"/>
                <a:cs typeface="Courier New"/>
              </a:rPr>
              <a:t>1</a:t>
            </a:r>
            <a:r>
              <a:rPr sz="900" spc="30" dirty="0">
                <a:solidFill>
                  <a:srgbClr val="3FA07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3FA070"/>
                </a:solidFill>
                <a:latin typeface="Courier New"/>
                <a:cs typeface="Courier New"/>
              </a:rPr>
              <a:t>0</a:t>
            </a:r>
            <a:r>
              <a:rPr sz="900" spc="35" dirty="0">
                <a:solidFill>
                  <a:srgbClr val="3FA070"/>
                </a:solidFill>
                <a:latin typeface="Courier New"/>
                <a:cs typeface="Courier New"/>
              </a:rPr>
              <a:t> </a:t>
            </a:r>
            <a:r>
              <a:rPr sz="900" spc="-25" dirty="0">
                <a:solidFill>
                  <a:srgbClr val="3FA070"/>
                </a:solidFill>
                <a:latin typeface="Courier New"/>
                <a:cs typeface="Courier New"/>
              </a:rPr>
              <a:t>1</a:t>
            </a:r>
            <a:r>
              <a:rPr sz="900" spc="-25" dirty="0">
                <a:solidFill>
                  <a:srgbClr val="22373A"/>
                </a:solidFill>
                <a:latin typeface="Courier New"/>
                <a:cs typeface="Courier New"/>
              </a:rPr>
              <a:t>]</a:t>
            </a:r>
            <a:r>
              <a:rPr sz="900" spc="-25" dirty="0">
                <a:solidFill>
                  <a:srgbClr val="666666"/>
                </a:solidFill>
                <a:latin typeface="Courier New"/>
                <a:cs typeface="Courier New"/>
              </a:rPr>
              <a:t>;</a:t>
            </a:r>
            <a:endParaRPr sz="900">
              <a:latin typeface="Courier New"/>
              <a:cs typeface="Courier New"/>
            </a:endParaRPr>
          </a:p>
          <a:p>
            <a:pPr marL="12700" marR="3646804">
              <a:lnSpc>
                <a:spcPct val="144300"/>
              </a:lnSpc>
            </a:pPr>
            <a:r>
              <a:rPr sz="900" i="1" dirty="0">
                <a:solidFill>
                  <a:srgbClr val="60A0AF"/>
                </a:solidFill>
                <a:latin typeface="Courier New"/>
                <a:cs typeface="Courier New"/>
              </a:rPr>
              <a:t>%</a:t>
            </a:r>
            <a:r>
              <a:rPr sz="900" i="1" spc="70" dirty="0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60A0AF"/>
                </a:solidFill>
                <a:latin typeface="Courier New"/>
                <a:cs typeface="Courier New"/>
              </a:rPr>
              <a:t>Униполярное</a:t>
            </a:r>
            <a:r>
              <a:rPr sz="900" i="1" spc="75" dirty="0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sz="900" i="1" spc="-10" dirty="0">
                <a:solidFill>
                  <a:srgbClr val="60A0AF"/>
                </a:solidFill>
                <a:latin typeface="Courier New"/>
                <a:cs typeface="Courier New"/>
              </a:rPr>
              <a:t>кодирование 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wave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unipolar(data)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; </a:t>
            </a:r>
            <a:r>
              <a:rPr sz="900" spc="-10" dirty="0">
                <a:solidFill>
                  <a:srgbClr val="05287C"/>
                </a:solidFill>
                <a:latin typeface="Courier New"/>
                <a:cs typeface="Courier New"/>
              </a:rPr>
              <a:t>plot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(wave)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;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900" i="1" dirty="0">
                <a:solidFill>
                  <a:srgbClr val="60A0AF"/>
                </a:solidFill>
                <a:latin typeface="Courier New"/>
                <a:cs typeface="Courier New"/>
              </a:rPr>
              <a:t>%</a:t>
            </a:r>
            <a:r>
              <a:rPr sz="900" i="1" spc="70" dirty="0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60A0AF"/>
                </a:solidFill>
                <a:latin typeface="Courier New"/>
                <a:cs typeface="Courier New"/>
              </a:rPr>
              <a:t>Кодирование</a:t>
            </a:r>
            <a:r>
              <a:rPr sz="900" i="1" spc="75" dirty="0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sz="900" i="1" spc="-25" dirty="0">
                <a:solidFill>
                  <a:srgbClr val="60A0AF"/>
                </a:solidFill>
                <a:latin typeface="Courier New"/>
                <a:cs typeface="Courier New"/>
              </a:rPr>
              <a:t>ami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wave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ami(data)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;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7294" y="2935288"/>
            <a:ext cx="725805" cy="1657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spc="-10" dirty="0">
                <a:solidFill>
                  <a:srgbClr val="05287C"/>
                </a:solidFill>
                <a:latin typeface="Courier New"/>
                <a:cs typeface="Courier New"/>
              </a:rPr>
              <a:t>plot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(wave)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36082" y="2997946"/>
            <a:ext cx="235585" cy="1289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" spc="-10" dirty="0">
                <a:solidFill>
                  <a:srgbClr val="22373A"/>
                </a:solidFill>
                <a:latin typeface="Tahoma"/>
                <a:cs typeface="Tahoma"/>
              </a:rPr>
              <a:t>26/33</a:t>
            </a:r>
            <a:endParaRPr sz="65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Задание</a:t>
            </a:r>
            <a:r>
              <a:rPr spc="40" dirty="0"/>
              <a:t> </a:t>
            </a:r>
            <a:r>
              <a:rPr spc="65" dirty="0"/>
              <a:t>№5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358793"/>
            <a:ext cx="5760085" cy="5080"/>
            <a:chOff x="0" y="358793"/>
            <a:chExt cx="5760085" cy="5080"/>
          </a:xfrm>
        </p:grpSpPr>
        <p:sp>
          <p:nvSpPr>
            <p:cNvPr id="4" name="object 4"/>
            <p:cNvSpPr/>
            <p:nvPr/>
          </p:nvSpPr>
          <p:spPr>
            <a:xfrm>
              <a:off x="0" y="361327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5879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58793"/>
              <a:ext cx="4712970" cy="5080"/>
            </a:xfrm>
            <a:custGeom>
              <a:avLst/>
              <a:gdLst/>
              <a:ahLst/>
              <a:cxnLst/>
              <a:rect l="l" t="t" r="r" b="b"/>
              <a:pathLst>
                <a:path w="4712970" h="5079">
                  <a:moveTo>
                    <a:pt x="0" y="5060"/>
                  </a:moveTo>
                  <a:lnTo>
                    <a:pt x="0" y="0"/>
                  </a:lnTo>
                  <a:lnTo>
                    <a:pt x="4712755" y="0"/>
                  </a:lnTo>
                  <a:lnTo>
                    <a:pt x="471275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0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4300"/>
              </a:lnSpc>
              <a:spcBef>
                <a:spcPts val="95"/>
              </a:spcBef>
            </a:pPr>
            <a:r>
              <a:rPr dirty="0"/>
              <a:t>В</a:t>
            </a:r>
            <a:r>
              <a:rPr spc="60" dirty="0"/>
              <a:t> </a:t>
            </a:r>
            <a:r>
              <a:rPr dirty="0"/>
              <a:t>файле</a:t>
            </a:r>
            <a:r>
              <a:rPr spc="60" dirty="0"/>
              <a:t> </a:t>
            </a:r>
            <a:r>
              <a:rPr dirty="0" err="1"/>
              <a:t>maptowave.m</a:t>
            </a:r>
            <a:r>
              <a:rPr spc="60" dirty="0"/>
              <a:t> </a:t>
            </a:r>
            <a:r>
              <a:rPr dirty="0" err="1"/>
              <a:t>прописал</a:t>
            </a:r>
            <a:r>
              <a:rPr spc="60" dirty="0"/>
              <a:t> </a:t>
            </a:r>
            <a:r>
              <a:rPr dirty="0"/>
              <a:t>функцию,</a:t>
            </a:r>
            <a:r>
              <a:rPr spc="60" dirty="0"/>
              <a:t> </a:t>
            </a:r>
            <a:r>
              <a:rPr dirty="0"/>
              <a:t>которая</a:t>
            </a:r>
            <a:r>
              <a:rPr spc="60" dirty="0"/>
              <a:t> </a:t>
            </a:r>
            <a:r>
              <a:rPr dirty="0"/>
              <a:t>по</a:t>
            </a:r>
            <a:r>
              <a:rPr spc="60" dirty="0"/>
              <a:t> </a:t>
            </a:r>
            <a:r>
              <a:rPr dirty="0"/>
              <a:t>входному</a:t>
            </a:r>
            <a:r>
              <a:rPr spc="60" dirty="0"/>
              <a:t> </a:t>
            </a:r>
            <a:r>
              <a:rPr dirty="0"/>
              <a:t>битовому</a:t>
            </a:r>
            <a:r>
              <a:rPr spc="60" dirty="0"/>
              <a:t> </a:t>
            </a:r>
            <a:r>
              <a:rPr dirty="0"/>
              <a:t>потоку</a:t>
            </a:r>
            <a:r>
              <a:rPr spc="60" dirty="0"/>
              <a:t> </a:t>
            </a:r>
            <a:r>
              <a:rPr spc="-10" dirty="0"/>
              <a:t>строит </a:t>
            </a:r>
            <a:r>
              <a:rPr dirty="0"/>
              <a:t>график</a:t>
            </a:r>
            <a:r>
              <a:rPr spc="110" dirty="0"/>
              <a:t> </a:t>
            </a:r>
            <a:r>
              <a:rPr spc="-10" dirty="0"/>
              <a:t>сигнала:</a:t>
            </a:r>
          </a:p>
          <a:p>
            <a:pPr marL="12700" marR="2886710">
              <a:lnSpc>
                <a:spcPct val="144300"/>
              </a:lnSpc>
              <a:spcBef>
                <a:spcPts val="775"/>
              </a:spcBef>
            </a:pPr>
            <a:r>
              <a:rPr i="1" dirty="0">
                <a:solidFill>
                  <a:srgbClr val="60A0AF"/>
                </a:solidFill>
                <a:latin typeface="Courier New"/>
                <a:cs typeface="Courier New"/>
              </a:rPr>
              <a:t>%</a:t>
            </a:r>
            <a:r>
              <a:rPr i="1" spc="20" dirty="0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i="1" spc="-10" dirty="0">
                <a:solidFill>
                  <a:srgbClr val="60A0AF"/>
                </a:solidFill>
                <a:latin typeface="Courier New"/>
                <a:cs typeface="Courier New"/>
              </a:rPr>
              <a:t>coding/maptowave.m</a:t>
            </a:r>
            <a:r>
              <a:rPr i="1" spc="500" dirty="0">
                <a:solidFill>
                  <a:srgbClr val="60A0AF"/>
                </a:solidFill>
                <a:latin typeface="Courier New"/>
                <a:cs typeface="Courier New"/>
              </a:rPr>
              <a:t>  </a:t>
            </a:r>
            <a:r>
              <a:rPr dirty="0">
                <a:solidFill>
                  <a:srgbClr val="007021"/>
                </a:solidFill>
                <a:latin typeface="Courier New"/>
                <a:cs typeface="Courier New"/>
              </a:rPr>
              <a:t>function</a:t>
            </a:r>
            <a:r>
              <a:rPr spc="95" dirty="0">
                <a:solidFill>
                  <a:srgbClr val="007021"/>
                </a:solidFill>
                <a:latin typeface="Courier New"/>
                <a:cs typeface="Courier New"/>
              </a:rPr>
              <a:t> </a:t>
            </a:r>
            <a:r>
              <a:rPr spc="-10" dirty="0">
                <a:latin typeface="Courier New"/>
                <a:cs typeface="Courier New"/>
              </a:rPr>
              <a:t>wave</a:t>
            </a:r>
            <a:r>
              <a:rPr spc="-10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pc="-10" dirty="0">
                <a:latin typeface="Courier New"/>
                <a:cs typeface="Courier New"/>
              </a:rPr>
              <a:t>maptowave(data) data</a:t>
            </a:r>
            <a:r>
              <a:rPr spc="-10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pc="-10" dirty="0">
                <a:latin typeface="Courier New"/>
                <a:cs typeface="Courier New"/>
              </a:rPr>
              <a:t>upsample(data</a:t>
            </a:r>
            <a:r>
              <a:rPr spc="-10" dirty="0">
                <a:solidFill>
                  <a:srgbClr val="666666"/>
                </a:solidFill>
                <a:latin typeface="Courier New"/>
                <a:cs typeface="Courier New"/>
              </a:rPr>
              <a:t>,</a:t>
            </a:r>
            <a:r>
              <a:rPr spc="-10" dirty="0">
                <a:solidFill>
                  <a:srgbClr val="3FA070"/>
                </a:solidFill>
                <a:latin typeface="Courier New"/>
                <a:cs typeface="Courier New"/>
              </a:rPr>
              <a:t>100</a:t>
            </a:r>
            <a:r>
              <a:rPr spc="-10" dirty="0">
                <a:latin typeface="Courier New"/>
                <a:cs typeface="Courier New"/>
              </a:rPr>
              <a:t>)</a:t>
            </a:r>
            <a:r>
              <a:rPr spc="-10" dirty="0">
                <a:solidFill>
                  <a:srgbClr val="666666"/>
                </a:solidFill>
                <a:latin typeface="Courier New"/>
                <a:cs typeface="Courier New"/>
              </a:rPr>
              <a:t>;</a:t>
            </a: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pc="-10" dirty="0">
                <a:latin typeface="Courier New"/>
                <a:cs typeface="Courier New"/>
              </a:rPr>
              <a:t>wave</a:t>
            </a:r>
            <a:r>
              <a:rPr spc="-10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pc="-10" dirty="0">
                <a:solidFill>
                  <a:srgbClr val="05287C"/>
                </a:solidFill>
                <a:latin typeface="Courier New"/>
                <a:cs typeface="Courier New"/>
              </a:rPr>
              <a:t>filter</a:t>
            </a:r>
            <a:r>
              <a:rPr spc="-10" dirty="0">
                <a:latin typeface="Courier New"/>
                <a:cs typeface="Courier New"/>
              </a:rPr>
              <a:t>(</a:t>
            </a:r>
            <a:r>
              <a:rPr spc="-10" dirty="0">
                <a:solidFill>
                  <a:srgbClr val="3FA070"/>
                </a:solidFill>
                <a:latin typeface="Courier New"/>
                <a:cs typeface="Courier New"/>
              </a:rPr>
              <a:t>5</a:t>
            </a:r>
            <a:r>
              <a:rPr spc="-10" dirty="0">
                <a:solidFill>
                  <a:srgbClr val="666666"/>
                </a:solidFill>
                <a:latin typeface="Courier New"/>
                <a:cs typeface="Courier New"/>
              </a:rPr>
              <a:t>*</a:t>
            </a:r>
            <a:r>
              <a:rPr spc="-10" dirty="0">
                <a:solidFill>
                  <a:srgbClr val="05287C"/>
                </a:solidFill>
                <a:latin typeface="Courier New"/>
                <a:cs typeface="Courier New"/>
              </a:rPr>
              <a:t>ones</a:t>
            </a:r>
            <a:r>
              <a:rPr spc="-10" dirty="0">
                <a:latin typeface="Courier New"/>
                <a:cs typeface="Courier New"/>
              </a:rPr>
              <a:t>(</a:t>
            </a:r>
            <a:r>
              <a:rPr spc="-10" dirty="0">
                <a:solidFill>
                  <a:srgbClr val="3FA070"/>
                </a:solidFill>
                <a:latin typeface="Courier New"/>
                <a:cs typeface="Courier New"/>
              </a:rPr>
              <a:t>1</a:t>
            </a:r>
            <a:r>
              <a:rPr spc="-10" dirty="0">
                <a:solidFill>
                  <a:srgbClr val="666666"/>
                </a:solidFill>
                <a:latin typeface="Courier New"/>
                <a:cs typeface="Courier New"/>
              </a:rPr>
              <a:t>,</a:t>
            </a:r>
            <a:r>
              <a:rPr spc="-10" dirty="0">
                <a:solidFill>
                  <a:srgbClr val="3FA070"/>
                </a:solidFill>
                <a:latin typeface="Courier New"/>
                <a:cs typeface="Courier New"/>
              </a:rPr>
              <a:t>100</a:t>
            </a:r>
            <a:r>
              <a:rPr spc="-10" dirty="0">
                <a:latin typeface="Courier New"/>
                <a:cs typeface="Courier New"/>
              </a:rPr>
              <a:t>)</a:t>
            </a:r>
            <a:r>
              <a:rPr spc="-10" dirty="0">
                <a:solidFill>
                  <a:srgbClr val="666666"/>
                </a:solidFill>
                <a:latin typeface="Courier New"/>
                <a:cs typeface="Courier New"/>
              </a:rPr>
              <a:t>,</a:t>
            </a:r>
            <a:r>
              <a:rPr spc="-10" dirty="0">
                <a:solidFill>
                  <a:srgbClr val="3FA070"/>
                </a:solidFill>
                <a:latin typeface="Courier New"/>
                <a:cs typeface="Courier New"/>
              </a:rPr>
              <a:t>1</a:t>
            </a:r>
            <a:r>
              <a:rPr spc="-10" dirty="0">
                <a:solidFill>
                  <a:srgbClr val="666666"/>
                </a:solidFill>
                <a:latin typeface="Courier New"/>
                <a:cs typeface="Courier New"/>
              </a:rPr>
              <a:t>,</a:t>
            </a:r>
            <a:r>
              <a:rPr spc="-10" dirty="0">
                <a:latin typeface="Courier New"/>
                <a:cs typeface="Courier New"/>
              </a:rPr>
              <a:t>data)</a:t>
            </a:r>
            <a:r>
              <a:rPr spc="-10" dirty="0">
                <a:solidFill>
                  <a:srgbClr val="666666"/>
                </a:solidFill>
                <a:latin typeface="Courier New"/>
                <a:cs typeface="Courier New"/>
              </a:rPr>
              <a:t>;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31115">
              <a:lnSpc>
                <a:spcPct val="100000"/>
              </a:lnSpc>
              <a:spcBef>
                <a:spcPts val="165"/>
              </a:spcBef>
            </a:pPr>
            <a:fld id="{81D60167-4931-47E6-BA6A-407CBD079E47}" type="slidenum">
              <a:rPr spc="-10" dirty="0"/>
              <a:t>25</a:t>
            </a:fld>
            <a:r>
              <a:rPr spc="-10" dirty="0"/>
              <a:t>/33</a:t>
            </a:r>
          </a:p>
        </p:txBody>
      </p:sp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Задание</a:t>
            </a:r>
            <a:r>
              <a:rPr spc="40" dirty="0"/>
              <a:t> </a:t>
            </a:r>
            <a:r>
              <a:rPr spc="65" dirty="0"/>
              <a:t>№5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358793"/>
            <a:ext cx="5760085" cy="5080"/>
            <a:chOff x="0" y="358793"/>
            <a:chExt cx="5760085" cy="5080"/>
          </a:xfrm>
        </p:grpSpPr>
        <p:sp>
          <p:nvSpPr>
            <p:cNvPr id="4" name="object 4"/>
            <p:cNvSpPr/>
            <p:nvPr/>
          </p:nvSpPr>
          <p:spPr>
            <a:xfrm>
              <a:off x="0" y="361327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5879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58793"/>
              <a:ext cx="4887595" cy="5080"/>
            </a:xfrm>
            <a:custGeom>
              <a:avLst/>
              <a:gdLst/>
              <a:ahLst/>
              <a:cxnLst/>
              <a:rect l="l" t="t" r="r" b="b"/>
              <a:pathLst>
                <a:path w="4887595" h="5079">
                  <a:moveTo>
                    <a:pt x="0" y="5060"/>
                  </a:moveTo>
                  <a:lnTo>
                    <a:pt x="0" y="0"/>
                  </a:lnTo>
                  <a:lnTo>
                    <a:pt x="4887308" y="0"/>
                  </a:lnTo>
                  <a:lnTo>
                    <a:pt x="4887308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0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47294" y="404091"/>
            <a:ext cx="4951730" cy="2499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4300"/>
              </a:lnSpc>
              <a:spcBef>
                <a:spcPts val="95"/>
              </a:spcBef>
            </a:pP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В</a:t>
            </a:r>
            <a:r>
              <a:rPr sz="900" spc="3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файлах</a:t>
            </a:r>
            <a:r>
              <a:rPr sz="900" spc="3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unipolar.m,</a:t>
            </a:r>
            <a:r>
              <a:rPr sz="900" spc="3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Tahoma"/>
                <a:cs typeface="Tahoma"/>
              </a:rPr>
              <a:t>ami.m,</a:t>
            </a:r>
            <a:r>
              <a:rPr sz="900" spc="4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bipolarnrz.m,</a:t>
            </a:r>
            <a:r>
              <a:rPr sz="900" spc="3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bipolarrz.m,</a:t>
            </a:r>
            <a:r>
              <a:rPr sz="900" spc="3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manchester.m,</a:t>
            </a:r>
            <a:r>
              <a:rPr sz="900" spc="4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diffmanc.m</a:t>
            </a:r>
            <a:r>
              <a:rPr sz="900" spc="3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Tahoma"/>
                <a:cs typeface="Tahoma"/>
              </a:rPr>
              <a:t>пропишим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соответствующие</a:t>
            </a:r>
            <a:r>
              <a:rPr sz="900" spc="6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2373A"/>
                </a:solidFill>
                <a:latin typeface="Tahoma"/>
                <a:cs typeface="Tahoma"/>
              </a:rPr>
              <a:t>функции</a:t>
            </a:r>
            <a:r>
              <a:rPr sz="900" spc="7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2373A"/>
                </a:solidFill>
                <a:latin typeface="Tahoma"/>
                <a:cs typeface="Tahoma"/>
              </a:rPr>
              <a:t>преобразования</a:t>
            </a:r>
            <a:r>
              <a:rPr sz="900" spc="7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2373A"/>
                </a:solidFill>
                <a:latin typeface="Tahoma"/>
                <a:cs typeface="Tahoma"/>
              </a:rPr>
              <a:t>кодовой</a:t>
            </a:r>
            <a:r>
              <a:rPr sz="900" spc="7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2373A"/>
                </a:solidFill>
                <a:latin typeface="Tahoma"/>
                <a:cs typeface="Tahoma"/>
              </a:rPr>
              <a:t>последовательности</a:t>
            </a:r>
            <a:r>
              <a:rPr sz="900" spc="6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2373A"/>
                </a:solidFill>
                <a:latin typeface="Tahoma"/>
                <a:cs typeface="Tahoma"/>
              </a:rPr>
              <a:t>data</a:t>
            </a:r>
            <a:r>
              <a:rPr sz="900" spc="7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2373A"/>
                </a:solidFill>
                <a:latin typeface="Tahoma"/>
                <a:cs typeface="Tahoma"/>
              </a:rPr>
              <a:t>с</a:t>
            </a:r>
            <a:r>
              <a:rPr sz="900" spc="7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Tahoma"/>
                <a:cs typeface="Tahoma"/>
              </a:rPr>
              <a:t>вызовом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функции</a:t>
            </a:r>
            <a:r>
              <a:rPr sz="900" spc="10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maptowave</a:t>
            </a:r>
            <a:r>
              <a:rPr sz="900" spc="10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для</a:t>
            </a:r>
            <a:r>
              <a:rPr sz="900" spc="10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построения</a:t>
            </a:r>
            <a:r>
              <a:rPr sz="900" spc="11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соответствующего</a:t>
            </a:r>
            <a:r>
              <a:rPr sz="900" spc="10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Tahoma"/>
                <a:cs typeface="Tahoma"/>
              </a:rPr>
              <a:t>графика.</a:t>
            </a:r>
            <a:endParaRPr sz="900">
              <a:latin typeface="Tahoma"/>
              <a:cs typeface="Tahoma"/>
            </a:endParaRPr>
          </a:p>
          <a:p>
            <a:pPr marL="12700" marR="2971165">
              <a:lnSpc>
                <a:spcPct val="144300"/>
              </a:lnSpc>
              <a:spcBef>
                <a:spcPts val="775"/>
              </a:spcBef>
            </a:pPr>
            <a:r>
              <a:rPr sz="900" i="1" dirty="0">
                <a:solidFill>
                  <a:srgbClr val="60A0AF"/>
                </a:solidFill>
                <a:latin typeface="Courier New"/>
                <a:cs typeface="Courier New"/>
              </a:rPr>
              <a:t>%</a:t>
            </a:r>
            <a:r>
              <a:rPr sz="900" i="1" spc="70" dirty="0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60A0AF"/>
                </a:solidFill>
                <a:latin typeface="Courier New"/>
                <a:cs typeface="Courier New"/>
              </a:rPr>
              <a:t>Униполярное</a:t>
            </a:r>
            <a:r>
              <a:rPr sz="900" i="1" spc="75" dirty="0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sz="900" i="1" spc="-10" dirty="0">
                <a:solidFill>
                  <a:srgbClr val="60A0AF"/>
                </a:solidFill>
                <a:latin typeface="Courier New"/>
                <a:cs typeface="Courier New"/>
              </a:rPr>
              <a:t>кодирование: </a:t>
            </a:r>
            <a:r>
              <a:rPr sz="900" dirty="0">
                <a:solidFill>
                  <a:srgbClr val="007021"/>
                </a:solidFill>
                <a:latin typeface="Courier New"/>
                <a:cs typeface="Courier New"/>
              </a:rPr>
              <a:t>function</a:t>
            </a:r>
            <a:r>
              <a:rPr sz="900" spc="95" dirty="0">
                <a:solidFill>
                  <a:srgbClr val="007021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wave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unipolar(data) wave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maptowave(data)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;</a:t>
            </a:r>
            <a:endParaRPr sz="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900" i="1" dirty="0">
                <a:solidFill>
                  <a:srgbClr val="60A0AF"/>
                </a:solidFill>
                <a:latin typeface="Courier New"/>
                <a:cs typeface="Courier New"/>
              </a:rPr>
              <a:t>%</a:t>
            </a:r>
            <a:r>
              <a:rPr sz="900" i="1" spc="70" dirty="0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60A0AF"/>
                </a:solidFill>
                <a:latin typeface="Courier New"/>
                <a:cs typeface="Courier New"/>
              </a:rPr>
              <a:t>Кодирование</a:t>
            </a:r>
            <a:r>
              <a:rPr sz="900" i="1" spc="75" dirty="0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sz="900" i="1" spc="-20" dirty="0">
                <a:solidFill>
                  <a:srgbClr val="60A0AF"/>
                </a:solidFill>
                <a:latin typeface="Courier New"/>
                <a:cs typeface="Courier New"/>
              </a:rPr>
              <a:t>AMI:</a:t>
            </a:r>
            <a:endParaRPr sz="900">
              <a:latin typeface="Courier New"/>
              <a:cs typeface="Courier New"/>
            </a:endParaRPr>
          </a:p>
          <a:p>
            <a:pPr marL="12700" marR="2550160">
              <a:lnSpc>
                <a:spcPct val="144300"/>
              </a:lnSpc>
            </a:pPr>
            <a:r>
              <a:rPr sz="900" dirty="0">
                <a:solidFill>
                  <a:srgbClr val="007021"/>
                </a:solidFill>
                <a:latin typeface="Courier New"/>
                <a:cs typeface="Courier New"/>
              </a:rPr>
              <a:t>function</a:t>
            </a:r>
            <a:r>
              <a:rPr sz="900" spc="95" dirty="0">
                <a:solidFill>
                  <a:srgbClr val="007021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wave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ami(data) am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z="900" spc="-10" dirty="0">
                <a:solidFill>
                  <a:srgbClr val="05287C"/>
                </a:solidFill>
                <a:latin typeface="Courier New"/>
                <a:cs typeface="Courier New"/>
              </a:rPr>
              <a:t>mod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(</a:t>
            </a:r>
            <a:r>
              <a:rPr sz="900" spc="-10" dirty="0">
                <a:solidFill>
                  <a:srgbClr val="3FA070"/>
                </a:solidFill>
                <a:latin typeface="Courier New"/>
                <a:cs typeface="Courier New"/>
              </a:rPr>
              <a:t>1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:</a:t>
            </a:r>
            <a:r>
              <a:rPr sz="900" spc="-10" dirty="0">
                <a:solidFill>
                  <a:srgbClr val="05287C"/>
                </a:solidFill>
                <a:latin typeface="Courier New"/>
                <a:cs typeface="Courier New"/>
              </a:rPr>
              <a:t>length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(data(data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==</a:t>
            </a:r>
            <a:r>
              <a:rPr sz="900" spc="-10" dirty="0">
                <a:solidFill>
                  <a:srgbClr val="3FA070"/>
                </a:solidFill>
                <a:latin typeface="Courier New"/>
                <a:cs typeface="Courier New"/>
              </a:rPr>
              <a:t>1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))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,</a:t>
            </a:r>
            <a:r>
              <a:rPr sz="900" spc="-10" dirty="0">
                <a:solidFill>
                  <a:srgbClr val="3FA070"/>
                </a:solidFill>
                <a:latin typeface="Courier New"/>
                <a:cs typeface="Courier New"/>
              </a:rPr>
              <a:t>2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)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;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am(am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==</a:t>
            </a:r>
            <a:r>
              <a:rPr sz="900" dirty="0">
                <a:solidFill>
                  <a:srgbClr val="3FA070"/>
                </a:solidFill>
                <a:latin typeface="Courier New"/>
                <a:cs typeface="Courier New"/>
              </a:rPr>
              <a:t>0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)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=-</a:t>
            </a:r>
            <a:r>
              <a:rPr sz="900" spc="-25" dirty="0">
                <a:solidFill>
                  <a:srgbClr val="3FA070"/>
                </a:solidFill>
                <a:latin typeface="Courier New"/>
                <a:cs typeface="Courier New"/>
              </a:rPr>
              <a:t>1</a:t>
            </a:r>
            <a:r>
              <a:rPr sz="900" spc="-25" dirty="0">
                <a:solidFill>
                  <a:srgbClr val="666666"/>
                </a:solidFill>
                <a:latin typeface="Courier New"/>
                <a:cs typeface="Courier New"/>
              </a:rPr>
              <a:t>;</a:t>
            </a:r>
            <a:endParaRPr sz="900">
              <a:latin typeface="Courier New"/>
              <a:cs typeface="Courier New"/>
            </a:endParaRPr>
          </a:p>
          <a:p>
            <a:pPr marL="12700" marR="3460115">
              <a:lnSpc>
                <a:spcPct val="144300"/>
              </a:lnSpc>
            </a:pP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data(data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==</a:t>
            </a:r>
            <a:r>
              <a:rPr sz="900" spc="-10" dirty="0">
                <a:solidFill>
                  <a:srgbClr val="3FA070"/>
                </a:solidFill>
                <a:latin typeface="Courier New"/>
                <a:cs typeface="Courier New"/>
              </a:rPr>
              <a:t>1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)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am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; 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wave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maptowave(data)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;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31115">
              <a:lnSpc>
                <a:spcPct val="100000"/>
              </a:lnSpc>
              <a:spcBef>
                <a:spcPts val="165"/>
              </a:spcBef>
            </a:pPr>
            <a:fld id="{81D60167-4931-47E6-BA6A-407CBD079E47}" type="slidenum">
              <a:rPr spc="-10" dirty="0"/>
              <a:t>26</a:t>
            </a:fld>
            <a:r>
              <a:rPr spc="-10" dirty="0"/>
              <a:t>/33</a:t>
            </a:r>
          </a:p>
        </p:txBody>
      </p:sp>
    </p:spTree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Задание</a:t>
            </a:r>
            <a:r>
              <a:rPr spc="40" dirty="0"/>
              <a:t> </a:t>
            </a:r>
            <a:r>
              <a:rPr spc="65" dirty="0"/>
              <a:t>№5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358793"/>
            <a:ext cx="5760085" cy="5080"/>
            <a:chOff x="0" y="358793"/>
            <a:chExt cx="5760085" cy="5080"/>
          </a:xfrm>
        </p:grpSpPr>
        <p:sp>
          <p:nvSpPr>
            <p:cNvPr id="4" name="object 4"/>
            <p:cNvSpPr/>
            <p:nvPr/>
          </p:nvSpPr>
          <p:spPr>
            <a:xfrm>
              <a:off x="0" y="361327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5879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58793"/>
              <a:ext cx="5062220" cy="5080"/>
            </a:xfrm>
            <a:custGeom>
              <a:avLst/>
              <a:gdLst/>
              <a:ahLst/>
              <a:cxnLst/>
              <a:rect l="l" t="t" r="r" b="b"/>
              <a:pathLst>
                <a:path w="5062220" h="5079">
                  <a:moveTo>
                    <a:pt x="0" y="5060"/>
                  </a:moveTo>
                  <a:lnTo>
                    <a:pt x="0" y="0"/>
                  </a:lnTo>
                  <a:lnTo>
                    <a:pt x="5061861" y="0"/>
                  </a:lnTo>
                  <a:lnTo>
                    <a:pt x="506186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0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47294" y="650845"/>
            <a:ext cx="4002404" cy="20466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В</a:t>
            </a:r>
            <a:r>
              <a:rPr sz="900" spc="12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файле</a:t>
            </a:r>
            <a:r>
              <a:rPr sz="900" spc="12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 err="1">
                <a:solidFill>
                  <a:srgbClr val="22373A"/>
                </a:solidFill>
                <a:latin typeface="Tahoma"/>
                <a:cs typeface="Tahoma"/>
              </a:rPr>
              <a:t>calcspectre.m</a:t>
            </a:r>
            <a:r>
              <a:rPr sz="900" spc="12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 err="1">
                <a:solidFill>
                  <a:srgbClr val="22373A"/>
                </a:solidFill>
                <a:latin typeface="Tahoma"/>
                <a:cs typeface="Tahoma"/>
              </a:rPr>
              <a:t>пропи</a:t>
            </a:r>
            <a:r>
              <a:rPr lang="ru-RU" sz="900" dirty="0">
                <a:solidFill>
                  <a:srgbClr val="22373A"/>
                </a:solidFill>
                <a:latin typeface="Tahoma"/>
                <a:cs typeface="Tahoma"/>
              </a:rPr>
              <a:t>сал ф</a:t>
            </a:r>
            <a:r>
              <a:rPr sz="900" dirty="0" err="1">
                <a:solidFill>
                  <a:srgbClr val="22373A"/>
                </a:solidFill>
                <a:latin typeface="Tahoma"/>
                <a:cs typeface="Tahoma"/>
              </a:rPr>
              <a:t>ункцию</a:t>
            </a:r>
            <a:r>
              <a:rPr sz="900" spc="125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построения</a:t>
            </a:r>
            <a:r>
              <a:rPr sz="900" spc="12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2373A"/>
                </a:solidFill>
                <a:latin typeface="Tahoma"/>
                <a:cs typeface="Tahoma"/>
              </a:rPr>
              <a:t>спектра</a:t>
            </a:r>
            <a:r>
              <a:rPr sz="900" spc="120" dirty="0">
                <a:solidFill>
                  <a:srgbClr val="22373A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Tahoma"/>
                <a:cs typeface="Tahoma"/>
              </a:rPr>
              <a:t>сигнала:</a:t>
            </a:r>
            <a:endParaRPr sz="900" dirty="0">
              <a:latin typeface="Tahoma"/>
              <a:cs typeface="Tahoma"/>
            </a:endParaRPr>
          </a:p>
          <a:p>
            <a:pPr marL="12700" marR="1390015">
              <a:lnSpc>
                <a:spcPct val="144300"/>
              </a:lnSpc>
              <a:spcBef>
                <a:spcPts val="780"/>
              </a:spcBef>
            </a:pPr>
            <a:r>
              <a:rPr sz="900" i="1" dirty="0">
                <a:solidFill>
                  <a:srgbClr val="60A0AF"/>
                </a:solidFill>
                <a:latin typeface="Courier New"/>
                <a:cs typeface="Courier New"/>
              </a:rPr>
              <a:t>%</a:t>
            </a:r>
            <a:r>
              <a:rPr sz="900" i="1" spc="75" dirty="0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60A0AF"/>
                </a:solidFill>
                <a:latin typeface="Courier New"/>
                <a:cs typeface="Courier New"/>
              </a:rPr>
              <a:t>Функция</a:t>
            </a:r>
            <a:r>
              <a:rPr sz="900" i="1" spc="75" dirty="0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60A0AF"/>
                </a:solidFill>
                <a:latin typeface="Courier New"/>
                <a:cs typeface="Courier New"/>
              </a:rPr>
              <a:t>построения</a:t>
            </a:r>
            <a:r>
              <a:rPr sz="900" i="1" spc="80" dirty="0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sz="900" i="1" dirty="0">
                <a:solidFill>
                  <a:srgbClr val="60A0AF"/>
                </a:solidFill>
                <a:latin typeface="Courier New"/>
                <a:cs typeface="Courier New"/>
              </a:rPr>
              <a:t>спектра</a:t>
            </a:r>
            <a:r>
              <a:rPr sz="900" i="1" spc="75" dirty="0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sz="900" i="1" spc="-10" dirty="0">
                <a:solidFill>
                  <a:srgbClr val="60A0AF"/>
                </a:solidFill>
                <a:latin typeface="Courier New"/>
                <a:cs typeface="Courier New"/>
              </a:rPr>
              <a:t>сигнала: </a:t>
            </a:r>
            <a:r>
              <a:rPr sz="900" dirty="0">
                <a:solidFill>
                  <a:srgbClr val="007021"/>
                </a:solidFill>
                <a:latin typeface="Courier New"/>
                <a:cs typeface="Courier New"/>
              </a:rPr>
              <a:t>function</a:t>
            </a:r>
            <a:r>
              <a:rPr sz="900" spc="65" dirty="0">
                <a:solidFill>
                  <a:srgbClr val="007021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spectre</a:t>
            </a:r>
            <a:r>
              <a:rPr sz="900" spc="6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z="900" spc="70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calcspectre(wave)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Fd</a:t>
            </a:r>
            <a:r>
              <a:rPr sz="900" spc="25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z="900" spc="2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spc="-20" dirty="0">
                <a:solidFill>
                  <a:srgbClr val="3FA070"/>
                </a:solidFill>
                <a:latin typeface="Courier New"/>
                <a:cs typeface="Courier New"/>
              </a:rPr>
              <a:t>512</a:t>
            </a:r>
            <a:r>
              <a:rPr sz="900" spc="-20" dirty="0">
                <a:solidFill>
                  <a:srgbClr val="666666"/>
                </a:solidFill>
                <a:latin typeface="Courier New"/>
                <a:cs typeface="Courier New"/>
              </a:rPr>
              <a:t>;</a:t>
            </a:r>
            <a:endParaRPr sz="900" dirty="0">
              <a:latin typeface="Courier New"/>
              <a:cs typeface="Courier New"/>
            </a:endParaRPr>
          </a:p>
          <a:p>
            <a:pPr marL="12700" marR="2930525">
              <a:lnSpc>
                <a:spcPct val="144300"/>
              </a:lnSpc>
            </a:pP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Fd2</a:t>
            </a:r>
            <a:r>
              <a:rPr sz="900" spc="3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z="900" spc="30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Fd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/</a:t>
            </a:r>
            <a:r>
              <a:rPr sz="900" spc="-10" dirty="0">
                <a:solidFill>
                  <a:srgbClr val="3FA070"/>
                </a:solidFill>
                <a:latin typeface="Courier New"/>
                <a:cs typeface="Courier New"/>
              </a:rPr>
              <a:t>2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;</a:t>
            </a:r>
            <a:r>
              <a:rPr sz="900" spc="500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Fd3</a:t>
            </a:r>
            <a:r>
              <a:rPr sz="900" spc="3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z="900" spc="3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Fd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/</a:t>
            </a:r>
            <a:r>
              <a:rPr sz="900" dirty="0">
                <a:solidFill>
                  <a:srgbClr val="3FA070"/>
                </a:solidFill>
                <a:latin typeface="Courier New"/>
                <a:cs typeface="Courier New"/>
              </a:rPr>
              <a:t>2</a:t>
            </a:r>
            <a:r>
              <a:rPr sz="900" spc="30" dirty="0">
                <a:solidFill>
                  <a:srgbClr val="3FA07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+</a:t>
            </a:r>
            <a:r>
              <a:rPr sz="900" spc="3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spc="-25" dirty="0">
                <a:solidFill>
                  <a:srgbClr val="3FA070"/>
                </a:solidFill>
                <a:latin typeface="Courier New"/>
                <a:cs typeface="Courier New"/>
              </a:rPr>
              <a:t>1</a:t>
            </a:r>
            <a:r>
              <a:rPr sz="900" spc="-25" dirty="0">
                <a:solidFill>
                  <a:srgbClr val="666666"/>
                </a:solidFill>
                <a:latin typeface="Courier New"/>
                <a:cs typeface="Courier New"/>
              </a:rPr>
              <a:t>;</a:t>
            </a:r>
            <a:endParaRPr sz="900" dirty="0">
              <a:latin typeface="Courier New"/>
              <a:cs typeface="Courier New"/>
            </a:endParaRPr>
          </a:p>
          <a:p>
            <a:pPr marL="12700" marR="2300605">
              <a:lnSpc>
                <a:spcPct val="144300"/>
              </a:lnSpc>
            </a:pP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X</a:t>
            </a:r>
            <a:r>
              <a:rPr sz="900" spc="2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z="900" spc="20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05287C"/>
                </a:solidFill>
                <a:latin typeface="Courier New"/>
                <a:cs typeface="Courier New"/>
              </a:rPr>
              <a:t>fft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(wave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,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Fd)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;</a:t>
            </a:r>
            <a:r>
              <a:rPr sz="900" spc="500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spectre</a:t>
            </a:r>
            <a:r>
              <a:rPr sz="900" spc="5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z="900" spc="5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X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.*</a:t>
            </a:r>
            <a:r>
              <a:rPr sz="900" spc="-10" dirty="0">
                <a:solidFill>
                  <a:srgbClr val="05287C"/>
                </a:solidFill>
                <a:latin typeface="Courier New"/>
                <a:cs typeface="Courier New"/>
              </a:rPr>
              <a:t>conj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(X)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/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Fd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; </a:t>
            </a:r>
            <a:r>
              <a:rPr sz="900" dirty="0">
                <a:solidFill>
                  <a:srgbClr val="22373A"/>
                </a:solidFill>
                <a:latin typeface="Courier New"/>
                <a:cs typeface="Courier New"/>
              </a:rPr>
              <a:t>f</a:t>
            </a:r>
            <a:r>
              <a:rPr sz="900" spc="20" dirty="0">
                <a:solidFill>
                  <a:srgbClr val="22373A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sz="900" spc="20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3FA070"/>
                </a:solidFill>
                <a:latin typeface="Courier New"/>
                <a:cs typeface="Courier New"/>
              </a:rPr>
              <a:t>1000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*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(</a:t>
            </a:r>
            <a:r>
              <a:rPr sz="900" spc="-10" dirty="0">
                <a:solidFill>
                  <a:srgbClr val="3FA070"/>
                </a:solidFill>
                <a:latin typeface="Courier New"/>
                <a:cs typeface="Courier New"/>
              </a:rPr>
              <a:t>0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: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Fd2)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/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Fd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;</a:t>
            </a:r>
            <a:endParaRPr sz="9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900" spc="-10" dirty="0">
                <a:solidFill>
                  <a:srgbClr val="05287C"/>
                </a:solidFill>
                <a:latin typeface="Courier New"/>
                <a:cs typeface="Courier New"/>
              </a:rPr>
              <a:t>plot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(f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,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spectre(</a:t>
            </a:r>
            <a:r>
              <a:rPr sz="900" spc="-10" dirty="0">
                <a:solidFill>
                  <a:srgbClr val="3FA070"/>
                </a:solidFill>
                <a:latin typeface="Courier New"/>
                <a:cs typeface="Courier New"/>
              </a:rPr>
              <a:t>1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:</a:t>
            </a:r>
            <a:r>
              <a:rPr sz="900" spc="-10" dirty="0">
                <a:solidFill>
                  <a:srgbClr val="22373A"/>
                </a:solidFill>
                <a:latin typeface="Courier New"/>
                <a:cs typeface="Courier New"/>
              </a:rPr>
              <a:t>Fd3))</a:t>
            </a:r>
            <a:r>
              <a:rPr sz="900" spc="-10" dirty="0">
                <a:solidFill>
                  <a:srgbClr val="666666"/>
                </a:solidFill>
                <a:latin typeface="Courier New"/>
                <a:cs typeface="Courier New"/>
              </a:rPr>
              <a:t>;</a:t>
            </a:r>
            <a:endParaRPr sz="900" dirty="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31115">
              <a:lnSpc>
                <a:spcPct val="100000"/>
              </a:lnSpc>
              <a:spcBef>
                <a:spcPts val="165"/>
              </a:spcBef>
            </a:pPr>
            <a:fld id="{81D60167-4931-47E6-BA6A-407CBD079E47}" type="slidenum">
              <a:rPr spc="-10" dirty="0"/>
              <a:t>27</a:t>
            </a:fld>
            <a:r>
              <a:rPr spc="-10" dirty="0"/>
              <a:t>/33</a:t>
            </a:r>
          </a:p>
        </p:txBody>
      </p:sp>
    </p:spTree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2631" y="82852"/>
            <a:ext cx="76390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dirty="0">
                <a:solidFill>
                  <a:srgbClr val="F9F9F9"/>
                </a:solidFill>
                <a:latin typeface="Trebuchet MS"/>
                <a:cs typeface="Trebuchet MS"/>
              </a:rPr>
              <a:t>Задание</a:t>
            </a:r>
            <a:r>
              <a:rPr sz="1000" spc="40" dirty="0">
                <a:solidFill>
                  <a:srgbClr val="F9F9F9"/>
                </a:solidFill>
                <a:latin typeface="Trebuchet MS"/>
                <a:cs typeface="Trebuchet MS"/>
              </a:rPr>
              <a:t> </a:t>
            </a:r>
            <a:r>
              <a:rPr sz="1000" spc="65" dirty="0">
                <a:solidFill>
                  <a:srgbClr val="F9F9F9"/>
                </a:solidFill>
                <a:latin typeface="Trebuchet MS"/>
                <a:cs typeface="Trebuchet MS"/>
              </a:rPr>
              <a:t>№5</a:t>
            </a:r>
            <a:endParaRPr sz="10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358793"/>
            <a:ext cx="5760085" cy="2693670"/>
            <a:chOff x="0" y="358793"/>
            <a:chExt cx="5760085" cy="2693670"/>
          </a:xfrm>
        </p:grpSpPr>
        <p:sp>
          <p:nvSpPr>
            <p:cNvPr id="4" name="object 4"/>
            <p:cNvSpPr/>
            <p:nvPr/>
          </p:nvSpPr>
          <p:spPr>
            <a:xfrm>
              <a:off x="0" y="361327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5879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58793"/>
              <a:ext cx="5236845" cy="5080"/>
            </a:xfrm>
            <a:custGeom>
              <a:avLst/>
              <a:gdLst/>
              <a:ahLst/>
              <a:cxnLst/>
              <a:rect l="l" t="t" r="r" b="b"/>
              <a:pathLst>
                <a:path w="5236845" h="5079">
                  <a:moveTo>
                    <a:pt x="0" y="5060"/>
                  </a:moveTo>
                  <a:lnTo>
                    <a:pt x="0" y="0"/>
                  </a:lnTo>
                  <a:lnTo>
                    <a:pt x="5236414" y="0"/>
                  </a:lnTo>
                  <a:lnTo>
                    <a:pt x="523641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0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5999" y="405932"/>
              <a:ext cx="3527971" cy="2645978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31115">
              <a:lnSpc>
                <a:spcPct val="100000"/>
              </a:lnSpc>
              <a:spcBef>
                <a:spcPts val="165"/>
              </a:spcBef>
            </a:pPr>
            <a:fld id="{81D60167-4931-47E6-BA6A-407CBD079E47}" type="slidenum">
              <a:rPr spc="-10" dirty="0"/>
              <a:t>28</a:t>
            </a:fld>
            <a:r>
              <a:rPr spc="-10" dirty="0"/>
              <a:t>/33</a:t>
            </a:r>
          </a:p>
        </p:txBody>
      </p:sp>
    </p:spTree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2631" y="82852"/>
            <a:ext cx="76390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dirty="0">
                <a:solidFill>
                  <a:srgbClr val="F9F9F9"/>
                </a:solidFill>
                <a:latin typeface="Trebuchet MS"/>
                <a:cs typeface="Trebuchet MS"/>
              </a:rPr>
              <a:t>Задание</a:t>
            </a:r>
            <a:r>
              <a:rPr sz="1000" spc="40" dirty="0">
                <a:solidFill>
                  <a:srgbClr val="F9F9F9"/>
                </a:solidFill>
                <a:latin typeface="Trebuchet MS"/>
                <a:cs typeface="Trebuchet MS"/>
              </a:rPr>
              <a:t> </a:t>
            </a:r>
            <a:r>
              <a:rPr sz="1000" spc="65" dirty="0">
                <a:solidFill>
                  <a:srgbClr val="F9F9F9"/>
                </a:solidFill>
                <a:latin typeface="Trebuchet MS"/>
                <a:cs typeface="Trebuchet MS"/>
              </a:rPr>
              <a:t>№5</a:t>
            </a:r>
            <a:endParaRPr sz="10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358793"/>
            <a:ext cx="5760085" cy="2667000"/>
            <a:chOff x="0" y="358793"/>
            <a:chExt cx="5760085" cy="2667000"/>
          </a:xfrm>
        </p:grpSpPr>
        <p:sp>
          <p:nvSpPr>
            <p:cNvPr id="4" name="object 4"/>
            <p:cNvSpPr/>
            <p:nvPr/>
          </p:nvSpPr>
          <p:spPr>
            <a:xfrm>
              <a:off x="0" y="361327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5879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58793"/>
              <a:ext cx="5411470" cy="5080"/>
            </a:xfrm>
            <a:custGeom>
              <a:avLst/>
              <a:gdLst/>
              <a:ahLst/>
              <a:cxnLst/>
              <a:rect l="l" t="t" r="r" b="b"/>
              <a:pathLst>
                <a:path w="5411470" h="5079">
                  <a:moveTo>
                    <a:pt x="0" y="5060"/>
                  </a:moveTo>
                  <a:lnTo>
                    <a:pt x="0" y="0"/>
                  </a:lnTo>
                  <a:lnTo>
                    <a:pt x="5410967" y="0"/>
                  </a:lnTo>
                  <a:lnTo>
                    <a:pt x="541096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0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5949" y="405891"/>
              <a:ext cx="3528124" cy="2619566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31115">
              <a:lnSpc>
                <a:spcPct val="100000"/>
              </a:lnSpc>
              <a:spcBef>
                <a:spcPts val="165"/>
              </a:spcBef>
            </a:pPr>
            <a:fld id="{81D60167-4931-47E6-BA6A-407CBD079E47}" type="slidenum">
              <a:rPr spc="-10" dirty="0"/>
              <a:t>29</a:t>
            </a:fld>
            <a:r>
              <a:rPr spc="-10" dirty="0"/>
              <a:t>/33</a:t>
            </a:r>
          </a:p>
        </p:txBody>
      </p:sp>
    </p:spTree>
  </p:cSld>
  <p:clrMapOvr>
    <a:masterClrMapping/>
  </p:clrMapOvr>
  <p:transition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2631" y="82852"/>
            <a:ext cx="76390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dirty="0">
                <a:solidFill>
                  <a:srgbClr val="F9F9F9"/>
                </a:solidFill>
                <a:latin typeface="Trebuchet MS"/>
                <a:cs typeface="Trebuchet MS"/>
              </a:rPr>
              <a:t>Задание</a:t>
            </a:r>
            <a:r>
              <a:rPr sz="1000" spc="40" dirty="0">
                <a:solidFill>
                  <a:srgbClr val="F9F9F9"/>
                </a:solidFill>
                <a:latin typeface="Trebuchet MS"/>
                <a:cs typeface="Trebuchet MS"/>
              </a:rPr>
              <a:t> </a:t>
            </a:r>
            <a:r>
              <a:rPr sz="1000" spc="65" dirty="0">
                <a:solidFill>
                  <a:srgbClr val="F9F9F9"/>
                </a:solidFill>
                <a:latin typeface="Trebuchet MS"/>
                <a:cs typeface="Trebuchet MS"/>
              </a:rPr>
              <a:t>№5</a:t>
            </a:r>
            <a:endParaRPr sz="10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358793"/>
            <a:ext cx="5760085" cy="2667000"/>
            <a:chOff x="0" y="358793"/>
            <a:chExt cx="5760085" cy="2667000"/>
          </a:xfrm>
        </p:grpSpPr>
        <p:sp>
          <p:nvSpPr>
            <p:cNvPr id="4" name="object 4"/>
            <p:cNvSpPr/>
            <p:nvPr/>
          </p:nvSpPr>
          <p:spPr>
            <a:xfrm>
              <a:off x="0" y="361327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5879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58793"/>
              <a:ext cx="5586095" cy="5080"/>
            </a:xfrm>
            <a:custGeom>
              <a:avLst/>
              <a:gdLst/>
              <a:ahLst/>
              <a:cxnLst/>
              <a:rect l="l" t="t" r="r" b="b"/>
              <a:pathLst>
                <a:path w="5586095" h="5079">
                  <a:moveTo>
                    <a:pt x="0" y="5060"/>
                  </a:moveTo>
                  <a:lnTo>
                    <a:pt x="0" y="0"/>
                  </a:lnTo>
                  <a:lnTo>
                    <a:pt x="5585520" y="0"/>
                  </a:lnTo>
                  <a:lnTo>
                    <a:pt x="558552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0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5949" y="405891"/>
              <a:ext cx="3528124" cy="2619566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31115">
              <a:lnSpc>
                <a:spcPct val="100000"/>
              </a:lnSpc>
              <a:spcBef>
                <a:spcPts val="165"/>
              </a:spcBef>
            </a:pPr>
            <a:fld id="{81D60167-4931-47E6-BA6A-407CBD079E47}" type="slidenum">
              <a:rPr spc="-10" dirty="0"/>
              <a:t>30</a:t>
            </a:fld>
            <a:r>
              <a:rPr spc="-10" dirty="0"/>
              <a:t>/33</a:t>
            </a:r>
          </a:p>
        </p:txBody>
      </p:sp>
    </p:spTree>
  </p:cSld>
  <p:clrMapOvr>
    <a:masterClrMapping/>
  </p:clrMapOvr>
  <p:transition>
    <p:cut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Выводы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358793"/>
            <a:ext cx="5760085" cy="5080"/>
            <a:chOff x="0" y="358793"/>
            <a:chExt cx="5760085" cy="5080"/>
          </a:xfrm>
        </p:grpSpPr>
        <p:sp>
          <p:nvSpPr>
            <p:cNvPr id="4" name="object 4"/>
            <p:cNvSpPr/>
            <p:nvPr/>
          </p:nvSpPr>
          <p:spPr>
            <a:xfrm>
              <a:off x="0" y="361327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54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5879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5879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79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0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xfrm>
            <a:off x="347294" y="991733"/>
            <a:ext cx="4937760" cy="1131450"/>
          </a:xfrm>
          <a:prstGeom prst="rect">
            <a:avLst/>
          </a:prstGeom>
        </p:spPr>
        <p:txBody>
          <a:bodyPr vert="horz" wrap="square" lIns="0" tIns="158927" rIns="0" bIns="0" rtlCol="0">
            <a:spAutoFit/>
          </a:bodyPr>
          <a:lstStyle/>
          <a:p>
            <a:pPr marL="12700" marR="5080">
              <a:lnSpc>
                <a:spcPct val="144300"/>
              </a:lnSpc>
              <a:spcBef>
                <a:spcPts val="95"/>
              </a:spcBef>
            </a:pPr>
            <a:r>
              <a:rPr spc="10" dirty="0"/>
              <a:t>В</a:t>
            </a:r>
            <a:r>
              <a:rPr spc="45" dirty="0"/>
              <a:t> </a:t>
            </a:r>
            <a:r>
              <a:rPr spc="10" dirty="0"/>
              <a:t>процессе</a:t>
            </a:r>
            <a:r>
              <a:rPr spc="45" dirty="0"/>
              <a:t> </a:t>
            </a:r>
            <a:r>
              <a:rPr spc="10" dirty="0"/>
              <a:t>выполнения</a:t>
            </a:r>
            <a:r>
              <a:rPr spc="45" dirty="0"/>
              <a:t> </a:t>
            </a:r>
            <a:r>
              <a:rPr spc="10" dirty="0"/>
              <a:t>данной</a:t>
            </a:r>
            <a:r>
              <a:rPr spc="45" dirty="0"/>
              <a:t> </a:t>
            </a:r>
            <a:r>
              <a:rPr spc="10" dirty="0"/>
              <a:t>лабораторной</a:t>
            </a:r>
            <a:r>
              <a:rPr spc="45" dirty="0"/>
              <a:t> </a:t>
            </a:r>
            <a:r>
              <a:rPr spc="10" dirty="0"/>
              <a:t>работы</a:t>
            </a:r>
            <a:r>
              <a:rPr spc="50" dirty="0"/>
              <a:t> </a:t>
            </a:r>
            <a:r>
              <a:rPr spc="10" dirty="0"/>
              <a:t>я</a:t>
            </a:r>
            <a:r>
              <a:rPr spc="45" dirty="0"/>
              <a:t> </a:t>
            </a:r>
            <a:r>
              <a:rPr spc="10" dirty="0" err="1"/>
              <a:t>изучил</a:t>
            </a:r>
            <a:r>
              <a:rPr spc="45" dirty="0"/>
              <a:t> </a:t>
            </a:r>
            <a:r>
              <a:rPr spc="10" dirty="0"/>
              <a:t>методы</a:t>
            </a:r>
            <a:r>
              <a:rPr spc="45" dirty="0"/>
              <a:t> </a:t>
            </a:r>
            <a:r>
              <a:rPr spc="10" dirty="0"/>
              <a:t>кодирования</a:t>
            </a:r>
            <a:r>
              <a:rPr spc="45" dirty="0"/>
              <a:t> </a:t>
            </a:r>
            <a:r>
              <a:rPr spc="-50" dirty="0"/>
              <a:t>и </a:t>
            </a:r>
            <a:r>
              <a:rPr spc="20" dirty="0"/>
              <a:t>модуляции</a:t>
            </a:r>
            <a:r>
              <a:rPr spc="5" dirty="0"/>
              <a:t> </a:t>
            </a:r>
            <a:r>
              <a:rPr spc="20" dirty="0"/>
              <a:t>сигналов</a:t>
            </a:r>
            <a:r>
              <a:rPr spc="5" dirty="0"/>
              <a:t> </a:t>
            </a:r>
            <a:r>
              <a:rPr spc="20" dirty="0"/>
              <a:t>с</a:t>
            </a:r>
            <a:r>
              <a:rPr spc="10" dirty="0"/>
              <a:t> </a:t>
            </a:r>
            <a:r>
              <a:rPr spc="20" dirty="0"/>
              <a:t>помощью</a:t>
            </a:r>
            <a:r>
              <a:rPr spc="5" dirty="0"/>
              <a:t> </a:t>
            </a:r>
            <a:r>
              <a:rPr spc="20" dirty="0"/>
              <a:t>высокоуровнего</a:t>
            </a:r>
            <a:r>
              <a:rPr spc="10" dirty="0"/>
              <a:t> </a:t>
            </a:r>
            <a:r>
              <a:rPr spc="20" dirty="0"/>
              <a:t>языка</a:t>
            </a:r>
            <a:r>
              <a:rPr spc="5" dirty="0"/>
              <a:t> </a:t>
            </a:r>
            <a:r>
              <a:rPr spc="20" dirty="0"/>
              <a:t>программирования</a:t>
            </a:r>
            <a:r>
              <a:rPr spc="5" dirty="0"/>
              <a:t> </a:t>
            </a:r>
            <a:r>
              <a:rPr spc="-10" dirty="0"/>
              <a:t>octave.</a:t>
            </a:r>
          </a:p>
          <a:p>
            <a:pPr marL="12700" marR="162560">
              <a:lnSpc>
                <a:spcPct val="144300"/>
              </a:lnSpc>
            </a:pPr>
            <a:r>
              <a:rPr dirty="0" err="1"/>
              <a:t>Определил</a:t>
            </a:r>
            <a:r>
              <a:rPr spc="100" dirty="0"/>
              <a:t> </a:t>
            </a:r>
            <a:r>
              <a:rPr dirty="0"/>
              <a:t>спектр</a:t>
            </a:r>
            <a:r>
              <a:rPr spc="105" dirty="0"/>
              <a:t> </a:t>
            </a:r>
            <a:r>
              <a:rPr dirty="0"/>
              <a:t>и</a:t>
            </a:r>
            <a:r>
              <a:rPr spc="105" dirty="0"/>
              <a:t> </a:t>
            </a:r>
            <a:r>
              <a:rPr dirty="0"/>
              <a:t>параметры</a:t>
            </a:r>
            <a:r>
              <a:rPr spc="105" dirty="0"/>
              <a:t> </a:t>
            </a:r>
            <a:r>
              <a:rPr dirty="0"/>
              <a:t>сигнала.</a:t>
            </a:r>
            <a:r>
              <a:rPr spc="105" dirty="0"/>
              <a:t> </a:t>
            </a:r>
            <a:r>
              <a:rPr dirty="0" err="1"/>
              <a:t>Показал</a:t>
            </a:r>
            <a:r>
              <a:rPr spc="105" dirty="0"/>
              <a:t> </a:t>
            </a:r>
            <a:r>
              <a:rPr dirty="0"/>
              <a:t>принципы</a:t>
            </a:r>
            <a:r>
              <a:rPr spc="105" dirty="0"/>
              <a:t> </a:t>
            </a:r>
            <a:r>
              <a:rPr dirty="0"/>
              <a:t>модуляции</a:t>
            </a:r>
            <a:r>
              <a:rPr spc="105" dirty="0"/>
              <a:t> </a:t>
            </a:r>
            <a:r>
              <a:rPr dirty="0"/>
              <a:t>сигнала</a:t>
            </a:r>
            <a:r>
              <a:rPr spc="105" dirty="0"/>
              <a:t> </a:t>
            </a:r>
            <a:r>
              <a:rPr spc="-25" dirty="0"/>
              <a:t>на </a:t>
            </a:r>
            <a:r>
              <a:rPr dirty="0"/>
              <a:t>примере</a:t>
            </a:r>
            <a:r>
              <a:rPr spc="100" dirty="0"/>
              <a:t> </a:t>
            </a:r>
            <a:r>
              <a:rPr dirty="0"/>
              <a:t>аналоговой</a:t>
            </a:r>
            <a:r>
              <a:rPr spc="100" dirty="0"/>
              <a:t> </a:t>
            </a:r>
            <a:r>
              <a:rPr dirty="0"/>
              <a:t>амплитудной</a:t>
            </a:r>
            <a:r>
              <a:rPr spc="100" dirty="0"/>
              <a:t> </a:t>
            </a:r>
            <a:r>
              <a:rPr dirty="0"/>
              <a:t>модуляции.</a:t>
            </a:r>
            <a:r>
              <a:rPr spc="100" dirty="0"/>
              <a:t> </a:t>
            </a:r>
            <a:r>
              <a:rPr dirty="0"/>
              <a:t>А</a:t>
            </a:r>
            <a:r>
              <a:rPr spc="100" dirty="0"/>
              <a:t> </a:t>
            </a:r>
            <a:r>
              <a:rPr dirty="0" err="1"/>
              <a:t>также</a:t>
            </a:r>
            <a:r>
              <a:rPr spc="100" dirty="0"/>
              <a:t> </a:t>
            </a:r>
            <a:r>
              <a:t>исследовал</a:t>
            </a:r>
            <a:r>
              <a:rPr spc="100"/>
              <a:t> </a:t>
            </a:r>
            <a:r>
              <a:rPr spc="-10" dirty="0"/>
              <a:t>свойства </a:t>
            </a:r>
            <a:r>
              <a:rPr spc="10" dirty="0"/>
              <a:t>самосинхронизации</a:t>
            </a:r>
            <a:r>
              <a:rPr spc="204" dirty="0"/>
              <a:t> </a:t>
            </a:r>
            <a:r>
              <a:rPr spc="-10" dirty="0"/>
              <a:t>сигнала.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31115">
              <a:lnSpc>
                <a:spcPct val="100000"/>
              </a:lnSpc>
              <a:spcBef>
                <a:spcPts val="165"/>
              </a:spcBef>
            </a:pPr>
            <a:fld id="{81D60167-4931-47E6-BA6A-407CBD079E47}" type="slidenum">
              <a:rPr spc="-10" dirty="0"/>
              <a:t>31</a:t>
            </a:fld>
            <a:r>
              <a:rPr spc="-10" dirty="0"/>
              <a:t>/33</a:t>
            </a: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2373A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1161</Words>
  <Application>Microsoft Office PowerPoint</Application>
  <PresentationFormat>Произвольный</PresentationFormat>
  <Paragraphs>154</Paragraphs>
  <Slides>31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31</vt:i4>
      </vt:variant>
    </vt:vector>
  </HeadingPairs>
  <TitlesOfParts>
    <vt:vector size="35" baseType="lpstr">
      <vt:lpstr>Courier New</vt:lpstr>
      <vt:lpstr>Tahoma</vt:lpstr>
      <vt:lpstr>Trebuchet MS</vt:lpstr>
      <vt:lpstr>Office Theme</vt:lpstr>
      <vt:lpstr>Лабораторная работа №1</vt:lpstr>
      <vt:lpstr>Докладчик</vt:lpstr>
      <vt:lpstr>Презентация PowerPoint</vt:lpstr>
      <vt:lpstr>Цель работы</vt:lpstr>
      <vt:lpstr>Задание</vt:lpstr>
      <vt:lpstr>Задание №1</vt:lpstr>
      <vt:lpstr>Презентация PowerPoint</vt:lpstr>
      <vt:lpstr>Презентация PowerPoint</vt:lpstr>
      <vt:lpstr>Задание №2</vt:lpstr>
      <vt:lpstr>Презентация PowerPoint</vt:lpstr>
      <vt:lpstr>Задание №3</vt:lpstr>
      <vt:lpstr>Презентация PowerPoint</vt:lpstr>
      <vt:lpstr>Задание №3</vt:lpstr>
      <vt:lpstr>Презентация PowerPoint</vt:lpstr>
      <vt:lpstr>Задание №3</vt:lpstr>
      <vt:lpstr>Задание №3</vt:lpstr>
      <vt:lpstr>Презентация PowerPoint</vt:lpstr>
      <vt:lpstr>Презентация PowerPoint</vt:lpstr>
      <vt:lpstr>Пример графика с частотой дискретизации меньше 80 Гц:</vt:lpstr>
      <vt:lpstr>Задание №4</vt:lpstr>
      <vt:lpstr>Презентация PowerPoint</vt:lpstr>
      <vt:lpstr>Задание №4</vt:lpstr>
      <vt:lpstr>Презентация PowerPoint</vt:lpstr>
      <vt:lpstr>Задание №5</vt:lpstr>
      <vt:lpstr>Задание №5</vt:lpstr>
      <vt:lpstr>Задание №5</vt:lpstr>
      <vt:lpstr>Задание №5</vt:lpstr>
      <vt:lpstr>Презентация PowerPoint</vt:lpstr>
      <vt:lpstr>Презентация PowerPoint</vt:lpstr>
      <vt:lpstr>Презентация PowerPoint</vt:lpstr>
      <vt:lpstr>Выводы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№1 - Сетевые технологии</dc:title>
  <dc:creator>Беличева Д. М.</dc:creator>
  <cp:lastModifiedBy>Никита Сахно</cp:lastModifiedBy>
  <cp:revision>1</cp:revision>
  <dcterms:created xsi:type="dcterms:W3CDTF">2025-12-15T09:26:03Z</dcterms:created>
  <dcterms:modified xsi:type="dcterms:W3CDTF">2025-12-15T09:30:16Z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2023-09-09T00:00:00Z</vt:filetime>
  </property>
  <property fmtid="{D5CDD505-2E9C-101B-9397-08002B2CF9AE}" pid="3" name="Creator">
    <vt:lpwstr>LaTeX via pandoc</vt:lpwstr>
  </property>
  <property fmtid="{D5CDD505-2E9C-101B-9397-08002B2CF9AE}" pid="4" name="LastSaved">
    <vt:filetime>2025-12-15T00:00:00Z</vt:filetime>
  </property>
  <property fmtid="{D5CDD505-2E9C-101B-9397-08002B2CF9AE}" pid="5" name="PTEX.FullBanner">
    <vt:lpwstr>This is LuaHBTeX, Version 1.17.0 (TeX Live 2023)</vt:lpwstr>
  </property>
  <property fmtid="{D5CDD505-2E9C-101B-9397-08002B2CF9AE}" pid="6" name="Producer">
    <vt:lpwstr>LuaTeX-1.17.0</vt:lpwstr>
  </property>
</Properties>
</file>